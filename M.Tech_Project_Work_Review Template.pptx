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5"/>
  </p:notesMasterIdLst>
  <p:sldIdLst>
    <p:sldId id="290" r:id="rId2"/>
    <p:sldId id="291" r:id="rId3"/>
    <p:sldId id="317" r:id="rId4"/>
    <p:sldId id="326" r:id="rId5"/>
    <p:sldId id="294" r:id="rId6"/>
    <p:sldId id="308" r:id="rId7"/>
    <p:sldId id="309" r:id="rId8"/>
    <p:sldId id="322" r:id="rId9"/>
    <p:sldId id="327" r:id="rId10"/>
    <p:sldId id="295" r:id="rId11"/>
    <p:sldId id="328" r:id="rId12"/>
    <p:sldId id="329" r:id="rId13"/>
    <p:sldId id="331" r:id="rId14"/>
    <p:sldId id="292" r:id="rId15"/>
    <p:sldId id="296" r:id="rId16"/>
    <p:sldId id="297" r:id="rId17"/>
    <p:sldId id="310" r:id="rId18"/>
    <p:sldId id="311" r:id="rId19"/>
    <p:sldId id="298" r:id="rId20"/>
    <p:sldId id="299" r:id="rId21"/>
    <p:sldId id="325" r:id="rId22"/>
    <p:sldId id="318" r:id="rId23"/>
    <p:sldId id="313" r:id="rId24"/>
    <p:sldId id="302" r:id="rId25"/>
    <p:sldId id="303" r:id="rId26"/>
    <p:sldId id="304" r:id="rId27"/>
    <p:sldId id="305" r:id="rId28"/>
    <p:sldId id="316" r:id="rId29"/>
    <p:sldId id="319" r:id="rId30"/>
    <p:sldId id="323" r:id="rId31"/>
    <p:sldId id="324" r:id="rId32"/>
    <p:sldId id="306" r:id="rId33"/>
    <p:sldId id="320"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7DEB74D-5D1D-4487-B39A-8B87FFD09FBC}">
          <p14:sldIdLst>
            <p14:sldId id="290"/>
            <p14:sldId id="291"/>
            <p14:sldId id="317"/>
            <p14:sldId id="326"/>
            <p14:sldId id="294"/>
            <p14:sldId id="308"/>
            <p14:sldId id="309"/>
            <p14:sldId id="322"/>
            <p14:sldId id="327"/>
            <p14:sldId id="295"/>
            <p14:sldId id="328"/>
            <p14:sldId id="329"/>
            <p14:sldId id="331"/>
            <p14:sldId id="292"/>
            <p14:sldId id="296"/>
            <p14:sldId id="297"/>
            <p14:sldId id="310"/>
            <p14:sldId id="311"/>
            <p14:sldId id="298"/>
            <p14:sldId id="299"/>
            <p14:sldId id="325"/>
            <p14:sldId id="318"/>
            <p14:sldId id="313"/>
            <p14:sldId id="302"/>
            <p14:sldId id="303"/>
            <p14:sldId id="304"/>
            <p14:sldId id="305"/>
            <p14:sldId id="316"/>
            <p14:sldId id="319"/>
            <p14:sldId id="323"/>
            <p14:sldId id="324"/>
            <p14:sldId id="306"/>
            <p14:sldId id="320"/>
          </p14:sldIdLst>
        </p14:section>
        <p14:section name="Untitled Section" id="{1C259BAC-84F5-4A12-9E1B-8CCA9136C22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A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D6EE30B-C028-4789-B6E4-0BFFCBE8230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Style>
        <a:tcBdr/>
        <a:fill>
          <a:solidFill>
            <a:srgbClr val="CACACA"/>
          </a:solidFill>
        </a:fill>
      </a:tcStyle>
    </a:band1H>
    <a:band2H>
      <a:tcStyle>
        <a:tcBdr/>
      </a:tcStyle>
    </a:band2H>
    <a:band1V>
      <a:tcStyle>
        <a:tcBdr/>
        <a:fill>
          <a:solidFill>
            <a:srgbClr val="CACACA"/>
          </a:solidFill>
        </a:fill>
      </a:tcStyle>
    </a:band1V>
    <a:band2V>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Style>
        <a:tcBdr/>
      </a:tcStyle>
    </a:seCell>
    <a:swCell>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Style>
        <a:tcBdr/>
      </a:tcStyle>
    </a:neCell>
    <a:nwCell>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6" y="50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710"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1"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2"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13"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714"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5"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1048585" name="Google Shape;8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86"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1048588"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589"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p>
        </p:txBody>
      </p:sp>
      <p:sp>
        <p:nvSpPr>
          <p:cNvPr id="1048590" name="Google Shape;9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2E3D3A98-A47C-C520-5EC2-6133A16873A5}"/>
            </a:ext>
          </a:extLst>
        </p:cNvPr>
        <p:cNvGrpSpPr/>
        <p:nvPr/>
      </p:nvGrpSpPr>
      <p:grpSpPr>
        <a:xfrm>
          <a:off x="0" y="0"/>
          <a:ext cx="0" cy="0"/>
          <a:chOff x="0" y="0"/>
          <a:chExt cx="0" cy="0"/>
        </a:xfrm>
      </p:grpSpPr>
      <p:sp>
        <p:nvSpPr>
          <p:cNvPr id="1048588" name="Google Shape;90;p2:notes">
            <a:extLst>
              <a:ext uri="{FF2B5EF4-FFF2-40B4-BE49-F238E27FC236}">
                <a16:creationId xmlns:a16="http://schemas.microsoft.com/office/drawing/2014/main" id="{6506DF98-164F-9B1C-9E7C-B8784AF26BF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589" name="Google Shape;91;p2:notes">
            <a:extLst>
              <a:ext uri="{FF2B5EF4-FFF2-40B4-BE49-F238E27FC236}">
                <a16:creationId xmlns:a16="http://schemas.microsoft.com/office/drawing/2014/main" id="{4D4C663E-9F6A-9001-2A42-E021D97A6C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p>
        </p:txBody>
      </p:sp>
      <p:sp>
        <p:nvSpPr>
          <p:cNvPr id="1048590" name="Google Shape;92;p2:notes">
            <a:extLst>
              <a:ext uri="{FF2B5EF4-FFF2-40B4-BE49-F238E27FC236}">
                <a16:creationId xmlns:a16="http://schemas.microsoft.com/office/drawing/2014/main" id="{1195B4C4-1555-7BD0-FA7E-9A8033E0824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lang="en-IN"/>
          </a:p>
        </p:txBody>
      </p:sp>
    </p:spTree>
    <p:extLst>
      <p:ext uri="{BB962C8B-B14F-4D97-AF65-F5344CB8AC3E}">
        <p14:creationId xmlns:p14="http://schemas.microsoft.com/office/powerpoint/2010/main" val="2351320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8606"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F1440320-73E9-BFC9-AF76-531A15BF0D53}"/>
            </a:ext>
          </a:extLst>
        </p:cNvPr>
        <p:cNvGrpSpPr/>
        <p:nvPr/>
      </p:nvGrpSpPr>
      <p:grpSpPr>
        <a:xfrm>
          <a:off x="0" y="0"/>
          <a:ext cx="0" cy="0"/>
          <a:chOff x="0" y="0"/>
          <a:chExt cx="0" cy="0"/>
        </a:xfrm>
      </p:grpSpPr>
      <p:sp>
        <p:nvSpPr>
          <p:cNvPr id="1048606" name="Google Shape;104;p4:notes">
            <a:extLst>
              <a:ext uri="{FF2B5EF4-FFF2-40B4-BE49-F238E27FC236}">
                <a16:creationId xmlns:a16="http://schemas.microsoft.com/office/drawing/2014/main" id="{51F6AC64-475F-97A9-620B-91828F6DC62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a:extLst>
              <a:ext uri="{FF2B5EF4-FFF2-40B4-BE49-F238E27FC236}">
                <a16:creationId xmlns:a16="http://schemas.microsoft.com/office/drawing/2014/main" id="{C0F7EAFF-F9CC-2AA2-E469-9B26F771E2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a:extLst>
              <a:ext uri="{FF2B5EF4-FFF2-40B4-BE49-F238E27FC236}">
                <a16:creationId xmlns:a16="http://schemas.microsoft.com/office/drawing/2014/main" id="{D95F3B60-7654-17F2-724F-F2092BF6546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lang="en-IN"/>
          </a:p>
        </p:txBody>
      </p:sp>
    </p:spTree>
    <p:extLst>
      <p:ext uri="{BB962C8B-B14F-4D97-AF65-F5344CB8AC3E}">
        <p14:creationId xmlns:p14="http://schemas.microsoft.com/office/powerpoint/2010/main" val="293252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8ECE28E-FA2E-8F17-0544-939B21787519}"/>
            </a:ext>
          </a:extLst>
        </p:cNvPr>
        <p:cNvGrpSpPr/>
        <p:nvPr/>
      </p:nvGrpSpPr>
      <p:grpSpPr>
        <a:xfrm>
          <a:off x="0" y="0"/>
          <a:ext cx="0" cy="0"/>
          <a:chOff x="0" y="0"/>
          <a:chExt cx="0" cy="0"/>
        </a:xfrm>
      </p:grpSpPr>
      <p:sp>
        <p:nvSpPr>
          <p:cNvPr id="1048606" name="Google Shape;104;p4:notes">
            <a:extLst>
              <a:ext uri="{FF2B5EF4-FFF2-40B4-BE49-F238E27FC236}">
                <a16:creationId xmlns:a16="http://schemas.microsoft.com/office/drawing/2014/main" id="{9C308FA1-883D-2F5C-2C2E-C567A8C2373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a:extLst>
              <a:ext uri="{FF2B5EF4-FFF2-40B4-BE49-F238E27FC236}">
                <a16:creationId xmlns:a16="http://schemas.microsoft.com/office/drawing/2014/main" id="{59310AE9-60F3-3B65-3855-B8DF4DC43B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a:extLst>
              <a:ext uri="{FF2B5EF4-FFF2-40B4-BE49-F238E27FC236}">
                <a16:creationId xmlns:a16="http://schemas.microsoft.com/office/drawing/2014/main" id="{9CEBA2E8-0F0F-6515-5D9F-8F28F571AF7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lang="en-IN"/>
          </a:p>
        </p:txBody>
      </p:sp>
    </p:spTree>
    <p:extLst>
      <p:ext uri="{BB962C8B-B14F-4D97-AF65-F5344CB8AC3E}">
        <p14:creationId xmlns:p14="http://schemas.microsoft.com/office/powerpoint/2010/main" val="433825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E88016E7-1058-1AD0-AAC2-40CF11D67427}"/>
            </a:ext>
          </a:extLst>
        </p:cNvPr>
        <p:cNvGrpSpPr/>
        <p:nvPr/>
      </p:nvGrpSpPr>
      <p:grpSpPr>
        <a:xfrm>
          <a:off x="0" y="0"/>
          <a:ext cx="0" cy="0"/>
          <a:chOff x="0" y="0"/>
          <a:chExt cx="0" cy="0"/>
        </a:xfrm>
      </p:grpSpPr>
      <p:sp>
        <p:nvSpPr>
          <p:cNvPr id="1048606" name="Google Shape;104;p4:notes">
            <a:extLst>
              <a:ext uri="{FF2B5EF4-FFF2-40B4-BE49-F238E27FC236}">
                <a16:creationId xmlns:a16="http://schemas.microsoft.com/office/drawing/2014/main" id="{EE01273E-9797-3BEA-CC84-4E7508B2EDC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a:extLst>
              <a:ext uri="{FF2B5EF4-FFF2-40B4-BE49-F238E27FC236}">
                <a16:creationId xmlns:a16="http://schemas.microsoft.com/office/drawing/2014/main" id="{085AA2AB-FCB6-F05B-EE3A-7E03AD236C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a:extLst>
              <a:ext uri="{FF2B5EF4-FFF2-40B4-BE49-F238E27FC236}">
                <a16:creationId xmlns:a16="http://schemas.microsoft.com/office/drawing/2014/main" id="{44100DC7-4C62-3C21-0F05-0FADEC29442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lang="en-IN"/>
          </a:p>
        </p:txBody>
      </p:sp>
    </p:spTree>
    <p:extLst>
      <p:ext uri="{BB962C8B-B14F-4D97-AF65-F5344CB8AC3E}">
        <p14:creationId xmlns:p14="http://schemas.microsoft.com/office/powerpoint/2010/main" val="3848394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12" name="Google Shape;11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down the objectives of your project as bulleted points. Max 3.</a:t>
            </a:r>
          </a:p>
          <a:p>
            <a:pPr marL="0" lvl="0" indent="0" algn="l" rtl="0">
              <a:spcBef>
                <a:spcPts val="0"/>
              </a:spcBef>
              <a:spcAft>
                <a:spcPts val="0"/>
              </a:spcAft>
              <a:buNone/>
            </a:pPr>
            <a:r>
              <a:rPr lang="en-IN"/>
              <a:t>This includes the whole work of Phase I and Phase II</a:t>
            </a:r>
          </a:p>
        </p:txBody>
      </p:sp>
      <p:sp>
        <p:nvSpPr>
          <p:cNvPr id="1048613" name="Google Shape;113;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1048592"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593"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p>
        </p:txBody>
      </p:sp>
      <p:sp>
        <p:nvSpPr>
          <p:cNvPr id="1048594" name="Google Shape;9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048616"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17" name="Google Shape;11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Give the below details of the data</a:t>
            </a:r>
          </a:p>
          <a:p>
            <a:pPr marL="228600" lvl="0" indent="-228600" algn="l" rtl="0">
              <a:spcBef>
                <a:spcPts val="0"/>
              </a:spcBef>
              <a:spcAft>
                <a:spcPts val="0"/>
              </a:spcAft>
              <a:buClr>
                <a:schemeClr val="dk1"/>
              </a:buClr>
              <a:buSzPts val="1200"/>
              <a:buFont typeface="Calibri"/>
              <a:buAutoNum type="arabicPeriod"/>
            </a:pPr>
            <a:r>
              <a:rPr lang="en-IN"/>
              <a:t>Source of Data</a:t>
            </a:r>
          </a:p>
          <a:p>
            <a:pPr marL="228600" lvl="0" indent="-228600" algn="l" rtl="0">
              <a:spcBef>
                <a:spcPts val="0"/>
              </a:spcBef>
              <a:spcAft>
                <a:spcPts val="0"/>
              </a:spcAft>
              <a:buClr>
                <a:schemeClr val="dk1"/>
              </a:buClr>
              <a:buSzPts val="1200"/>
              <a:buFont typeface="Calibri"/>
              <a:buAutoNum type="arabicPeriod"/>
            </a:pPr>
            <a:r>
              <a:rPr lang="en-IN"/>
              <a:t>Description – number of rows, column names </a:t>
            </a:r>
          </a:p>
        </p:txBody>
      </p:sp>
      <p:sp>
        <p:nvSpPr>
          <p:cNvPr id="1048618" name="Google Shape;12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048621" name="Google Shape;12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22" name="Google Shape;12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With a flow chart/work flow diagram, explain the modules of Phase I and Phase II</a:t>
            </a:r>
          </a:p>
        </p:txBody>
      </p:sp>
      <p:sp>
        <p:nvSpPr>
          <p:cNvPr id="1048623" name="Google Shape;127;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16</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048626" name="Google Shape;13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27"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Phase I Workflow or Objectives addressed in Phase I</a:t>
            </a:r>
          </a:p>
        </p:txBody>
      </p:sp>
      <p:sp>
        <p:nvSpPr>
          <p:cNvPr id="1048628" name="Google Shape;134;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19</a:t>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048631"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32" name="Google Shape;14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Language Used</a:t>
            </a:r>
          </a:p>
          <a:p>
            <a:pPr marL="0" lvl="0" indent="0" algn="l" rtl="0">
              <a:spcBef>
                <a:spcPts val="0"/>
              </a:spcBef>
              <a:spcAft>
                <a:spcPts val="0"/>
              </a:spcAft>
              <a:buNone/>
            </a:pPr>
            <a:r>
              <a:rPr lang="en-IN"/>
              <a:t>Package Used</a:t>
            </a:r>
          </a:p>
          <a:p>
            <a:pPr marL="0" lvl="0" indent="0" algn="l" rtl="0">
              <a:spcBef>
                <a:spcPts val="0"/>
              </a:spcBef>
              <a:spcAft>
                <a:spcPts val="0"/>
              </a:spcAft>
              <a:buNone/>
            </a:pPr>
            <a:r>
              <a:rPr lang="en-IN"/>
              <a:t>Algorithms Used</a:t>
            </a:r>
          </a:p>
          <a:p>
            <a:pPr marL="0" lvl="0" indent="0" algn="l" rtl="0">
              <a:spcBef>
                <a:spcPts val="0"/>
              </a:spcBef>
              <a:spcAft>
                <a:spcPts val="0"/>
              </a:spcAft>
              <a:buNone/>
            </a:pPr>
            <a:endParaRPr lang="en-IN"/>
          </a:p>
        </p:txBody>
      </p:sp>
      <p:sp>
        <p:nvSpPr>
          <p:cNvPr id="1048633" name="Google Shape;141;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20</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048641" name="Google Shape;15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2" name="Google Shape;15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Screen shot of acknowledgement proof</a:t>
            </a:r>
          </a:p>
          <a:p>
            <a:pPr marL="0" lvl="0" indent="0" algn="l" rtl="0">
              <a:spcBef>
                <a:spcPts val="0"/>
              </a:spcBef>
              <a:spcAft>
                <a:spcPts val="0"/>
              </a:spcAft>
              <a:buNone/>
            </a:pPr>
            <a:r>
              <a:rPr lang="en-IN"/>
              <a:t>Conference/Journal details</a:t>
            </a:r>
          </a:p>
        </p:txBody>
      </p:sp>
      <p:sp>
        <p:nvSpPr>
          <p:cNvPr id="1048643" name="Google Shape;15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24</a:t>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048646" name="Google Shape;16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7" name="Google Shape;16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Result Tables</a:t>
            </a:r>
          </a:p>
          <a:p>
            <a:pPr marL="0" lvl="0" indent="0" algn="l" rtl="0">
              <a:spcBef>
                <a:spcPts val="0"/>
              </a:spcBef>
              <a:spcAft>
                <a:spcPts val="0"/>
              </a:spcAft>
              <a:buNone/>
            </a:pPr>
            <a:r>
              <a:rPr lang="en-IN"/>
              <a:t>Result Graphs</a:t>
            </a:r>
          </a:p>
        </p:txBody>
      </p:sp>
      <p:sp>
        <p:nvSpPr>
          <p:cNvPr id="1048648" name="Google Shape;162;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25</a:t>
            </a:fld>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048651" name="Google Shape;16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52" name="Google Shape;16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Bulleted points for Phase II Plan</a:t>
            </a:r>
          </a:p>
        </p:txBody>
      </p:sp>
      <p:sp>
        <p:nvSpPr>
          <p:cNvPr id="1048653" name="Google Shape;16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26</a:t>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048656"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57" name="Google Shape;17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the references In IEEE format. Minimum 5, Max 10.</a:t>
            </a:r>
          </a:p>
        </p:txBody>
      </p:sp>
      <p:sp>
        <p:nvSpPr>
          <p:cNvPr id="1048658" name="Google Shape;176;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27</a:t>
            </a:fld>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048660" name="Google Shape;18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61" name="Google Shape;18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048581"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82"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pic>
        <p:nvPicPr>
          <p:cNvPr id="2097152" name="Google Shape;95;p1" descr="pngfind.com-kingpin-png-4152286 (1).png"/>
          <p:cNvPicPr preferRelativeResize="0">
            <a:picLocks/>
          </p:cNvPicPr>
          <p:nvPr userDrawn="1"/>
        </p:nvPicPr>
        <p:blipFill rotWithShape="1">
          <a:blip r:embed="rId2">
            <a:alphaModFix/>
          </a:blip>
          <a:srcRect/>
          <a:stretch>
            <a:fillRect/>
          </a:stretch>
        </p:blipFill>
        <p:spPr>
          <a:xfrm>
            <a:off x="7411914" y="92267"/>
            <a:ext cx="1638301" cy="716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1048595" name="Google Shape;2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96" name="Google Shape;2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a:endParaRPr/>
          </a:p>
        </p:txBody>
      </p:sp>
      <p:sp>
        <p:nvSpPr>
          <p:cNvPr id="1048597" name="Google Shape;2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98" name="Google Shape;2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99" name="Google Shape;2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pic>
        <p:nvPicPr>
          <p:cNvPr id="2097153" name="Google Shape;95;p1" descr="pngfind.com-kingpin-png-4152286 (1).png"/>
          <p:cNvPicPr preferRelativeResize="0">
            <a:picLocks/>
          </p:cNvPicPr>
          <p:nvPr userDrawn="1"/>
        </p:nvPicPr>
        <p:blipFill rotWithShape="1">
          <a:blip r:embed="rId2">
            <a:alphaModFix/>
          </a:blip>
          <a:srcRect/>
          <a:stretch>
            <a:fillRect/>
          </a:stretch>
        </p:blipFill>
        <p:spPr>
          <a:xfrm>
            <a:off x="7578968" y="28424"/>
            <a:ext cx="1565031" cy="56945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1048682" name="Google Shape;27;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3" name="Google Shape;28;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48684" name="Google Shape;2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5" name="Google Shape;3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6" name="Google Shape;3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1048687" name="Google Shape;33;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8" name="Google Shape;34;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48689" name="Google Shape;35;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48690" name="Google Shape;3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1" name="Google Shape;3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2" name="Google Shape;3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1048693" name="Google Shape;4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4" name="Google Shape;41;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48695" name="Google Shape;42;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48696" name="Google Shape;43;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48697" name="Google Shape;44;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48698" name="Google Shape;4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9" name="Google Shape;4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0" name="Google Shape;4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1048662" name="Google Shape;49;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63" name="Google Shape;5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64" name="Google Shape;5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65" name="Google Shape;5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1048701" name="Google Shape;54;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2" name="Google Shape;55;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3" name="Google Shape;56;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1048704" name="Google Shape;58;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05" name="Google Shape;59;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048706" name="Google Shape;60;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048707" name="Google Shape;6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8" name="Google Shape;6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9" name="Google Shape;6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1048671" name="Google Shape;65;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2" name="Google Shape;66;p26"/>
          <p:cNvSpPr>
            <a:spLocks noGrp="1"/>
          </p:cNvSpPr>
          <p:nvPr>
            <p:ph type="pic" idx="2"/>
          </p:nvPr>
        </p:nvSpPr>
        <p:spPr>
          <a:xfrm>
            <a:off x="1792288" y="612775"/>
            <a:ext cx="5486400" cy="4114800"/>
          </a:xfrm>
          <a:prstGeom prst="rect">
            <a:avLst/>
          </a:prstGeom>
          <a:noFill/>
          <a:ln>
            <a:noFill/>
          </a:ln>
        </p:spPr>
      </p:sp>
      <p:sp>
        <p:nvSpPr>
          <p:cNvPr id="1048673" name="Google Shape;67;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048674" name="Google Shape;6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5" name="Google Shape;6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6" name="Google Shape;7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1048677" name="Google Shape;7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8" name="Google Shape;73;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a:endParaRPr/>
          </a:p>
        </p:txBody>
      </p:sp>
      <p:sp>
        <p:nvSpPr>
          <p:cNvPr id="1048679" name="Google Shape;7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0" name="Google Shape;7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1" name="Google Shape;7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1048666" name="Google Shape;78;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67" name="Google Shape;79;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a:endParaRPr/>
          </a:p>
        </p:txBody>
      </p:sp>
      <p:sp>
        <p:nvSpPr>
          <p:cNvPr id="1048668" name="Google Shape;8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69" name="Google Shape;8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0" name="Google Shape;8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77"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48578"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579"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580"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048583" name="Google Shape;87;p1"/>
          <p:cNvSpPr txBox="1">
            <a:spLocks noGrp="1"/>
          </p:cNvSpPr>
          <p:nvPr>
            <p:ph type="ctrTitle"/>
          </p:nvPr>
        </p:nvSpPr>
        <p:spPr>
          <a:xfrm>
            <a:off x="303486" y="1448324"/>
            <a:ext cx="8537028" cy="1470025"/>
          </a:xfrm>
          <a:prstGeom prst="rect">
            <a:avLst/>
          </a:prstGeom>
          <a:noFill/>
          <a:ln>
            <a:noFill/>
          </a:ln>
        </p:spPr>
        <p:txBody>
          <a:bodyPr spcFirstLastPara="1" wrap="square" lIns="91425" tIns="45700" rIns="91425" bIns="45700" anchor="ctr" anchorCtr="0">
            <a:noAutofit/>
          </a:bodyPr>
          <a:lstStyle/>
          <a:p>
            <a:pPr lvl="0">
              <a:buSzPts val="4400"/>
            </a:pPr>
            <a:r>
              <a:rPr lang="en-IN" sz="3000" b="1" dirty="0">
                <a:solidFill>
                  <a:srgbClr val="FF0000"/>
                </a:solidFill>
              </a:rPr>
              <a:t>Machine Learning–Based Carbon Emission and Energy‑Use Prediction for Sustainable Living</a:t>
            </a:r>
            <a:endParaRPr sz="30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48584" name="Google Shape;88;p1"/>
          <p:cNvSpPr txBox="1">
            <a:spLocks noGrp="1"/>
          </p:cNvSpPr>
          <p:nvPr>
            <p:ph type="subTitle" idx="1"/>
          </p:nvPr>
        </p:nvSpPr>
        <p:spPr>
          <a:xfrm>
            <a:off x="1371600" y="4384544"/>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IN" b="1" dirty="0">
                <a:solidFill>
                  <a:srgbClr val="222AD0"/>
                </a:solidFill>
              </a:rPr>
              <a:t>First Review</a:t>
            </a:r>
            <a:br>
              <a:rPr lang="en-IN" b="1" dirty="0">
                <a:solidFill>
                  <a:srgbClr val="222AD0"/>
                </a:solidFill>
              </a:rPr>
            </a:br>
            <a:r>
              <a:rPr lang="en-IN" b="1" dirty="0">
                <a:solidFill>
                  <a:srgbClr val="222AD0"/>
                </a:solidFill>
              </a:rPr>
              <a:t>Guide: Dr. </a:t>
            </a:r>
            <a:r>
              <a:rPr lang="en-IN" b="1" dirty="0" err="1">
                <a:solidFill>
                  <a:srgbClr val="222AD0"/>
                </a:solidFill>
              </a:rPr>
              <a:t>Pitchaimanikam</a:t>
            </a:r>
            <a:endParaRPr lang="en-IN" b="1" dirty="0">
              <a:solidFill>
                <a:srgbClr val="222AD0"/>
              </a:solidFill>
            </a:endParaRPr>
          </a:p>
          <a:p>
            <a:pPr marL="0" lvl="0" indent="0">
              <a:spcBef>
                <a:spcPts val="0"/>
              </a:spcBef>
            </a:pPr>
            <a:r>
              <a:rPr lang="en-IN" b="1" dirty="0">
                <a:solidFill>
                  <a:srgbClr val="222AD0"/>
                </a:solidFill>
              </a:rPr>
              <a:t>Date: 1/2/26</a:t>
            </a:r>
            <a:endParaRPr b="1" dirty="0">
              <a:solidFill>
                <a:srgbClr val="222AD0"/>
              </a:solidFill>
            </a:endParaRPr>
          </a:p>
        </p:txBody>
      </p:sp>
      <p:sp>
        <p:nvSpPr>
          <p:cNvPr id="3" name="TextBox 2">
            <a:extLst>
              <a:ext uri="{FF2B5EF4-FFF2-40B4-BE49-F238E27FC236}">
                <a16:creationId xmlns:a16="http://schemas.microsoft.com/office/drawing/2014/main" id="{333E81C7-F785-FE89-640F-025A7CD96C58}"/>
              </a:ext>
            </a:extLst>
          </p:cNvPr>
          <p:cNvSpPr txBox="1"/>
          <p:nvPr/>
        </p:nvSpPr>
        <p:spPr>
          <a:xfrm>
            <a:off x="2908738" y="3143615"/>
            <a:ext cx="3326523" cy="1015663"/>
          </a:xfrm>
          <a:prstGeom prst="rect">
            <a:avLst/>
          </a:prstGeom>
          <a:noFill/>
        </p:spPr>
        <p:txBody>
          <a:bodyPr wrap="square">
            <a:spAutoFit/>
          </a:bodyPr>
          <a:lstStyle/>
          <a:p>
            <a:pPr algn="ctr"/>
            <a:r>
              <a:rPr lang="en-IN" sz="3000" b="1" dirty="0">
                <a:solidFill>
                  <a:srgbClr val="222AD0"/>
                </a:solidFill>
                <a:latin typeface="Calibri" panose="020F0502020204030204" pitchFamily="34" charset="0"/>
                <a:ea typeface="Calibri" panose="020F0502020204030204" pitchFamily="34" charset="0"/>
                <a:cs typeface="Calibri" panose="020F0502020204030204" pitchFamily="34" charset="0"/>
              </a:rPr>
              <a:t>Tapodyuti Sarkar RA2412049015096 </a:t>
            </a:r>
            <a:endParaRPr lang="en-IN" sz="3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1048587" name="Google Shape;94;p2"/>
          <p:cNvSpPr txBox="1">
            <a:spLocks noGrp="1"/>
          </p:cNvSpPr>
          <p:nvPr>
            <p:ph type="ctrTitle"/>
          </p:nvPr>
        </p:nvSpPr>
        <p:spPr>
          <a:xfrm>
            <a:off x="172616" y="484200"/>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Abstract</a:t>
            </a:r>
            <a:endParaRPr dirty="0"/>
          </a:p>
        </p:txBody>
      </p:sp>
      <p:sp>
        <p:nvSpPr>
          <p:cNvPr id="7" name="TextBox 6">
            <a:extLst>
              <a:ext uri="{FF2B5EF4-FFF2-40B4-BE49-F238E27FC236}">
                <a16:creationId xmlns:a16="http://schemas.microsoft.com/office/drawing/2014/main" id="{049C297D-907A-F602-BA09-3D42BD3925B1}"/>
              </a:ext>
            </a:extLst>
          </p:cNvPr>
          <p:cNvSpPr txBox="1"/>
          <p:nvPr/>
        </p:nvSpPr>
        <p:spPr>
          <a:xfrm>
            <a:off x="654269" y="1219200"/>
            <a:ext cx="7922172" cy="4770537"/>
          </a:xfrm>
          <a:prstGeom prst="rect">
            <a:avLst/>
          </a:prstGeom>
          <a:noFill/>
        </p:spPr>
        <p:txBody>
          <a:bodyPr wrap="square">
            <a:spAutoFit/>
          </a:bodyPr>
          <a:lstStyle/>
          <a:p>
            <a:r>
              <a:rPr lang="en-IN" sz="1600" dirty="0"/>
              <a:t>Climate change driven by rising carbon dioxide emissions is a critical global threat, directly addressed by SDG‑13: Climate Action. Residential and small‑scale energy use accounts for a significant share of global emissions, yet individuals lack simple, data‑driven tools to understand and reduce their footprint.​</a:t>
            </a:r>
            <a:br>
              <a:rPr lang="en-IN" sz="1600" dirty="0"/>
            </a:br>
            <a:endParaRPr lang="en-IN" sz="1600" dirty="0"/>
          </a:p>
          <a:p>
            <a:r>
              <a:rPr lang="en-IN" sz="1600" dirty="0"/>
              <a:t>This project proposes a machine learning framework to predict household energy consumption and associated CO₂ emissions from easily measurable features such as appliance usage, fuel type, and basic building characteristics. The system compares multiple models (Linear Regression, Random Forest, Gradient Boosting, </a:t>
            </a:r>
            <a:r>
              <a:rPr lang="en-IN" sz="1600" dirty="0" err="1"/>
              <a:t>XGBoost</a:t>
            </a:r>
            <a:r>
              <a:rPr lang="en-IN" sz="1600" dirty="0"/>
              <a:t>, and a lightweight neural network) using metrics like MAE, RMSE, and R², and selects the best model to power a user‑facing web dashboard.​</a:t>
            </a:r>
            <a:br>
              <a:rPr lang="en-IN" sz="1600" dirty="0"/>
            </a:br>
            <a:endParaRPr lang="en-IN" sz="1600" dirty="0"/>
          </a:p>
          <a:p>
            <a:r>
              <a:rPr lang="en-IN" sz="1600" dirty="0"/>
              <a:t>The expected outcome is an interpretable prediction tool that not only estimates emissions but also provides feature‑based insights and simple what‑if scenarios (e.g., switching fuels, reducing usage) to support practical decarbonization decisions at the household level. This contributes to SDG‑13 by translating ML‑based carbon‑emission research into an accessible decision‑support application.</a:t>
            </a:r>
          </a:p>
          <a:p>
            <a:br>
              <a:rPr lang="en-IN" sz="1600" dirty="0"/>
            </a:br>
            <a:endParaRPr lang="en-US" altLang="en-US" sz="16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E4320B5B-A59E-66AD-EAA9-E95448271982}"/>
            </a:ext>
          </a:extLst>
        </p:cNvPr>
        <p:cNvGrpSpPr/>
        <p:nvPr/>
      </p:nvGrpSpPr>
      <p:grpSpPr>
        <a:xfrm>
          <a:off x="0" y="0"/>
          <a:ext cx="0" cy="0"/>
          <a:chOff x="0" y="0"/>
          <a:chExt cx="0" cy="0"/>
        </a:xfrm>
      </p:grpSpPr>
      <p:sp>
        <p:nvSpPr>
          <p:cNvPr id="1048587" name="Google Shape;94;p2">
            <a:extLst>
              <a:ext uri="{FF2B5EF4-FFF2-40B4-BE49-F238E27FC236}">
                <a16:creationId xmlns:a16="http://schemas.microsoft.com/office/drawing/2014/main" id="{121AB52B-15B5-0056-854B-0F629A71FB30}"/>
              </a:ext>
            </a:extLst>
          </p:cNvPr>
          <p:cNvSpPr txBox="1">
            <a:spLocks noGrp="1"/>
          </p:cNvSpPr>
          <p:nvPr>
            <p:ph type="ctrTitle"/>
          </p:nvPr>
        </p:nvSpPr>
        <p:spPr>
          <a:xfrm>
            <a:off x="172616" y="484200"/>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Introduction</a:t>
            </a:r>
            <a:endParaRPr dirty="0"/>
          </a:p>
        </p:txBody>
      </p:sp>
      <p:sp>
        <p:nvSpPr>
          <p:cNvPr id="7" name="TextBox 6">
            <a:extLst>
              <a:ext uri="{FF2B5EF4-FFF2-40B4-BE49-F238E27FC236}">
                <a16:creationId xmlns:a16="http://schemas.microsoft.com/office/drawing/2014/main" id="{6A74D879-A2E4-A91D-9194-ACE2CD8E196E}"/>
              </a:ext>
            </a:extLst>
          </p:cNvPr>
          <p:cNvSpPr txBox="1"/>
          <p:nvPr/>
        </p:nvSpPr>
        <p:spPr>
          <a:xfrm>
            <a:off x="654269" y="1219200"/>
            <a:ext cx="7922172" cy="4278094"/>
          </a:xfrm>
          <a:prstGeom prst="rect">
            <a:avLst/>
          </a:prstGeom>
          <a:noFill/>
        </p:spPr>
        <p:txBody>
          <a:bodyPr wrap="square">
            <a:spAutoFit/>
          </a:bodyPr>
          <a:lstStyle/>
          <a:p>
            <a:pPr marL="285750" indent="-285750">
              <a:buFont typeface="Wingdings" panose="05000000000000000000" pitchFamily="2" charset="2"/>
              <a:buChar char="Ø"/>
            </a:pPr>
            <a:r>
              <a:rPr lang="en-IN" sz="1600" dirty="0"/>
              <a:t>Climate change is driven largely by human greenhouse gas emissions, with carbon dioxide from energy use as the dominant contributor.​</a:t>
            </a:r>
          </a:p>
          <a:p>
            <a:pPr marL="285750" indent="-285750">
              <a:buFont typeface="Wingdings" panose="05000000000000000000" pitchFamily="2" charset="2"/>
              <a:buChar char="Ø"/>
            </a:pPr>
            <a:r>
              <a:rPr lang="en-IN" sz="1600" dirty="0"/>
              <a:t>Residential and commercial buildings account for a substantial share of global final energy consumption and related CO₂ emissions, directly linking this sector to SDG‑13: Climate Action.​</a:t>
            </a:r>
          </a:p>
          <a:p>
            <a:pPr marL="285750" indent="-285750">
              <a:buFont typeface="Wingdings" panose="05000000000000000000" pitchFamily="2" charset="2"/>
              <a:buChar char="Ø"/>
            </a:pPr>
            <a:r>
              <a:rPr lang="en-IN" sz="1600" dirty="0"/>
              <a:t>In many regions, especially developing countries, increasing adoption of energy‑intensive appliances and rising electricity/LPG use intensify the climate impact of households.​</a:t>
            </a:r>
          </a:p>
          <a:p>
            <a:pPr marL="285750" indent="-285750">
              <a:buFont typeface="Wingdings" panose="05000000000000000000" pitchFamily="2" charset="2"/>
              <a:buChar char="Ø"/>
            </a:pPr>
            <a:r>
              <a:rPr lang="en-IN" sz="1600" dirty="0"/>
              <a:t>Most individuals lack quantitative tools that convert their everyday energy‑use patterns into estimated emissions and clear, personalized reduction strategies, creating a gap between awareness and action.​</a:t>
            </a:r>
          </a:p>
          <a:p>
            <a:pPr marL="285750" indent="-285750">
              <a:buFont typeface="Wingdings" panose="05000000000000000000" pitchFamily="2" charset="2"/>
              <a:buChar char="Ø"/>
            </a:pPr>
            <a:r>
              <a:rPr lang="en-IN" sz="1600" dirty="0"/>
              <a:t>Recent research shows that machine learning models can accurately predict building energy demand and CO₂ emissions from features such as floor area, building type, climate zone, and usage profiles.​</a:t>
            </a:r>
          </a:p>
          <a:p>
            <a:pPr marL="285750" indent="-285750">
              <a:buFont typeface="Wingdings" panose="05000000000000000000" pitchFamily="2" charset="2"/>
              <a:buChar char="Ø"/>
            </a:pPr>
            <a:r>
              <a:rPr lang="en-IN" sz="1600" dirty="0"/>
              <a:t>However, many existing ML solutions focus on aggregate forecasts (city or national level) or act as complex black boxes, limiting their usefulness for household‑level decision making and practical climate‑action planning.​</a:t>
            </a:r>
          </a:p>
        </p:txBody>
      </p:sp>
    </p:spTree>
    <p:extLst>
      <p:ext uri="{BB962C8B-B14F-4D97-AF65-F5344CB8AC3E}">
        <p14:creationId xmlns:p14="http://schemas.microsoft.com/office/powerpoint/2010/main" val="317778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FF86-7BCB-DC10-240E-E2E91948629A}"/>
              </a:ext>
            </a:extLst>
          </p:cNvPr>
          <p:cNvSpPr>
            <a:spLocks noGrp="1"/>
          </p:cNvSpPr>
          <p:nvPr>
            <p:ph type="title"/>
          </p:nvPr>
        </p:nvSpPr>
        <p:spPr/>
        <p:txBody>
          <a:bodyPr/>
          <a:lstStyle/>
          <a:p>
            <a:r>
              <a:rPr lang="en-IN" dirty="0"/>
              <a:t>Motivation</a:t>
            </a:r>
          </a:p>
        </p:txBody>
      </p:sp>
      <p:sp>
        <p:nvSpPr>
          <p:cNvPr id="3" name="Text Placeholder 2">
            <a:extLst>
              <a:ext uri="{FF2B5EF4-FFF2-40B4-BE49-F238E27FC236}">
                <a16:creationId xmlns:a16="http://schemas.microsoft.com/office/drawing/2014/main" id="{8705D6B5-EE51-1CF1-77A3-5D728F69787B}"/>
              </a:ext>
            </a:extLst>
          </p:cNvPr>
          <p:cNvSpPr>
            <a:spLocks noGrp="1"/>
          </p:cNvSpPr>
          <p:nvPr>
            <p:ph type="body" idx="1"/>
          </p:nvPr>
        </p:nvSpPr>
        <p:spPr>
          <a:xfrm>
            <a:off x="457199" y="1600200"/>
            <a:ext cx="8556171" cy="5071188"/>
          </a:xfrm>
        </p:spPr>
        <p:txBody>
          <a:bodyPr>
            <a:normAutofit fontScale="32500" lnSpcReduction="20000"/>
          </a:bodyPr>
          <a:lstStyle/>
          <a:p>
            <a:pPr marL="114300" indent="0">
              <a:buNone/>
            </a:pPr>
            <a:r>
              <a:rPr lang="en-IN" sz="4900" dirty="0"/>
              <a:t>Why This Project Matters:</a:t>
            </a:r>
          </a:p>
          <a:p>
            <a:pPr marL="114300" indent="0">
              <a:buNone/>
            </a:pPr>
            <a:endParaRPr lang="en-IN" sz="4900" dirty="0"/>
          </a:p>
          <a:p>
            <a:pPr>
              <a:buFont typeface="Wingdings" panose="05000000000000000000" pitchFamily="2" charset="2"/>
              <a:buChar char="Ø"/>
            </a:pPr>
            <a:r>
              <a:rPr lang="en-IN" sz="4900" dirty="0"/>
              <a:t>Global Climate Crisis</a:t>
            </a:r>
          </a:p>
          <a:p>
            <a:pPr lvl="1">
              <a:buFont typeface="Wingdings" panose="05000000000000000000" pitchFamily="2" charset="2"/>
              <a:buChar char="Ø"/>
            </a:pPr>
            <a:r>
              <a:rPr lang="en-IN" sz="4900" dirty="0"/>
              <a:t>Climate change driven by rising CO₂ emissions threatens global sustainability</a:t>
            </a:r>
          </a:p>
          <a:p>
            <a:pPr lvl="1">
              <a:buFont typeface="Wingdings" panose="05000000000000000000" pitchFamily="2" charset="2"/>
              <a:buChar char="Ø"/>
            </a:pPr>
            <a:r>
              <a:rPr lang="en-IN" sz="4900" dirty="0"/>
              <a:t>Directly addressed by SDG-13: Climate Action</a:t>
            </a:r>
          </a:p>
          <a:p>
            <a:pPr>
              <a:buFont typeface="Wingdings" panose="05000000000000000000" pitchFamily="2" charset="2"/>
              <a:buChar char="Ø"/>
            </a:pPr>
            <a:r>
              <a:rPr lang="en-IN" sz="4900" dirty="0"/>
              <a:t>Residential Sector Gap</a:t>
            </a:r>
          </a:p>
          <a:p>
            <a:pPr lvl="1">
              <a:buFont typeface="Wingdings" panose="05000000000000000000" pitchFamily="2" charset="2"/>
              <a:buChar char="Ø"/>
            </a:pPr>
            <a:r>
              <a:rPr lang="en-IN" sz="4900" dirty="0"/>
              <a:t>Residential and small-scale energy use accounts for 30-40% of global emissions</a:t>
            </a:r>
          </a:p>
          <a:p>
            <a:pPr lvl="1">
              <a:buFont typeface="Wingdings" panose="05000000000000000000" pitchFamily="2" charset="2"/>
              <a:buChar char="Ø"/>
            </a:pPr>
            <a:r>
              <a:rPr lang="en-IN" sz="4900" dirty="0"/>
              <a:t>Yet individuals lack simple, data-driven tools to understand their carbon footprint</a:t>
            </a:r>
          </a:p>
          <a:p>
            <a:pPr>
              <a:buFont typeface="Wingdings" panose="05000000000000000000" pitchFamily="2" charset="2"/>
              <a:buChar char="Ø"/>
            </a:pPr>
            <a:r>
              <a:rPr lang="en-IN" sz="4900" dirty="0"/>
              <a:t>Awareness-Action Gap</a:t>
            </a:r>
          </a:p>
          <a:p>
            <a:pPr lvl="1">
              <a:buFont typeface="Wingdings" panose="05000000000000000000" pitchFamily="2" charset="2"/>
              <a:buChar char="Ø"/>
            </a:pPr>
            <a:r>
              <a:rPr lang="en-IN" sz="4900" dirty="0"/>
              <a:t>Most people cannot quantify how their daily energy habits translate to CO₂ emissions</a:t>
            </a:r>
          </a:p>
          <a:p>
            <a:pPr lvl="1">
              <a:buFont typeface="Wingdings" panose="05000000000000000000" pitchFamily="2" charset="2"/>
              <a:buChar char="Ø"/>
            </a:pPr>
            <a:r>
              <a:rPr lang="en-IN" sz="4900" dirty="0"/>
              <a:t>No accessible tools for personalized reduction strategies at household level</a:t>
            </a:r>
          </a:p>
          <a:p>
            <a:pPr>
              <a:buFont typeface="Wingdings" panose="05000000000000000000" pitchFamily="2" charset="2"/>
              <a:buChar char="Ø"/>
            </a:pPr>
            <a:r>
              <a:rPr lang="en-IN" sz="4900" dirty="0"/>
              <a:t>Machine Learning Opportunity</a:t>
            </a:r>
          </a:p>
          <a:p>
            <a:pPr lvl="1">
              <a:buFont typeface="Wingdings" panose="05000000000000000000" pitchFamily="2" charset="2"/>
              <a:buChar char="Ø"/>
            </a:pPr>
            <a:r>
              <a:rPr lang="en-IN" sz="4900" dirty="0"/>
              <a:t>ML models can accurately predict building energy and CO₂ from simple features</a:t>
            </a:r>
          </a:p>
          <a:p>
            <a:pPr lvl="1">
              <a:buFont typeface="Wingdings" panose="05000000000000000000" pitchFamily="2" charset="2"/>
              <a:buChar char="Ø"/>
            </a:pPr>
            <a:r>
              <a:rPr lang="en-IN" sz="4900" dirty="0"/>
              <a:t>Transform complex climate data into actionable household-level insights</a:t>
            </a:r>
          </a:p>
          <a:p>
            <a:pPr>
              <a:buFont typeface="Wingdings" panose="05000000000000000000" pitchFamily="2" charset="2"/>
              <a:buChar char="Ø"/>
            </a:pPr>
            <a:r>
              <a:rPr lang="en-IN" sz="4900" dirty="0"/>
              <a:t>SDG-13 Alignment</a:t>
            </a:r>
          </a:p>
          <a:p>
            <a:pPr lvl="1">
              <a:buFont typeface="Wingdings" panose="05000000000000000000" pitchFamily="2" charset="2"/>
              <a:buChar char="Ø"/>
            </a:pPr>
            <a:r>
              <a:rPr lang="en-IN" sz="4900" dirty="0"/>
              <a:t>Empowers individuals to make informed decisions for decarbonization</a:t>
            </a:r>
          </a:p>
          <a:p>
            <a:pPr lvl="1">
              <a:buFont typeface="Wingdings" panose="05000000000000000000" pitchFamily="2" charset="2"/>
              <a:buChar char="Ø"/>
            </a:pPr>
            <a:r>
              <a:rPr lang="en-IN" sz="4900" dirty="0"/>
              <a:t>Bridges gap between climate awareness and practical action</a:t>
            </a:r>
          </a:p>
          <a:p>
            <a:pPr marL="114300" indent="0">
              <a:buNone/>
            </a:pPr>
            <a:br>
              <a:rPr lang="en-IN" dirty="0"/>
            </a:br>
            <a:endParaRPr lang="en-IN" dirty="0"/>
          </a:p>
        </p:txBody>
      </p:sp>
    </p:spTree>
    <p:extLst>
      <p:ext uri="{BB962C8B-B14F-4D97-AF65-F5344CB8AC3E}">
        <p14:creationId xmlns:p14="http://schemas.microsoft.com/office/powerpoint/2010/main" val="529285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48605" name="Google Shape;108;p4"/>
          <p:cNvSpPr txBox="1">
            <a:spLocks noGrp="1"/>
          </p:cNvSpPr>
          <p:nvPr>
            <p:ph type="title"/>
          </p:nvPr>
        </p:nvSpPr>
        <p:spPr>
          <a:xfrm>
            <a:off x="457200" y="-95851"/>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Literature Review</a:t>
            </a:r>
          </a:p>
        </p:txBody>
      </p:sp>
      <p:graphicFrame>
        <p:nvGraphicFramePr>
          <p:cNvPr id="4194304" name="Google Shape;109;p4"/>
          <p:cNvGraphicFramePr>
            <a:graphicFrameLocks/>
          </p:cNvGraphicFramePr>
          <p:nvPr>
            <p:extLst>
              <p:ext uri="{D42A27DB-BD31-4B8C-83A1-F6EECF244321}">
                <p14:modId xmlns:p14="http://schemas.microsoft.com/office/powerpoint/2010/main" val="3334623854"/>
              </p:ext>
            </p:extLst>
          </p:nvPr>
        </p:nvGraphicFramePr>
        <p:xfrm>
          <a:off x="484263" y="873497"/>
          <a:ext cx="8202537" cy="4957585"/>
        </p:xfrm>
        <a:graphic>
          <a:graphicData uri="http://schemas.openxmlformats.org/drawingml/2006/table">
            <a:tbl>
              <a:tblPr firstRow="1" bandRow="1">
                <a:noFill/>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1162825">
                <a:tc>
                  <a:txBody>
                    <a:bodyPr/>
                    <a:lstStyle/>
                    <a:p>
                      <a:pPr rtl="0">
                        <a:buNone/>
                      </a:pPr>
                      <a:r>
                        <a:rPr lang="en-IN" sz="1800" b="1">
                          <a:solidFill>
                            <a:schemeClr val="bg1"/>
                          </a:solidFill>
                          <a:effectLst/>
                          <a:latin typeface="Google Sans Text"/>
                        </a:rPr>
                        <a:t>Title of the Paper</a:t>
                      </a:r>
                      <a:endParaRPr lang="en-IN" sz="1800">
                        <a:solidFill>
                          <a:schemeClr val="bg1"/>
                        </a:solidFill>
                        <a:effectLst/>
                        <a:latin typeface="Google Sans Text"/>
                      </a:endParaRPr>
                    </a:p>
                  </a:txBody>
                  <a:tcPr marT="60960" marB="60960" anchor="ctr"/>
                </a:tc>
                <a:tc>
                  <a:txBody>
                    <a:bodyPr/>
                    <a:lstStyle/>
                    <a:p>
                      <a:pPr rtl="0">
                        <a:buNone/>
                      </a:pPr>
                      <a:r>
                        <a:rPr lang="en-IN" sz="1800" b="1">
                          <a:solidFill>
                            <a:schemeClr val="bg1"/>
                          </a:solidFill>
                          <a:effectLst/>
                          <a:latin typeface="Google Sans Text"/>
                        </a:rPr>
                        <a:t>Journal</a:t>
                      </a:r>
                      <a:endParaRPr lang="en-IN" sz="1800">
                        <a:solidFill>
                          <a:schemeClr val="bg1"/>
                        </a:solidFill>
                        <a:effectLst/>
                        <a:latin typeface="Google Sans Text"/>
                      </a:endParaRPr>
                    </a:p>
                  </a:txBody>
                  <a:tcPr marT="60960" marB="60960" anchor="ctr"/>
                </a:tc>
                <a:tc>
                  <a:txBody>
                    <a:bodyPr/>
                    <a:lstStyle/>
                    <a:p>
                      <a:pPr rtl="0">
                        <a:buNone/>
                      </a:pPr>
                      <a:r>
                        <a:rPr lang="en-IN" sz="1800" b="1">
                          <a:solidFill>
                            <a:schemeClr val="bg1"/>
                          </a:solidFill>
                          <a:effectLst/>
                          <a:latin typeface="Google Sans Text"/>
                        </a:rPr>
                        <a:t>DataSet Used</a:t>
                      </a:r>
                      <a:endParaRPr lang="en-IN" sz="1800">
                        <a:solidFill>
                          <a:schemeClr val="bg1"/>
                        </a:solidFill>
                        <a:effectLst/>
                        <a:latin typeface="Google Sans Text"/>
                      </a:endParaRPr>
                    </a:p>
                  </a:txBody>
                  <a:tcPr marT="60960" marB="60960" anchor="ctr"/>
                </a:tc>
                <a:tc>
                  <a:txBody>
                    <a:bodyPr/>
                    <a:lstStyle/>
                    <a:p>
                      <a:pPr rtl="0">
                        <a:buNone/>
                      </a:pPr>
                      <a:r>
                        <a:rPr lang="en-IN" sz="1800" b="1">
                          <a:solidFill>
                            <a:schemeClr val="bg1"/>
                          </a:solidFill>
                          <a:effectLst/>
                          <a:latin typeface="Google Sans Text"/>
                        </a:rPr>
                        <a:t>Contributions</a:t>
                      </a:r>
                      <a:endParaRPr lang="en-IN" sz="1800">
                        <a:solidFill>
                          <a:schemeClr val="bg1"/>
                        </a:solidFill>
                        <a:effectLst/>
                        <a:latin typeface="Google Sans Text"/>
                      </a:endParaRPr>
                    </a:p>
                  </a:txBody>
                  <a:tcPr marT="60960" marB="60960" anchor="ctr"/>
                </a:tc>
                <a:tc>
                  <a:txBody>
                    <a:bodyPr/>
                    <a:lstStyle/>
                    <a:p>
                      <a:pPr rtl="0">
                        <a:buNone/>
                      </a:pPr>
                      <a:r>
                        <a:rPr lang="en-IN" sz="1800" b="1" dirty="0">
                          <a:solidFill>
                            <a:schemeClr val="bg1"/>
                          </a:solidFill>
                          <a:effectLst/>
                          <a:latin typeface="Google Sans Text"/>
                        </a:rPr>
                        <a:t>Limitations</a:t>
                      </a:r>
                      <a:endParaRPr lang="en-IN" sz="1800" dirty="0">
                        <a:solidFill>
                          <a:schemeClr val="bg1"/>
                        </a:solidFill>
                        <a:effectLst/>
                        <a:latin typeface="Google Sans Text"/>
                      </a:endParaRPr>
                    </a:p>
                  </a:txBody>
                  <a:tcPr marT="60960" marB="60960" anchor="ctr"/>
                </a:tc>
                <a:extLst>
                  <a:ext uri="{0D108BD9-81ED-4DB2-BD59-A6C34878D82A}">
                    <a16:rowId xmlns:a16="http://schemas.microsoft.com/office/drawing/2014/main" val="10000"/>
                  </a:ext>
                </a:extLst>
              </a:tr>
              <a:tr h="673700">
                <a:tc>
                  <a:txBody>
                    <a:bodyPr/>
                    <a:lstStyle/>
                    <a:p>
                      <a:pPr algn="ctr" fontAlgn="base" latinLnBrk="0">
                        <a:buNone/>
                      </a:pPr>
                      <a:r>
                        <a:rPr lang="en-IN" sz="1100" b="0" dirty="0">
                          <a:effectLst/>
                        </a:rPr>
                        <a:t>An examination of daily CO₂ emissions prediction through machine learning and deep learning models</a:t>
                      </a:r>
                      <a:r>
                        <a:rPr lang="en-IN" sz="1100" dirty="0">
                          <a:effectLst/>
                        </a:rPr>
                        <a:t> (</a:t>
                      </a:r>
                      <a:r>
                        <a:rPr lang="en-IN" sz="1100" b="1" dirty="0">
                          <a:effectLst/>
                        </a:rPr>
                        <a:t>Ye </a:t>
                      </a:r>
                      <a:r>
                        <a:rPr lang="en-IN" sz="1100" b="0" dirty="0">
                          <a:effectLst/>
                        </a:rPr>
                        <a:t>et al</a:t>
                      </a:r>
                      <a:r>
                        <a:rPr lang="en-IN" sz="1100" dirty="0">
                          <a:effectLst/>
                        </a:rPr>
                        <a:t>.,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Environmental Research Letters (Nature Portfolio)</a:t>
                      </a:r>
                      <a:endParaRPr lang="en-IN" sz="1100" i="1" dirty="0">
                        <a:effectLst/>
                      </a:endParaRPr>
                    </a:p>
                  </a:txBody>
                  <a:tcPr marL="60960" marR="60960" anchor="ctr"/>
                </a:tc>
                <a:tc>
                  <a:txBody>
                    <a:bodyPr/>
                    <a:lstStyle/>
                    <a:p>
                      <a:pPr algn="ctr" fontAlgn="base" latinLnBrk="0">
                        <a:buNone/>
                      </a:pPr>
                      <a:r>
                        <a:rPr lang="en-IN" sz="1100" dirty="0">
                          <a:effectLst/>
                        </a:rPr>
                        <a:t>Daily national CO₂ emissions for major emitting regions (2022–2023)</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Evaluates 14 models (ARMA, RF, </a:t>
                      </a:r>
                      <a:r>
                        <a:rPr lang="en-IN" sz="1100" b="0" i="0" u="none" strike="noStrike" cap="none" dirty="0" err="1">
                          <a:solidFill>
                            <a:schemeClr val="dk1"/>
                          </a:solidFill>
                          <a:effectLst/>
                          <a:latin typeface="Calibri"/>
                          <a:ea typeface="Calibri"/>
                          <a:cs typeface="Calibri"/>
                          <a:sym typeface="Arial"/>
                        </a:rPr>
                        <a:t>XGBoost</a:t>
                      </a:r>
                      <a:r>
                        <a:rPr lang="en-IN" sz="1100" b="0" i="0" u="none" strike="noStrike" cap="none" dirty="0">
                          <a:solidFill>
                            <a:schemeClr val="dk1"/>
                          </a:solidFill>
                          <a:effectLst/>
                          <a:latin typeface="Calibri"/>
                          <a:ea typeface="Calibri"/>
                          <a:cs typeface="Calibri"/>
                          <a:sym typeface="Arial"/>
                        </a:rPr>
                        <a:t>, CNN–RNN hybrids); ensemble ML achieves R² 0.714–0.932 and is recommended as best trade‑off between accuracy and complexity.</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National‑level focus only; does not address household/building‑level predictions or user‑facing tools.</a:t>
                      </a:r>
                      <a:endParaRPr lang="en-IN" sz="1000" dirty="0">
                        <a:effectLst/>
                      </a:endParaRPr>
                    </a:p>
                  </a:txBody>
                  <a:tcPr marL="60960" marR="60960" anchor="ctr"/>
                </a:tc>
                <a:extLst>
                  <a:ext uri="{0D108BD9-81ED-4DB2-BD59-A6C34878D82A}">
                    <a16:rowId xmlns:a16="http://schemas.microsoft.com/office/drawing/2014/main" val="10001"/>
                  </a:ext>
                </a:extLst>
              </a:tr>
              <a:tr h="673700">
                <a:tc>
                  <a:txBody>
                    <a:bodyPr/>
                    <a:lstStyle/>
                    <a:p>
                      <a:pPr algn="ctr" fontAlgn="base" latinLnBrk="0">
                        <a:buNone/>
                      </a:pPr>
                      <a:r>
                        <a:rPr lang="en-IN" sz="1100" b="0" dirty="0">
                          <a:effectLst/>
                        </a:rPr>
                        <a:t>Machine learning models for predicting rural residential carbon emissions and optimising spatial forms</a:t>
                      </a:r>
                      <a:r>
                        <a:rPr lang="en-IN" sz="1100" dirty="0">
                          <a:effectLst/>
                        </a:rPr>
                        <a:t> (</a:t>
                      </a:r>
                      <a:r>
                        <a:rPr lang="en-IN" sz="1100" b="1" dirty="0">
                          <a:effectLst/>
                        </a:rPr>
                        <a:t>Liu</a:t>
                      </a:r>
                      <a:r>
                        <a:rPr lang="en-IN" sz="1100" dirty="0">
                          <a:effectLst/>
                        </a:rPr>
                        <a:t> et al.,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i="1" dirty="0">
                          <a:effectLst/>
                        </a:rPr>
                        <a:t>Scientific Reports (Nature)</a:t>
                      </a:r>
                    </a:p>
                  </a:txBody>
                  <a:tcPr marL="60960" marR="60960" anchor="ctr"/>
                </a:tc>
                <a:tc>
                  <a:txBody>
                    <a:bodyPr/>
                    <a:lstStyle/>
                    <a:p>
                      <a:pPr algn="ctr" fontAlgn="base" latinLnBrk="0">
                        <a:buNone/>
                      </a:pPr>
                      <a:r>
                        <a:rPr lang="en-IN" sz="1100" dirty="0">
                          <a:effectLst/>
                        </a:rPr>
                        <a:t>Rural residential land-use and carbon-emission spatial features for large regions</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ML models to estimate emissions from spatial‑form variables and explores optimisation of rural settlement patterns for emission reduction.</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Requires detailed GIS/spatial‑form data; generalisation to urban or non‑mapped areas is unclear.</a:t>
                      </a:r>
                      <a:endParaRPr lang="en-IN" sz="10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dirty="0">
                          <a:effectLst/>
                        </a:rPr>
                        <a:t>Predicting residential CO₂ emissions: Machine learning and deep learning approaches</a:t>
                      </a:r>
                      <a:r>
                        <a:rPr lang="en-IN" sz="1100" dirty="0">
                          <a:effectLst/>
                        </a:rPr>
                        <a:t> (</a:t>
                      </a:r>
                      <a:r>
                        <a:rPr lang="en-IN" sz="1100" b="1" dirty="0">
                          <a:effectLst/>
                        </a:rPr>
                        <a:t>Khan</a:t>
                      </a:r>
                      <a:r>
                        <a:rPr lang="en-IN" sz="1100" dirty="0">
                          <a:effectLst/>
                        </a:rPr>
                        <a:t> et al.,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i="1" dirty="0">
                          <a:effectLst/>
                        </a:rPr>
                        <a:t>Sustainability in Building and the Environment (</a:t>
                      </a:r>
                      <a:r>
                        <a:rPr lang="en-IN" sz="1100" i="1" dirty="0" err="1">
                          <a:effectLst/>
                        </a:rPr>
                        <a:t>Durabi</a:t>
                      </a:r>
                      <a:r>
                        <a:rPr lang="en-IN" sz="1100" i="1" dirty="0">
                          <a:effectLst/>
                        </a:rPr>
                        <a:t>)</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Daily residential CO₂ emissions data for U.S. buildings (2022–2024).</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Compares 6 ML Models (DT, RF, Ridge, GB, SVR, </a:t>
                      </a:r>
                      <a:r>
                        <a:rPr lang="en-IN" sz="1100" b="0" i="0" u="none" strike="noStrike" cap="none" dirty="0" err="1">
                          <a:solidFill>
                            <a:schemeClr val="dk1"/>
                          </a:solidFill>
                          <a:effectLst/>
                          <a:latin typeface="Calibri"/>
                          <a:ea typeface="Calibri"/>
                          <a:cs typeface="Calibri"/>
                          <a:sym typeface="Arial"/>
                        </a:rPr>
                        <a:t>XGBoost</a:t>
                      </a:r>
                      <a:r>
                        <a:rPr lang="en-IN" sz="1100" b="0" i="0" u="none" strike="noStrike" cap="none" dirty="0">
                          <a:solidFill>
                            <a:schemeClr val="dk1"/>
                          </a:solidFill>
                          <a:effectLst/>
                          <a:latin typeface="Calibri"/>
                          <a:ea typeface="Calibri"/>
                          <a:cs typeface="Calibri"/>
                          <a:sym typeface="Arial"/>
                        </a:rPr>
                        <a:t> and LSTM); tuned ensembles and LSTM achieve best RMSE/R², outperforming statistical baselines.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a single national dataset and daily aggregates; no interactive tool or per‑household explainability.</a:t>
                      </a:r>
                      <a:endParaRPr lang="en-IN" sz="1000" dirty="0">
                        <a:effectLst/>
                      </a:endParaRPr>
                    </a:p>
                  </a:txBody>
                  <a:tcPr marL="60960" marR="6096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7693ECD-D71E-83D7-A827-7CAEE7447B2A}"/>
            </a:ext>
          </a:extLst>
        </p:cNvPr>
        <p:cNvGrpSpPr/>
        <p:nvPr/>
      </p:nvGrpSpPr>
      <p:grpSpPr>
        <a:xfrm>
          <a:off x="0" y="0"/>
          <a:ext cx="0" cy="0"/>
          <a:chOff x="0" y="0"/>
          <a:chExt cx="0" cy="0"/>
        </a:xfrm>
      </p:grpSpPr>
      <p:graphicFrame>
        <p:nvGraphicFramePr>
          <p:cNvPr id="4194304" name="Google Shape;109;p4">
            <a:extLst>
              <a:ext uri="{FF2B5EF4-FFF2-40B4-BE49-F238E27FC236}">
                <a16:creationId xmlns:a16="http://schemas.microsoft.com/office/drawing/2014/main" id="{6B54EA1B-8115-83A7-B89A-8AC74638CA15}"/>
              </a:ext>
            </a:extLst>
          </p:cNvPr>
          <p:cNvGraphicFramePr>
            <a:graphicFrameLocks/>
          </p:cNvGraphicFramePr>
          <p:nvPr>
            <p:extLst>
              <p:ext uri="{D42A27DB-BD31-4B8C-83A1-F6EECF244321}">
                <p14:modId xmlns:p14="http://schemas.microsoft.com/office/powerpoint/2010/main" val="1358522228"/>
              </p:ext>
            </p:extLst>
          </p:nvPr>
        </p:nvGraphicFramePr>
        <p:xfrm>
          <a:off x="470731" y="692196"/>
          <a:ext cx="8202537" cy="4892040"/>
        </p:xfrm>
        <a:graphic>
          <a:graphicData uri="http://schemas.openxmlformats.org/drawingml/2006/table">
            <a:tbl>
              <a:tblPr firstRow="1" bandRow="1">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673700">
                <a:tc>
                  <a:txBody>
                    <a:bodyPr/>
                    <a:lstStyle/>
                    <a:p>
                      <a:pPr algn="ctr" fontAlgn="base" latinLnBrk="0">
                        <a:buNone/>
                      </a:pPr>
                      <a:r>
                        <a:rPr lang="en-IN" sz="1100" b="0" dirty="0">
                          <a:solidFill>
                            <a:schemeClr val="tx1"/>
                          </a:solidFill>
                          <a:effectLst/>
                        </a:rPr>
                        <a:t>An interpretable machine learning framework for residential building energy and carbon emissions</a:t>
                      </a:r>
                      <a:r>
                        <a:rPr lang="en-IN" sz="1100" dirty="0">
                          <a:solidFill>
                            <a:schemeClr val="tx1"/>
                          </a:solidFill>
                          <a:effectLst/>
                        </a:rPr>
                        <a:t> (Chen </a:t>
                      </a:r>
                      <a:r>
                        <a:rPr lang="en-IN" sz="1100" b="0" dirty="0">
                          <a:solidFill>
                            <a:schemeClr val="tx1"/>
                          </a:solidFill>
                          <a:effectLst/>
                        </a:rPr>
                        <a:t>et al</a:t>
                      </a:r>
                      <a:r>
                        <a:rPr lang="en-IN" sz="1100" dirty="0">
                          <a:solidFill>
                            <a:schemeClr val="tx1"/>
                          </a:solidFill>
                          <a:effectLst/>
                        </a:rPr>
                        <a:t>., </a:t>
                      </a:r>
                      <a:r>
                        <a:rPr lang="en-IN" sz="1100" b="0" dirty="0">
                          <a:solidFill>
                            <a:schemeClr val="tx1"/>
                          </a:solidFill>
                          <a:effectLst/>
                        </a:rPr>
                        <a:t>2025</a:t>
                      </a:r>
                      <a:r>
                        <a:rPr lang="en-IN" sz="1100" dirty="0">
                          <a:solidFill>
                            <a:schemeClr val="tx1"/>
                          </a:solidFill>
                          <a:effectLst/>
                        </a:rPr>
                        <a:t>)</a:t>
                      </a:r>
                    </a:p>
                  </a:txBody>
                  <a:tcPr marL="60960" marR="60960" anchor="ctr">
                    <a:solidFill>
                      <a:schemeClr val="bg1">
                        <a:lumMod val="85000"/>
                      </a:schemeClr>
                    </a:solidFill>
                  </a:tcPr>
                </a:tc>
                <a:tc>
                  <a:txBody>
                    <a:bodyPr/>
                    <a:lstStyle/>
                    <a:p>
                      <a:pPr algn="ctr" fontAlgn="base" latinLnBrk="0">
                        <a:buNone/>
                      </a:pPr>
                      <a:r>
                        <a:rPr lang="en-IN" sz="1100" b="0" i="1" u="none" strike="noStrike" cap="none" dirty="0">
                          <a:solidFill>
                            <a:schemeClr val="tx1"/>
                          </a:solidFill>
                          <a:effectLst/>
                          <a:latin typeface="Calibri"/>
                          <a:ea typeface="Calibri"/>
                          <a:cs typeface="Calibri"/>
                          <a:sym typeface="Arial"/>
                        </a:rPr>
                        <a:t>Explainable ML framework in Scientific Reports</a:t>
                      </a:r>
                      <a:r>
                        <a:rPr lang="en-IN" sz="1400" b="0" i="1" u="none" strike="noStrike" cap="none" dirty="0">
                          <a:solidFill>
                            <a:schemeClr val="tx1"/>
                          </a:solidFill>
                          <a:effectLst/>
                          <a:latin typeface="Calibri"/>
                          <a:ea typeface="Calibri"/>
                          <a:cs typeface="Calibri"/>
                          <a:sym typeface="Arial"/>
                        </a:rPr>
                        <a:t>.</a:t>
                      </a:r>
                      <a:endParaRPr lang="en-IN" sz="1100" i="1"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dirty="0">
                          <a:solidFill>
                            <a:schemeClr val="tx1"/>
                          </a:solidFill>
                          <a:effectLst/>
                        </a:rPr>
                        <a:t>Residential building energy and carbon-emission data with operational/structural features</a:t>
                      </a: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Proposes tree‑based models plus SHAP/permutation importance to analyse how building characteristics and operation drive emissions.</a:t>
                      </a:r>
                      <a:endParaRPr lang="en-IN" sz="10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Focuses on design/retrofit optimisation; requires rich feature sets and is less oriented to simple user questionnaires.</a:t>
                      </a:r>
                      <a:endParaRPr lang="en-IN" sz="1000" b="0" dirty="0">
                        <a:solidFill>
                          <a:schemeClr val="tx1"/>
                        </a:solidFill>
                        <a:effectLst/>
                      </a:endParaRPr>
                    </a:p>
                  </a:txBody>
                  <a:tcPr marL="60960" marR="60960" anchor="ctr">
                    <a:solidFill>
                      <a:schemeClr val="bg1">
                        <a:lumMod val="85000"/>
                      </a:schemeClr>
                    </a:solidFill>
                  </a:tcPr>
                </a:tc>
                <a:extLst>
                  <a:ext uri="{0D108BD9-81ED-4DB2-BD59-A6C34878D82A}">
                    <a16:rowId xmlns:a16="http://schemas.microsoft.com/office/drawing/2014/main" val="10001"/>
                  </a:ext>
                </a:extLst>
              </a:tr>
              <a:tr h="673700">
                <a:tc>
                  <a:txBody>
                    <a:bodyPr/>
                    <a:lstStyle/>
                    <a:p>
                      <a:pPr algn="ctr" fontAlgn="base" latinLnBrk="0">
                        <a:buNone/>
                      </a:pPr>
                      <a:r>
                        <a:rPr lang="en-IN" sz="1100" b="0" dirty="0">
                          <a:effectLst/>
                        </a:rPr>
                        <a:t>Machine learning applications for carbon emission estimation: A comprehensive survey</a:t>
                      </a:r>
                      <a:r>
                        <a:rPr lang="en-IN" sz="1100" dirty="0">
                          <a:effectLst/>
                        </a:rPr>
                        <a:t> (</a:t>
                      </a:r>
                      <a:r>
                        <a:rPr lang="en-IN" sz="1100" b="1" dirty="0">
                          <a:effectLst/>
                        </a:rPr>
                        <a:t>Smith &amp; Rodriguez</a:t>
                      </a:r>
                      <a:r>
                        <a:rPr lang="en-IN" sz="1100" dirty="0">
                          <a:effectLst/>
                        </a:rPr>
                        <a:t>,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i="1" dirty="0">
                          <a:effectLst/>
                        </a:rPr>
                        <a:t>Cleaner Engineering and Technology (Elsevier)</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Multiple published datasets across industrial, transport, building and national emissions (survey article).</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Reviews ML/DL techniques (tree‑based, neural nets, hybrids) for emission estimation; summarises drivers, metrics and performance.</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Survey only; doesn’t implement or evaluate a concrete end‑user tool, mainly highlights gaps like interpretability and actionable models.</a:t>
                      </a:r>
                      <a:endParaRPr lang="en-IN" sz="10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dirty="0">
                          <a:effectLst/>
                        </a:rPr>
                        <a:t>Building energy consumption prediction using deep learning</a:t>
                      </a:r>
                      <a:r>
                        <a:rPr lang="en-IN" sz="1100" dirty="0">
                          <a:effectLst/>
                        </a:rPr>
                        <a:t> (</a:t>
                      </a:r>
                      <a:r>
                        <a:rPr lang="en-IN" sz="1100" b="1" dirty="0">
                          <a:effectLst/>
                        </a:rPr>
                        <a:t>Davis</a:t>
                      </a:r>
                      <a:r>
                        <a:rPr lang="en-IN" sz="1100" dirty="0">
                          <a:effectLst/>
                        </a:rPr>
                        <a:t> et al., </a:t>
                      </a:r>
                      <a:r>
                        <a:rPr lang="en-IN" sz="1100" b="0" dirty="0">
                          <a:effectLst/>
                        </a:rPr>
                        <a:t>2024</a:t>
                      </a:r>
                      <a:r>
                        <a:rPr lang="en-IN" sz="1100" dirty="0">
                          <a:effectLst/>
                        </a:rPr>
                        <a:t>)</a:t>
                      </a: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Applied Energy / technical report</a:t>
                      </a:r>
                      <a:br>
                        <a:rPr lang="en-IN" sz="1100" dirty="0"/>
                      </a:br>
                      <a:endParaRPr lang="en-IN" sz="1100" i="0" dirty="0">
                        <a:effectLst/>
                      </a:endParaRPr>
                    </a:p>
                  </a:txBody>
                  <a:tcPr marL="60960" marR="60960" anchor="ctr"/>
                </a:tc>
                <a:tc>
                  <a:txBody>
                    <a:bodyPr/>
                    <a:lstStyle/>
                    <a:p>
                      <a:pPr algn="ctr" fontAlgn="base" latinLnBrk="0">
                        <a:buNone/>
                      </a:pPr>
                      <a:r>
                        <a:rPr lang="en-IN" sz="1100" dirty="0">
                          <a:effectLst/>
                        </a:rPr>
                        <a:t>Non-domestic building energy-consumption data (annual/sub-annual loads)</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Compares MLP ANN, SVM and Decision Tree; ANN gives lowest MAE/RMSE with a clear preprocessing and evaluation pipeline.</a:t>
                      </a:r>
                      <a:br>
                        <a:rPr lang="en-IN" sz="1100" dirty="0"/>
                      </a:br>
                      <a:endParaRPr lang="en-IN" sz="11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Targets specific building types and annual energy use; CO₂ emissions and user‑facing interfaces are not considered.</a:t>
                      </a:r>
                      <a:endParaRPr lang="en-IN" sz="1000" dirty="0">
                        <a:effectLst/>
                      </a:endParaRPr>
                    </a:p>
                  </a:txBody>
                  <a:tcPr marL="60960" marR="60960" anchor="ctr"/>
                </a:tc>
                <a:extLst>
                  <a:ext uri="{0D108BD9-81ED-4DB2-BD59-A6C34878D82A}">
                    <a16:rowId xmlns:a16="http://schemas.microsoft.com/office/drawing/2014/main" val="10003"/>
                  </a:ext>
                </a:extLst>
              </a:tr>
              <a:tr h="673700">
                <a:tc>
                  <a:txBody>
                    <a:bodyPr/>
                    <a:lstStyle/>
                    <a:p>
                      <a:pPr algn="ctr" fontAlgn="base" latinLnBrk="0">
                        <a:buNone/>
                      </a:pPr>
                      <a:r>
                        <a:rPr lang="en-IN" sz="1100" b="0" dirty="0">
                          <a:effectLst/>
                        </a:rPr>
                        <a:t>Intelligent prediction method of building energy consumption based on deep learning</a:t>
                      </a:r>
                      <a:r>
                        <a:rPr lang="en-IN" sz="1100" dirty="0">
                          <a:effectLst/>
                        </a:rPr>
                        <a:t> (</a:t>
                      </a:r>
                      <a:r>
                        <a:rPr lang="en-IN" sz="1100" b="1" dirty="0">
                          <a:effectLst/>
                        </a:rPr>
                        <a:t>Wang </a:t>
                      </a:r>
                      <a:r>
                        <a:rPr lang="en-IN" sz="1100" dirty="0">
                          <a:effectLst/>
                        </a:rPr>
                        <a:t>et al., </a:t>
                      </a:r>
                      <a:r>
                        <a:rPr lang="en-IN" sz="1100" b="0" dirty="0">
                          <a:effectLst/>
                        </a:rPr>
                        <a:t>2024</a:t>
                      </a:r>
                      <a:r>
                        <a:rPr lang="en-IN" sz="1100" dirty="0">
                          <a:effectLst/>
                        </a:rPr>
                        <a:t>)</a:t>
                      </a:r>
                    </a:p>
                  </a:txBody>
                  <a:tcPr marL="60960" marR="60960" anchor="ctr"/>
                </a:tc>
                <a:tc>
                  <a:txBody>
                    <a:bodyPr/>
                    <a:lstStyle/>
                    <a:p>
                      <a:pPr algn="ctr" fontAlgn="base" latinLnBrk="0">
                        <a:buNone/>
                      </a:pPr>
                      <a:r>
                        <a:rPr lang="en-IN" sz="1100" i="1" dirty="0">
                          <a:effectLst/>
                        </a:rPr>
                        <a:t>International Journal of Photoenergy (</a:t>
                      </a:r>
                      <a:r>
                        <a:rPr lang="en-IN" sz="1100" i="1" dirty="0" err="1">
                          <a:effectLst/>
                        </a:rPr>
                        <a:t>Hindawi</a:t>
                      </a:r>
                      <a:r>
                        <a:rPr lang="en-IN" sz="1100" i="1" dirty="0">
                          <a:effectLst/>
                        </a:rPr>
                        <a:t>)</a:t>
                      </a:r>
                      <a:endParaRPr lang="en-IN" sz="1100" dirty="0">
                        <a:effectLst/>
                      </a:endParaRPr>
                    </a:p>
                  </a:txBody>
                  <a:tcPr marL="60960" marR="60960" anchor="ctr"/>
                </a:tc>
                <a:tc>
                  <a:txBody>
                    <a:bodyPr/>
                    <a:lstStyle/>
                    <a:p>
                      <a:pPr algn="ctr" fontAlgn="base" latinLnBrk="0">
                        <a:buNone/>
                      </a:pPr>
                      <a:r>
                        <a:rPr lang="en-IN" sz="1100">
                          <a:effectLst/>
                        </a:rPr>
                        <a:t>Time-series building energy data from university building, Southwest China</a:t>
                      </a:r>
                    </a:p>
                  </a:txBody>
                  <a:tcPr marL="60960" marR="60960" anchor="ctr"/>
                </a:tc>
                <a:tc>
                  <a:txBody>
                    <a:bodyPr/>
                    <a:lstStyle/>
                    <a:p>
                      <a:pPr algn="ctr" fontAlgn="base" latinLnBrk="0">
                        <a:buNone/>
                      </a:pPr>
                      <a:r>
                        <a:rPr lang="en-IN" sz="1100">
                          <a:effectLst/>
                        </a:rPr>
                        <a:t>Proposes improved LSTM (ILSTM) with Adam optimization. Reports lower MAE/RMSE than comparison methods; demonstrates DL effectiveness for full-cycle prediction.</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Single‑building case study; relies on dense sensor data and has limited external validity.</a:t>
                      </a:r>
                      <a:endParaRPr lang="en-IN" sz="1000" dirty="0">
                        <a:effectLst/>
                      </a:endParaRPr>
                    </a:p>
                  </a:txBody>
                  <a:tcPr marL="60960" marR="6096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83172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00DF463-C983-81E1-D2E4-BABD9F9B8654}"/>
            </a:ext>
          </a:extLst>
        </p:cNvPr>
        <p:cNvGrpSpPr/>
        <p:nvPr/>
      </p:nvGrpSpPr>
      <p:grpSpPr>
        <a:xfrm>
          <a:off x="0" y="0"/>
          <a:ext cx="0" cy="0"/>
          <a:chOff x="0" y="0"/>
          <a:chExt cx="0" cy="0"/>
        </a:xfrm>
      </p:grpSpPr>
      <p:graphicFrame>
        <p:nvGraphicFramePr>
          <p:cNvPr id="4194304" name="Google Shape;109;p4">
            <a:extLst>
              <a:ext uri="{FF2B5EF4-FFF2-40B4-BE49-F238E27FC236}">
                <a16:creationId xmlns:a16="http://schemas.microsoft.com/office/drawing/2014/main" id="{9B3F368E-FAB3-1ABE-78C2-FCCC440EF45D}"/>
              </a:ext>
            </a:extLst>
          </p:cNvPr>
          <p:cNvGraphicFramePr>
            <a:graphicFrameLocks/>
          </p:cNvGraphicFramePr>
          <p:nvPr>
            <p:extLst>
              <p:ext uri="{D42A27DB-BD31-4B8C-83A1-F6EECF244321}">
                <p14:modId xmlns:p14="http://schemas.microsoft.com/office/powerpoint/2010/main" val="1933843601"/>
              </p:ext>
            </p:extLst>
          </p:nvPr>
        </p:nvGraphicFramePr>
        <p:xfrm>
          <a:off x="470731" y="692196"/>
          <a:ext cx="8202537" cy="5318760"/>
        </p:xfrm>
        <a:graphic>
          <a:graphicData uri="http://schemas.openxmlformats.org/drawingml/2006/table">
            <a:tbl>
              <a:tblPr firstRow="1" bandRow="1">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58259">
                  <a:extLst>
                    <a:ext uri="{9D8B030D-6E8A-4147-A177-3AD203B41FA5}">
                      <a16:colId xmlns:a16="http://schemas.microsoft.com/office/drawing/2014/main" val="20003"/>
                    </a:ext>
                  </a:extLst>
                </a:gridCol>
                <a:gridCol w="1627891">
                  <a:extLst>
                    <a:ext uri="{9D8B030D-6E8A-4147-A177-3AD203B41FA5}">
                      <a16:colId xmlns:a16="http://schemas.microsoft.com/office/drawing/2014/main" val="20004"/>
                    </a:ext>
                  </a:extLst>
                </a:gridCol>
              </a:tblGrid>
              <a:tr h="673700">
                <a:tc>
                  <a:txBody>
                    <a:bodyPr/>
                    <a:lstStyle/>
                    <a:p>
                      <a:pPr algn="ctr" fontAlgn="base" latinLnBrk="0">
                        <a:buNone/>
                      </a:pPr>
                      <a:r>
                        <a:rPr lang="en-IN" sz="1100" b="0" dirty="0">
                          <a:solidFill>
                            <a:schemeClr val="tx1"/>
                          </a:solidFill>
                          <a:effectLst/>
                        </a:rPr>
                        <a:t>A deep learning framework for building energy consumption forecasting</a:t>
                      </a:r>
                      <a:r>
                        <a:rPr lang="en-IN" sz="1100" dirty="0">
                          <a:solidFill>
                            <a:schemeClr val="tx1"/>
                          </a:solidFill>
                          <a:effectLst/>
                        </a:rPr>
                        <a:t> (Zhang et al., </a:t>
                      </a:r>
                      <a:r>
                        <a:rPr lang="en-IN" sz="1100" b="0" dirty="0">
                          <a:solidFill>
                            <a:schemeClr val="tx1"/>
                          </a:solidFill>
                          <a:effectLst/>
                        </a:rPr>
                        <a:t>2024</a:t>
                      </a:r>
                      <a:r>
                        <a:rPr lang="en-IN" sz="1100" dirty="0">
                          <a:solidFill>
                            <a:schemeClr val="tx1"/>
                          </a:solidFill>
                          <a:effectLst/>
                        </a:rPr>
                        <a:t>)</a:t>
                      </a:r>
                    </a:p>
                  </a:txBody>
                  <a:tcPr marL="60960" marR="60960" anchor="ctr">
                    <a:solidFill>
                      <a:schemeClr val="bg1">
                        <a:lumMod val="85000"/>
                      </a:schemeClr>
                    </a:solidFill>
                  </a:tcPr>
                </a:tc>
                <a:tc>
                  <a:txBody>
                    <a:bodyPr/>
                    <a:lstStyle/>
                    <a:p>
                      <a:pPr algn="ctr" fontAlgn="base" latinLnBrk="0">
                        <a:buNone/>
                      </a:pPr>
                      <a:r>
                        <a:rPr lang="en-IN" sz="1100" b="0" i="1" dirty="0">
                          <a:solidFill>
                            <a:schemeClr val="tx1"/>
                          </a:solidFill>
                          <a:effectLst/>
                        </a:rPr>
                        <a:t>Renewable &amp; Sustainable Energy Reviews</a:t>
                      </a:r>
                    </a:p>
                  </a:txBody>
                  <a:tcPr marL="60960" marR="60960" anchor="ctr">
                    <a:solidFill>
                      <a:schemeClr val="bg1">
                        <a:lumMod val="85000"/>
                      </a:schemeClr>
                    </a:solidFill>
                  </a:tcPr>
                </a:tc>
                <a:tc>
                  <a:txBody>
                    <a:bodyPr/>
                    <a:lstStyle/>
                    <a:p>
                      <a:pPr algn="ctr" fontAlgn="base" latinLnBrk="0">
                        <a:buNone/>
                      </a:pPr>
                      <a:r>
                        <a:rPr lang="en-IN" sz="1100" b="0">
                          <a:solidFill>
                            <a:schemeClr val="tx1"/>
                          </a:solidFill>
                          <a:effectLst/>
                        </a:rPr>
                        <a:t>Hourly building load and weather data for several commercial buildings</a:t>
                      </a: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Uses CNN–LSTM hybrid for short‑term load forecasting; significantly lower MAE/RMSE than traditional LSTM and SVR.</a:t>
                      </a:r>
                      <a:endParaRPr lang="en-IN" sz="11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CNN–LSTM is GPU‑intensive and requires high‑frequency data, making deployment on low‑resource systems difficult.</a:t>
                      </a:r>
                      <a:endParaRPr lang="en-IN" sz="1000" b="0" dirty="0">
                        <a:solidFill>
                          <a:schemeClr val="tx1"/>
                        </a:solidFill>
                        <a:effectLst/>
                      </a:endParaRPr>
                    </a:p>
                  </a:txBody>
                  <a:tcPr marL="60960" marR="60960" anchor="ctr">
                    <a:solidFill>
                      <a:schemeClr val="bg1">
                        <a:lumMod val="85000"/>
                      </a:schemeClr>
                    </a:solidFill>
                  </a:tcPr>
                </a:tc>
                <a:extLst>
                  <a:ext uri="{0D108BD9-81ED-4DB2-BD59-A6C34878D82A}">
                    <a16:rowId xmlns:a16="http://schemas.microsoft.com/office/drawing/2014/main" val="10001"/>
                  </a:ext>
                </a:extLst>
              </a:tr>
              <a:tr h="673700">
                <a:tc>
                  <a:txBody>
                    <a:bodyPr/>
                    <a:lstStyle/>
                    <a:p>
                      <a:pPr algn="ctr" fontAlgn="base" latinLnBrk="0">
                        <a:buNone/>
                      </a:pPr>
                      <a:r>
                        <a:rPr lang="en-IN" sz="1100" b="0" dirty="0">
                          <a:effectLst/>
                        </a:rPr>
                        <a:t>Research on building energy consumption prediction based on machine learning</a:t>
                      </a:r>
                      <a:r>
                        <a:rPr lang="en-IN" sz="1100" dirty="0">
                          <a:effectLst/>
                        </a:rPr>
                        <a:t> (</a:t>
                      </a:r>
                      <a:r>
                        <a:rPr lang="en-IN" sz="1100" b="1" dirty="0">
                          <a:effectLst/>
                        </a:rPr>
                        <a:t>Li</a:t>
                      </a:r>
                      <a:r>
                        <a:rPr lang="en-IN" sz="1100" dirty="0">
                          <a:effectLst/>
                        </a:rPr>
                        <a:t> et al., </a:t>
                      </a:r>
                      <a:r>
                        <a:rPr lang="en-IN" sz="1100" b="0" dirty="0">
                          <a:effectLst/>
                        </a:rPr>
                        <a:t>2024</a:t>
                      </a:r>
                      <a:r>
                        <a:rPr lang="en-IN" sz="1100" dirty="0">
                          <a:effectLst/>
                        </a:rPr>
                        <a:t>)</a:t>
                      </a: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Energy Reports</a:t>
                      </a:r>
                      <a:endParaRPr lang="en-IN" sz="1100" i="1" dirty="0">
                        <a:effectLst/>
                      </a:endParaRPr>
                    </a:p>
                  </a:txBody>
                  <a:tcPr marL="60960" marR="60960" anchor="ctr"/>
                </a:tc>
                <a:tc>
                  <a:txBody>
                    <a:bodyPr/>
                    <a:lstStyle/>
                    <a:p>
                      <a:pPr algn="ctr" fontAlgn="base" latinLnBrk="0">
                        <a:buNone/>
                      </a:pPr>
                      <a:r>
                        <a:rPr lang="en-IN" sz="1100">
                          <a:effectLst/>
                        </a:rPr>
                        <a:t>Building energy records with features like floor area, orientation, HVAC type</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Compares Random Forest, Gradient Boosting and SVM; Random Forest gives best generalisation and shows value of feature engineering and cross‑validation.</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Focuses on energy, not explicit CO₂ emissions; no interactive decision‑support interface for non‑expert users.</a:t>
                      </a:r>
                      <a:endParaRPr lang="en-IN" sz="10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dirty="0">
                          <a:effectLst/>
                        </a:rPr>
                        <a:t>Forecasting CO₂ emission in the US using machine learning methods</a:t>
                      </a:r>
                      <a:r>
                        <a:rPr lang="en-IN" sz="1100" dirty="0">
                          <a:effectLst/>
                        </a:rPr>
                        <a:t> (</a:t>
                      </a:r>
                      <a:r>
                        <a:rPr lang="en-IN" sz="1100" b="1" dirty="0">
                          <a:effectLst/>
                        </a:rPr>
                        <a:t>Ahmed</a:t>
                      </a:r>
                      <a:r>
                        <a:rPr lang="en-IN" sz="1100" dirty="0">
                          <a:effectLst/>
                        </a:rPr>
                        <a:t> et al., </a:t>
                      </a:r>
                      <a:r>
                        <a:rPr lang="en-IN" sz="1100" b="0" dirty="0">
                          <a:effectLst/>
                        </a:rPr>
                        <a:t>2023</a:t>
                      </a:r>
                      <a:r>
                        <a:rPr lang="en-IN" sz="1100" dirty="0">
                          <a:effectLst/>
                        </a:rPr>
                        <a:t>)</a:t>
                      </a:r>
                    </a:p>
                  </a:txBody>
                  <a:tcPr marL="60960" marR="60960" anchor="ctr"/>
                </a:tc>
                <a:tc>
                  <a:txBody>
                    <a:bodyPr/>
                    <a:lstStyle/>
                    <a:p>
                      <a:pPr algn="ctr" fontAlgn="base" latinLnBrk="0">
                        <a:buNone/>
                      </a:pPr>
                      <a:r>
                        <a:rPr lang="en-IN" sz="1100" i="1" dirty="0">
                          <a:effectLst/>
                        </a:rPr>
                        <a:t>Journal of Data Science and Intelligent Systems</a:t>
                      </a:r>
                    </a:p>
                  </a:txBody>
                  <a:tcPr marL="60960" marR="60960" anchor="ctr"/>
                </a:tc>
                <a:tc>
                  <a:txBody>
                    <a:bodyPr/>
                    <a:lstStyle/>
                    <a:p>
                      <a:pPr algn="ctr" fontAlgn="base" latinLnBrk="0">
                        <a:buNone/>
                      </a:pPr>
                      <a:r>
                        <a:rPr lang="en-IN" sz="1100" dirty="0">
                          <a:effectLst/>
                        </a:rPr>
                        <a:t>Historical U.S. CO₂ emissions and macro‑economic indicators</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regression, SVR, Random Forest and Gradient Boosted Trees to forecast national emissions; ensembles outperform linear models.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Works at macro (national) scale; does not connect predictions to household‑level actions or behaviour change.</a:t>
                      </a:r>
                      <a:endParaRPr lang="en-IN" sz="1000" dirty="0">
                        <a:effectLst/>
                      </a:endParaRPr>
                    </a:p>
                  </a:txBody>
                  <a:tcPr marL="60960" marR="60960" anchor="ctr"/>
                </a:tc>
                <a:extLst>
                  <a:ext uri="{0D108BD9-81ED-4DB2-BD59-A6C34878D82A}">
                    <a16:rowId xmlns:a16="http://schemas.microsoft.com/office/drawing/2014/main" val="10003"/>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 energy prediction models and related uncertainties (</a:t>
                      </a:r>
                      <a:r>
                        <a:rPr lang="en-IN" sz="1100" b="1" i="0" u="none" strike="noStrike" cap="none" dirty="0">
                          <a:solidFill>
                            <a:schemeClr val="dk1"/>
                          </a:solidFill>
                          <a:effectLst/>
                          <a:latin typeface="Calibri"/>
                          <a:ea typeface="Calibri"/>
                          <a:cs typeface="Calibri"/>
                          <a:sym typeface="Arial"/>
                        </a:rPr>
                        <a:t>White, J., &amp; Jones, P</a:t>
                      </a:r>
                      <a:r>
                        <a:rPr lang="en-IN" sz="1100" b="0" i="0" u="none" strike="noStrike" cap="none" dirty="0">
                          <a:solidFill>
                            <a:schemeClr val="dk1"/>
                          </a:solidFill>
                          <a:effectLst/>
                          <a:latin typeface="Calibri"/>
                          <a:ea typeface="Calibri"/>
                          <a:cs typeface="Calibri"/>
                          <a:sym typeface="Arial"/>
                        </a:rPr>
                        <a:t>. (2022)</a:t>
                      </a:r>
                      <a:endParaRPr lang="en-IN" sz="11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Buildings (MDPI)</a:t>
                      </a:r>
                      <a:endParaRPr lang="en-IN" sz="11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Overview of data‑driven and physics‑based building energy prediction models.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Discusses model uncertainty, validation practices and classification of prediction approaches.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Focuses more on uncertainty and taxonomy than on specific DL architectures or CO₂ outputs.</a:t>
                      </a:r>
                      <a:endParaRPr lang="en-IN" sz="1000" dirty="0">
                        <a:effectLst/>
                      </a:endParaRPr>
                    </a:p>
                  </a:txBody>
                  <a:tcPr marL="60960" marR="60960" anchor="ctr"/>
                </a:tc>
                <a:extLst>
                  <a:ext uri="{0D108BD9-81ED-4DB2-BD59-A6C34878D82A}">
                    <a16:rowId xmlns:a16="http://schemas.microsoft.com/office/drawing/2014/main" val="2108724871"/>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Energy consumption prediction by using machine learning (</a:t>
                      </a:r>
                      <a:r>
                        <a:rPr lang="en-IN" sz="1100" b="1" i="0" u="none" strike="noStrike" cap="none" dirty="0">
                          <a:solidFill>
                            <a:schemeClr val="dk1"/>
                          </a:solidFill>
                          <a:effectLst/>
                          <a:latin typeface="Calibri"/>
                          <a:ea typeface="Calibri"/>
                          <a:cs typeface="Calibri"/>
                          <a:sym typeface="Arial"/>
                        </a:rPr>
                        <a:t>Shapi </a:t>
                      </a:r>
                      <a:r>
                        <a:rPr lang="en-IN" sz="1100" b="0" i="0" u="none" strike="noStrike" cap="none" dirty="0">
                          <a:solidFill>
                            <a:schemeClr val="dk1"/>
                          </a:solidFill>
                          <a:effectLst/>
                          <a:latin typeface="Calibri"/>
                          <a:ea typeface="Calibri"/>
                          <a:cs typeface="Calibri"/>
                          <a:sym typeface="Arial"/>
                        </a:rPr>
                        <a:t>et al., 2021)</a:t>
                      </a:r>
                      <a:endParaRPr lang="en-IN" sz="10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Energy Reports (Elsevier)</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General energy‑consumption datasets modelled on Azure ML platform.</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Demonstrates practical ML workflows (regression, tree‑based models) for energy prediction with cloud‑based tools.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Not building‑specific and not focused on deep learning; more a generic ML energy case study.</a:t>
                      </a:r>
                      <a:endParaRPr lang="en-IN" sz="1000" dirty="0">
                        <a:effectLst/>
                      </a:endParaRPr>
                    </a:p>
                  </a:txBody>
                  <a:tcPr marL="60960" marR="60960" anchor="ctr"/>
                </a:tc>
                <a:extLst>
                  <a:ext uri="{0D108BD9-81ED-4DB2-BD59-A6C34878D82A}">
                    <a16:rowId xmlns:a16="http://schemas.microsoft.com/office/drawing/2014/main" val="2233617519"/>
                  </a:ext>
                </a:extLst>
              </a:tr>
            </a:tbl>
          </a:graphicData>
        </a:graphic>
      </p:graphicFrame>
    </p:spTree>
    <p:extLst>
      <p:ext uri="{BB962C8B-B14F-4D97-AF65-F5344CB8AC3E}">
        <p14:creationId xmlns:p14="http://schemas.microsoft.com/office/powerpoint/2010/main" val="3598471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6692D8-B31C-784C-169D-9055ED9027F4}"/>
            </a:ext>
          </a:extLst>
        </p:cNvPr>
        <p:cNvGrpSpPr/>
        <p:nvPr/>
      </p:nvGrpSpPr>
      <p:grpSpPr>
        <a:xfrm>
          <a:off x="0" y="0"/>
          <a:ext cx="0" cy="0"/>
          <a:chOff x="0" y="0"/>
          <a:chExt cx="0" cy="0"/>
        </a:xfrm>
      </p:grpSpPr>
      <p:graphicFrame>
        <p:nvGraphicFramePr>
          <p:cNvPr id="4194304" name="Google Shape;109;p4">
            <a:extLst>
              <a:ext uri="{FF2B5EF4-FFF2-40B4-BE49-F238E27FC236}">
                <a16:creationId xmlns:a16="http://schemas.microsoft.com/office/drawing/2014/main" id="{56087A45-0FD0-88BA-4B10-BE531E4B17AA}"/>
              </a:ext>
            </a:extLst>
          </p:cNvPr>
          <p:cNvGraphicFramePr>
            <a:graphicFrameLocks/>
          </p:cNvGraphicFramePr>
          <p:nvPr>
            <p:extLst>
              <p:ext uri="{D42A27DB-BD31-4B8C-83A1-F6EECF244321}">
                <p14:modId xmlns:p14="http://schemas.microsoft.com/office/powerpoint/2010/main" val="2540700428"/>
              </p:ext>
            </p:extLst>
          </p:nvPr>
        </p:nvGraphicFramePr>
        <p:xfrm>
          <a:off x="470731" y="692196"/>
          <a:ext cx="8202537" cy="5821680"/>
        </p:xfrm>
        <a:graphic>
          <a:graphicData uri="http://schemas.openxmlformats.org/drawingml/2006/table">
            <a:tbl>
              <a:tblPr firstRow="1" bandRow="1">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 state‑of‑the‑art review on the prediction of building energy consumption (</a:t>
                      </a:r>
                      <a:r>
                        <a:rPr lang="en-IN" sz="1100" b="1" i="0" u="none" strike="noStrike" cap="none" dirty="0">
                          <a:solidFill>
                            <a:schemeClr val="dk1"/>
                          </a:solidFill>
                          <a:effectLst/>
                          <a:latin typeface="Calibri"/>
                          <a:ea typeface="Calibri"/>
                          <a:cs typeface="Calibri"/>
                          <a:sym typeface="Arial"/>
                        </a:rPr>
                        <a:t>Li </a:t>
                      </a:r>
                      <a:r>
                        <a:rPr lang="en-IN" sz="1100" b="0" i="0" u="none" strike="noStrike" cap="none" dirty="0">
                          <a:solidFill>
                            <a:schemeClr val="dk1"/>
                          </a:solidFill>
                          <a:effectLst/>
                          <a:latin typeface="Calibri"/>
                          <a:ea typeface="Calibri"/>
                          <a:cs typeface="Calibri"/>
                          <a:sym typeface="Arial"/>
                        </a:rPr>
                        <a:t>et al., 2020)</a:t>
                      </a:r>
                      <a:endParaRPr lang="en-IN" sz="1000" dirty="0">
                        <a:effectLst/>
                      </a:endParaRPr>
                    </a:p>
                  </a:txBody>
                  <a:tcPr marL="60960" marR="60960" anchor="ctr">
                    <a:solidFill>
                      <a:schemeClr val="bg1">
                        <a:lumMod val="85000"/>
                      </a:schemeClr>
                    </a:solidFill>
                  </a:tcP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Building Services Engineering Research &amp; Technology.</a:t>
                      </a:r>
                      <a:endParaRPr lang="en-IN" sz="1000" i="1" dirty="0">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Survey of published building energy prediction studies.​</a:t>
                      </a:r>
                      <a:endParaRPr lang="en-IN" sz="1000" dirty="0">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Summarises traditional and data‑driven methods (regression, ANN, SVM, ensembles), inputs and performance metrics.</a:t>
                      </a:r>
                      <a:endParaRPr lang="en-IN" sz="1000" dirty="0">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Predates the most recent DL/transformer‑style models; limited coverage of interpretability and user‑oriented tools.</a:t>
                      </a:r>
                      <a:endParaRPr lang="en-IN" sz="1000" dirty="0">
                        <a:effectLst/>
                      </a:endParaRPr>
                    </a:p>
                  </a:txBody>
                  <a:tcPr marL="60960" marR="60960" anchor="ctr">
                    <a:solidFill>
                      <a:schemeClr val="bg1">
                        <a:lumMod val="85000"/>
                      </a:schemeClr>
                    </a:solidFill>
                  </a:tcPr>
                </a:tc>
                <a:extLst>
                  <a:ext uri="{0D108BD9-81ED-4DB2-BD59-A6C34878D82A}">
                    <a16:rowId xmlns:a16="http://schemas.microsoft.com/office/drawing/2014/main" val="3678077920"/>
                  </a:ext>
                </a:extLst>
              </a:tr>
              <a:tr h="673700">
                <a:tc>
                  <a:txBody>
                    <a:bodyPr/>
                    <a:lstStyle/>
                    <a:p>
                      <a:pPr algn="ctr" fontAlgn="base" latinLnBrk="0">
                        <a:buNone/>
                      </a:pPr>
                      <a:r>
                        <a:rPr lang="en-IN" sz="1100" b="0" i="0" u="none" strike="noStrike" cap="none" dirty="0" err="1">
                          <a:solidFill>
                            <a:schemeClr val="tx1"/>
                          </a:solidFill>
                          <a:effectLst/>
                          <a:latin typeface="Calibri"/>
                          <a:ea typeface="Calibri"/>
                          <a:cs typeface="Calibri"/>
                          <a:sym typeface="Arial"/>
                        </a:rPr>
                        <a:t>Modeling</a:t>
                      </a:r>
                      <a:r>
                        <a:rPr lang="en-IN" sz="1100" b="0" i="0" u="none" strike="noStrike" cap="none" dirty="0">
                          <a:solidFill>
                            <a:schemeClr val="tx1"/>
                          </a:solidFill>
                          <a:effectLst/>
                          <a:latin typeface="Calibri"/>
                          <a:ea typeface="Calibri"/>
                          <a:cs typeface="Calibri"/>
                          <a:sym typeface="Arial"/>
                        </a:rPr>
                        <a:t> and forecasting building energy consumption: A review (</a:t>
                      </a:r>
                      <a:r>
                        <a:rPr lang="en-IN" sz="1100" b="1" i="0" u="none" strike="noStrike" cap="none" dirty="0">
                          <a:solidFill>
                            <a:schemeClr val="tx1"/>
                          </a:solidFill>
                          <a:effectLst/>
                          <a:latin typeface="Calibri"/>
                          <a:ea typeface="Calibri"/>
                          <a:cs typeface="Calibri"/>
                          <a:sym typeface="Arial"/>
                        </a:rPr>
                        <a:t>Bourdeau </a:t>
                      </a:r>
                      <a:r>
                        <a:rPr lang="en-IN" sz="1100" b="0" i="0" u="none" strike="noStrike" cap="none" dirty="0">
                          <a:solidFill>
                            <a:schemeClr val="tx1"/>
                          </a:solidFill>
                          <a:effectLst/>
                          <a:latin typeface="Calibri"/>
                          <a:ea typeface="Calibri"/>
                          <a:cs typeface="Calibri"/>
                          <a:sym typeface="Arial"/>
                        </a:rPr>
                        <a:t>et al., 2019)</a:t>
                      </a:r>
                      <a:endParaRPr lang="en-IN" sz="110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1" u="none" strike="noStrike" cap="none" dirty="0">
                          <a:solidFill>
                            <a:schemeClr val="tx1"/>
                          </a:solidFill>
                          <a:effectLst/>
                          <a:latin typeface="Calibri"/>
                          <a:ea typeface="Calibri"/>
                          <a:cs typeface="Calibri"/>
                          <a:sym typeface="Arial"/>
                        </a:rPr>
                        <a:t>Sustainable Cities and Society.</a:t>
                      </a:r>
                      <a:endParaRPr lang="en-IN" sz="1000" b="0" i="1"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Survey of building‑scale energy‑consumption modelling studies</a:t>
                      </a:r>
                      <a:endParaRPr lang="en-IN" sz="10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Early comprehensive review of ANN, SVM, GP and ensemble approaches for building energy forecasting; highlights data and uncertainty issues.</a:t>
                      </a:r>
                      <a:endParaRPr lang="en-IN" sz="10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Focuses mainly on energy, not explicit CO₂ emissions, and covers few modern deep learning architectures.</a:t>
                      </a:r>
                      <a:endParaRPr lang="en-IN" sz="1000" b="0" dirty="0">
                        <a:solidFill>
                          <a:schemeClr val="tx1"/>
                        </a:solidFill>
                        <a:effectLst/>
                      </a:endParaRPr>
                    </a:p>
                  </a:txBody>
                  <a:tcPr marL="60960" marR="60960" anchor="ctr">
                    <a:solidFill>
                      <a:schemeClr val="bg1">
                        <a:lumMod val="85000"/>
                      </a:schemeClr>
                    </a:solidFill>
                  </a:tcPr>
                </a:tc>
                <a:extLst>
                  <a:ext uri="{0D108BD9-81ED-4DB2-BD59-A6C34878D82A}">
                    <a16:rowId xmlns:a16="http://schemas.microsoft.com/office/drawing/2014/main" val="10001"/>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 Machine Learning Framework for Energy Consumption in Buildings (</a:t>
                      </a:r>
                      <a:r>
                        <a:rPr lang="en-IN" sz="1100" b="1" i="0" u="none" strike="noStrike" cap="none" dirty="0" err="1">
                          <a:solidFill>
                            <a:schemeClr val="dk1"/>
                          </a:solidFill>
                          <a:effectLst/>
                          <a:latin typeface="Calibri"/>
                          <a:ea typeface="Calibri"/>
                          <a:cs typeface="Calibri"/>
                          <a:sym typeface="Arial"/>
                        </a:rPr>
                        <a:t>Madhusudanan</a:t>
                      </a:r>
                      <a:r>
                        <a:rPr lang="en-IN" sz="1100" b="0" i="0" u="none" strike="noStrike" cap="none" dirty="0">
                          <a:solidFill>
                            <a:schemeClr val="dk1"/>
                          </a:solidFill>
                          <a:effectLst/>
                          <a:latin typeface="Calibri"/>
                          <a:ea typeface="Calibri"/>
                          <a:cs typeface="Calibri"/>
                          <a:sym typeface="Arial"/>
                        </a:rPr>
                        <a:t>, 2019)</a:t>
                      </a:r>
                      <a:endParaRPr lang="en-IN" sz="10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Master’s thesis, Clemson University.</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Building‑level energy data with multiple operational features.​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Proposes a full ML pipeline (preprocessing, model selection, evaluation) for building energy prediction.</a:t>
                      </a:r>
                      <a:endParaRPr lang="en-IN" sz="8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Thesis‑level work; scope and datasets are limited compared with large multi‑country or multi‑building studies.</a:t>
                      </a:r>
                      <a:endParaRPr lang="en-IN" sz="8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Evolutionary Deep Learning‑Based Energy Consumption Prediction for Buildings (</a:t>
                      </a:r>
                      <a:r>
                        <a:rPr lang="en-IN" sz="1100" b="1" i="0" u="none" strike="noStrike" cap="none" dirty="0" err="1">
                          <a:solidFill>
                            <a:schemeClr val="dk1"/>
                          </a:solidFill>
                          <a:effectLst/>
                          <a:latin typeface="Calibri"/>
                          <a:ea typeface="Calibri"/>
                          <a:cs typeface="Calibri"/>
                          <a:sym typeface="Arial"/>
                        </a:rPr>
                        <a:t>Almalaq</a:t>
                      </a:r>
                      <a:r>
                        <a:rPr lang="en-IN" sz="1100" b="0" i="0" u="none" strike="noStrike" cap="none" dirty="0">
                          <a:solidFill>
                            <a:schemeClr val="dk1"/>
                          </a:solidFill>
                          <a:effectLst/>
                          <a:latin typeface="Calibri"/>
                          <a:ea typeface="Calibri"/>
                          <a:cs typeface="Calibri"/>
                          <a:sym typeface="Arial"/>
                        </a:rPr>
                        <a:t> &amp; Edwards, 2018)</a:t>
                      </a:r>
                      <a:endParaRPr lang="en-IN" sz="10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IEEE Transactions / conference (energy‑informatics context).</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 energy‑consumption time‑series data.</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Combines genetic algorithm with LSTM to optimise architecture and hyperparameters for building energy prediction, showing DL can outperform conventional models.</a:t>
                      </a:r>
                      <a:endParaRPr lang="en-IN" sz="8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Early DL implementation; relatively small datasets and little focus on interpretability or deployment constraints.</a:t>
                      </a:r>
                      <a:endParaRPr lang="en-IN" sz="800" dirty="0">
                        <a:effectLst/>
                      </a:endParaRPr>
                    </a:p>
                  </a:txBody>
                  <a:tcPr marL="60960" marR="60960" anchor="ctr"/>
                </a:tc>
                <a:extLst>
                  <a:ext uri="{0D108BD9-81ED-4DB2-BD59-A6C34878D82A}">
                    <a16:rowId xmlns:a16="http://schemas.microsoft.com/office/drawing/2014/main" val="10003"/>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Application of Deep Learning Model in Building Energy Consumption Prediction(</a:t>
                      </a:r>
                      <a:r>
                        <a:rPr lang="en-IN" sz="1100" b="1" i="0" u="none" strike="noStrike" cap="none" dirty="0">
                          <a:solidFill>
                            <a:schemeClr val="dk1"/>
                          </a:solidFill>
                          <a:effectLst/>
                          <a:latin typeface="Calibri"/>
                          <a:ea typeface="Calibri"/>
                          <a:cs typeface="Calibri"/>
                          <a:sym typeface="Arial"/>
                        </a:rPr>
                        <a:t>Rahman &amp; Ali</a:t>
                      </a:r>
                      <a:r>
                        <a:rPr lang="en-IN" sz="1100" b="0" i="0" u="none" strike="noStrike" cap="none" dirty="0">
                          <a:solidFill>
                            <a:schemeClr val="dk1"/>
                          </a:solidFill>
                          <a:effectLst/>
                          <a:latin typeface="Calibri"/>
                          <a:ea typeface="Calibri"/>
                          <a:cs typeface="Calibri"/>
                          <a:sym typeface="Arial"/>
                        </a:rPr>
                        <a:t>, 2016)</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Computational Intelligence and Neuroscience (</a:t>
                      </a:r>
                      <a:r>
                        <a:rPr lang="en-IN" sz="1100" b="0" i="0" u="none" strike="noStrike" cap="none" dirty="0" err="1">
                          <a:solidFill>
                            <a:schemeClr val="dk1"/>
                          </a:solidFill>
                          <a:effectLst/>
                          <a:latin typeface="Calibri"/>
                          <a:ea typeface="Calibri"/>
                          <a:cs typeface="Calibri"/>
                          <a:sym typeface="Arial"/>
                        </a:rPr>
                        <a:t>Hindawi</a:t>
                      </a:r>
                      <a:r>
                        <a:rPr lang="en-IN" sz="1100" b="0" i="0" u="none" strike="noStrike" cap="none" dirty="0">
                          <a:solidFill>
                            <a:schemeClr val="dk1"/>
                          </a:solidFill>
                          <a:effectLst/>
                          <a:latin typeface="Calibri"/>
                          <a:ea typeface="Calibri"/>
                          <a:cs typeface="Calibri"/>
                          <a:sym typeface="Arial"/>
                        </a:rPr>
                        <a:t>).</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 energy‑consumption dataset with multiple influencing factors.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Applies a deep learning model to predict building energy consumption and compares performance with traditional methods, showing improved accuracy.</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a specific building dataset and relatively complex DL model; lacks interpretability and SDG framing, and needs more compute than tree‑based ensembles.</a:t>
                      </a:r>
                      <a:endParaRPr lang="en-IN" sz="1000" dirty="0">
                        <a:effectLst/>
                      </a:endParaRPr>
                    </a:p>
                  </a:txBody>
                  <a:tcPr marL="60960" marR="6096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8857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E0F3-D402-CF06-366B-521A82AF402E}"/>
              </a:ext>
            </a:extLst>
          </p:cNvPr>
          <p:cNvSpPr>
            <a:spLocks noGrp="1"/>
          </p:cNvSpPr>
          <p:nvPr>
            <p:ph type="title"/>
          </p:nvPr>
        </p:nvSpPr>
        <p:spPr/>
        <p:txBody>
          <a:bodyPr>
            <a:normAutofit fontScale="90000"/>
          </a:bodyPr>
          <a:lstStyle/>
          <a:p>
            <a:r>
              <a:rPr lang="en-IN" dirty="0"/>
              <a:t>Challenges and Limitations of the existing systems</a:t>
            </a:r>
          </a:p>
        </p:txBody>
      </p:sp>
      <p:graphicFrame>
        <p:nvGraphicFramePr>
          <p:cNvPr id="4" name="Table 3">
            <a:extLst>
              <a:ext uri="{FF2B5EF4-FFF2-40B4-BE49-F238E27FC236}">
                <a16:creationId xmlns:a16="http://schemas.microsoft.com/office/drawing/2014/main" id="{43846973-3CEF-DFAD-D254-4FE4457967AD}"/>
              </a:ext>
            </a:extLst>
          </p:cNvPr>
          <p:cNvGraphicFramePr>
            <a:graphicFrameLocks noGrp="1"/>
          </p:cNvGraphicFramePr>
          <p:nvPr>
            <p:extLst>
              <p:ext uri="{D42A27DB-BD31-4B8C-83A1-F6EECF244321}">
                <p14:modId xmlns:p14="http://schemas.microsoft.com/office/powerpoint/2010/main" val="486059565"/>
              </p:ext>
            </p:extLst>
          </p:nvPr>
        </p:nvGraphicFramePr>
        <p:xfrm>
          <a:off x="457200" y="1615440"/>
          <a:ext cx="8229600" cy="3627120"/>
        </p:xfrm>
        <a:graphic>
          <a:graphicData uri="http://schemas.openxmlformats.org/drawingml/2006/table">
            <a:tbl>
              <a:tblPr/>
              <a:tblGrid>
                <a:gridCol w="2743200">
                  <a:extLst>
                    <a:ext uri="{9D8B030D-6E8A-4147-A177-3AD203B41FA5}">
                      <a16:colId xmlns:a16="http://schemas.microsoft.com/office/drawing/2014/main" val="2110216492"/>
                    </a:ext>
                  </a:extLst>
                </a:gridCol>
                <a:gridCol w="2743200">
                  <a:extLst>
                    <a:ext uri="{9D8B030D-6E8A-4147-A177-3AD203B41FA5}">
                      <a16:colId xmlns:a16="http://schemas.microsoft.com/office/drawing/2014/main" val="490243267"/>
                    </a:ext>
                  </a:extLst>
                </a:gridCol>
                <a:gridCol w="2743200">
                  <a:extLst>
                    <a:ext uri="{9D8B030D-6E8A-4147-A177-3AD203B41FA5}">
                      <a16:colId xmlns:a16="http://schemas.microsoft.com/office/drawing/2014/main" val="2771037756"/>
                    </a:ext>
                  </a:extLst>
                </a:gridCol>
              </a:tblGrid>
              <a:tr h="0">
                <a:tc>
                  <a:txBody>
                    <a:bodyPr/>
                    <a:lstStyle/>
                    <a:p>
                      <a:pPr algn="l">
                        <a:buNone/>
                      </a:pPr>
                      <a:r>
                        <a:rPr lang="en-IN" b="1">
                          <a:effectLst/>
                        </a:rPr>
                        <a:t>Limitation</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dirty="0">
                          <a:effectLst/>
                        </a:rPr>
                        <a:t>Impact</a:t>
                      </a:r>
                      <a:endParaRPr lang="en-IN" dirty="0">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a:effectLst/>
                        </a:rPr>
                        <a:t>References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049395250"/>
                  </a:ext>
                </a:extLst>
              </a:tr>
              <a:tr h="0">
                <a:tc>
                  <a:txBody>
                    <a:bodyPr/>
                    <a:lstStyle/>
                    <a:p>
                      <a:pPr algn="l">
                        <a:buNone/>
                      </a:pPr>
                      <a:r>
                        <a:rPr lang="en-IN" b="1">
                          <a:effectLst/>
                        </a:rPr>
                        <a:t>National/City-Level Focus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Does not address household-level predictions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da-DK">
                          <a:effectLst/>
                        </a:rPr>
                        <a:t>Ye et al., 2025; Ahmed et al., 2023</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080656151"/>
                  </a:ext>
                </a:extLst>
              </a:tr>
              <a:tr h="0">
                <a:tc>
                  <a:txBody>
                    <a:bodyPr/>
                    <a:lstStyle/>
                    <a:p>
                      <a:pPr algn="l">
                        <a:buNone/>
                      </a:pPr>
                      <a:r>
                        <a:rPr lang="en-IN" b="1">
                          <a:effectLst/>
                        </a:rPr>
                        <a:t>Black-Box Models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Lack interpretability for end-users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Khan et al., 2025; Zhang et al., 2024</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693591048"/>
                  </a:ext>
                </a:extLst>
              </a:tr>
              <a:tr h="0">
                <a:tc>
                  <a:txBody>
                    <a:bodyPr/>
                    <a:lstStyle/>
                    <a:p>
                      <a:pPr algn="l">
                        <a:buNone/>
                      </a:pPr>
                      <a:r>
                        <a:rPr lang="en-IN" b="1">
                          <a:effectLst/>
                        </a:rPr>
                        <a:t>Complex Data Requirements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Need dense sensor data or GIS spatial features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da-DK">
                          <a:effectLst/>
                        </a:rPr>
                        <a:t>Liu et al., 2025; Wang et al., 2024</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45069035"/>
                  </a:ext>
                </a:extLst>
              </a:tr>
              <a:tr h="0">
                <a:tc>
                  <a:txBody>
                    <a:bodyPr/>
                    <a:lstStyle/>
                    <a:p>
                      <a:pPr algn="l">
                        <a:buNone/>
                      </a:pPr>
                      <a:r>
                        <a:rPr lang="en-IN" b="1">
                          <a:effectLst/>
                        </a:rPr>
                        <a:t>No User-Facing Tools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Research models not deployed as applications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s-ES">
                          <a:effectLst/>
                        </a:rPr>
                        <a:t>Chen et al., 2025; Smith &amp; Rodriguez, 2025</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90451251"/>
                  </a:ext>
                </a:extLst>
              </a:tr>
              <a:tr h="0">
                <a:tc>
                  <a:txBody>
                    <a:bodyPr/>
                    <a:lstStyle/>
                    <a:p>
                      <a:pPr algn="l">
                        <a:buNone/>
                      </a:pPr>
                      <a:r>
                        <a:rPr lang="en-IN" b="1">
                          <a:effectLst/>
                        </a:rPr>
                        <a:t>Energy-Only Prediction</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Focus on energy, not explicit CO₂ emissions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da-DK">
                          <a:effectLst/>
                        </a:rPr>
                        <a:t>Li et al., 2024; Shapi et al., 2021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71661873"/>
                  </a:ext>
                </a:extLst>
              </a:tr>
              <a:tr h="0">
                <a:tc>
                  <a:txBody>
                    <a:bodyPr/>
                    <a:lstStyle/>
                    <a:p>
                      <a:pPr algn="l">
                        <a:buNone/>
                      </a:pPr>
                      <a:r>
                        <a:rPr lang="en-IN" b="1">
                          <a:effectLst/>
                        </a:rPr>
                        <a:t>GPU-Intensive Models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LSTM/CNN hybrids difficult to deploy on personal devices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fr-FR" dirty="0">
                          <a:effectLst/>
                        </a:rPr>
                        <a:t>Zhang et al., 2024; </a:t>
                      </a:r>
                      <a:r>
                        <a:rPr lang="fr-FR" dirty="0" err="1">
                          <a:effectLst/>
                        </a:rPr>
                        <a:t>Almalaq</a:t>
                      </a:r>
                      <a:r>
                        <a:rPr lang="fr-FR" dirty="0">
                          <a:effectLst/>
                        </a:rPr>
                        <a:t> &amp; Edwards, 2018</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93640609"/>
                  </a:ext>
                </a:extLst>
              </a:tr>
            </a:tbl>
          </a:graphicData>
        </a:graphic>
      </p:graphicFrame>
      <p:sp>
        <p:nvSpPr>
          <p:cNvPr id="6" name="TextBox 5">
            <a:extLst>
              <a:ext uri="{FF2B5EF4-FFF2-40B4-BE49-F238E27FC236}">
                <a16:creationId xmlns:a16="http://schemas.microsoft.com/office/drawing/2014/main" id="{214F0753-35C5-10A0-175B-B07470C75B59}"/>
              </a:ext>
            </a:extLst>
          </p:cNvPr>
          <p:cNvSpPr txBox="1"/>
          <p:nvPr/>
        </p:nvSpPr>
        <p:spPr>
          <a:xfrm>
            <a:off x="457200" y="5440362"/>
            <a:ext cx="7697755" cy="1077218"/>
          </a:xfrm>
          <a:prstGeom prst="rect">
            <a:avLst/>
          </a:prstGeom>
          <a:noFill/>
        </p:spPr>
        <p:txBody>
          <a:bodyPr wrap="square">
            <a:spAutoFit/>
          </a:bodyPr>
          <a:lstStyle/>
          <a:p>
            <a:pPr algn="l"/>
            <a:r>
              <a:rPr lang="en-IN" sz="1600" b="0" i="0" dirty="0">
                <a:effectLst/>
                <a:latin typeface="Calibri" panose="020F0502020204030204" pitchFamily="34" charset="0"/>
                <a:ea typeface="Calibri" panose="020F0502020204030204" pitchFamily="34" charset="0"/>
                <a:cs typeface="Calibri" panose="020F0502020204030204" pitchFamily="34" charset="0"/>
              </a:rPr>
              <a:t>The Core Gap</a:t>
            </a:r>
          </a:p>
          <a:p>
            <a:pPr algn="l"/>
            <a:r>
              <a:rPr lang="en-IN" sz="1600" b="0" i="0" dirty="0">
                <a:effectLst/>
                <a:latin typeface="Calibri" panose="020F0502020204030204" pitchFamily="34" charset="0"/>
                <a:ea typeface="Calibri" panose="020F0502020204030204" pitchFamily="34" charset="0"/>
                <a:cs typeface="Calibri" panose="020F0502020204030204" pitchFamily="34" charset="0"/>
              </a:rPr>
              <a:t>Most ML solutions are either:</a:t>
            </a:r>
          </a:p>
          <a:p>
            <a:pPr marL="285750" indent="-285750" algn="l">
              <a:buFont typeface="Wingdings" panose="05000000000000000000" pitchFamily="2" charset="2"/>
              <a:buChar char="Ø"/>
            </a:pPr>
            <a:r>
              <a:rPr lang="en-IN" sz="1600" b="0" i="0" dirty="0">
                <a:effectLst/>
                <a:latin typeface="Calibri" panose="020F0502020204030204" pitchFamily="34" charset="0"/>
                <a:ea typeface="Calibri" panose="020F0502020204030204" pitchFamily="34" charset="0"/>
                <a:cs typeface="Calibri" panose="020F0502020204030204" pitchFamily="34" charset="0"/>
              </a:rPr>
              <a:t>Too aggregate (national-scale) OR too complex (require expert data)</a:t>
            </a:r>
          </a:p>
          <a:p>
            <a:pPr marL="285750" indent="-285750" algn="l">
              <a:buFont typeface="Wingdings" panose="05000000000000000000" pitchFamily="2" charset="2"/>
              <a:buChar char="Ø"/>
            </a:pPr>
            <a:r>
              <a:rPr lang="en-IN" sz="1600" b="0" i="0" dirty="0">
                <a:effectLst/>
                <a:latin typeface="Calibri" panose="020F0502020204030204" pitchFamily="34" charset="0"/>
                <a:ea typeface="Calibri" panose="020F0502020204030204" pitchFamily="34" charset="0"/>
                <a:cs typeface="Calibri" panose="020F0502020204030204" pitchFamily="34" charset="0"/>
              </a:rPr>
              <a:t>Lack simple, household-friendly, interpretable CO₂ prediction tools</a:t>
            </a:r>
          </a:p>
        </p:txBody>
      </p:sp>
    </p:spTree>
    <p:extLst>
      <p:ext uri="{BB962C8B-B14F-4D97-AF65-F5344CB8AC3E}">
        <p14:creationId xmlns:p14="http://schemas.microsoft.com/office/powerpoint/2010/main" val="238229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048609" name="Google Shape;115;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Objectives</a:t>
            </a:r>
          </a:p>
        </p:txBody>
      </p:sp>
      <p:sp>
        <p:nvSpPr>
          <p:cNvPr id="2" name="Text Placeholder 1">
            <a:extLst>
              <a:ext uri="{FF2B5EF4-FFF2-40B4-BE49-F238E27FC236}">
                <a16:creationId xmlns:a16="http://schemas.microsoft.com/office/drawing/2014/main" id="{779D83E8-3FE5-7895-26B7-EF4CEABC3203}"/>
              </a:ext>
            </a:extLst>
          </p:cNvPr>
          <p:cNvSpPr>
            <a:spLocks noGrp="1" noChangeArrowheads="1"/>
          </p:cNvSpPr>
          <p:nvPr>
            <p:ph type="body" idx="1"/>
          </p:nvPr>
        </p:nvSpPr>
        <p:spPr bwMode="auto">
          <a:xfrm>
            <a:off x="520263" y="1745933"/>
            <a:ext cx="8166537"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b="1" dirty="0"/>
              <a:t>To Develop a Comparative ML Framework: </a:t>
            </a:r>
            <a:r>
              <a:rPr lang="en-IN" sz="1600" dirty="0"/>
              <a:t>To implement and compare multiple regression and ensemble models (Linear Regression, Random Forest, Gradient Boosting, XGBoost, MLP) for accurate household-level CO₂ and energy prediction using easily obtainable features.</a:t>
            </a:r>
          </a:p>
          <a:p>
            <a:r>
              <a:rPr lang="en-IN" sz="1600" b="1" dirty="0"/>
              <a:t>To Provide Interpretable Insights: </a:t>
            </a:r>
            <a:r>
              <a:rPr lang="en-IN" sz="1600" dirty="0"/>
              <a:t>To use feature-importance analysis and SHAP-based explanations to identify emission drivers and enable users to understand which factors most impact their carbon footprint.</a:t>
            </a:r>
          </a:p>
          <a:p>
            <a:r>
              <a:rPr lang="en-IN" sz="1600" b="1" dirty="0"/>
              <a:t>To Deploy a User-Facing Decision-Support Tool: </a:t>
            </a:r>
            <a:r>
              <a:rPr lang="en-IN" sz="1600" dirty="0"/>
              <a:t>To integrate the best-performing model into a simple web dashboard (Streamlit) where users can input their data, receive predictions, and view actionable SDG-13-aligned recommendations for emission reduction.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8BEB3-390C-D6D5-2340-C217292FB7CD}"/>
              </a:ext>
            </a:extLst>
          </p:cNvPr>
          <p:cNvSpPr>
            <a:spLocks noGrp="1"/>
          </p:cNvSpPr>
          <p:nvPr>
            <p:ph type="title"/>
          </p:nvPr>
        </p:nvSpPr>
        <p:spPr/>
        <p:txBody>
          <a:bodyPr>
            <a:normAutofit/>
          </a:bodyPr>
          <a:lstStyle/>
          <a:p>
            <a:r>
              <a:rPr lang="en-IN" dirty="0"/>
              <a:t>Innovation idea of the project</a:t>
            </a:r>
          </a:p>
        </p:txBody>
      </p:sp>
      <p:sp>
        <p:nvSpPr>
          <p:cNvPr id="3" name="Text Placeholder 2">
            <a:extLst>
              <a:ext uri="{FF2B5EF4-FFF2-40B4-BE49-F238E27FC236}">
                <a16:creationId xmlns:a16="http://schemas.microsoft.com/office/drawing/2014/main" id="{4CC91C85-F8BB-5BA1-1072-799EB4A2E746}"/>
              </a:ext>
            </a:extLst>
          </p:cNvPr>
          <p:cNvSpPr>
            <a:spLocks noGrp="1"/>
          </p:cNvSpPr>
          <p:nvPr>
            <p:ph type="body" idx="1"/>
          </p:nvPr>
        </p:nvSpPr>
        <p:spPr>
          <a:xfrm>
            <a:off x="289249" y="1287624"/>
            <a:ext cx="8528179" cy="5295738"/>
          </a:xfrm>
        </p:spPr>
        <p:txBody>
          <a:bodyPr>
            <a:normAutofit fontScale="47500" lnSpcReduction="20000"/>
          </a:bodyPr>
          <a:lstStyle/>
          <a:p>
            <a:pPr marL="114300" indent="0">
              <a:buNone/>
            </a:pPr>
            <a:r>
              <a:rPr lang="en-IN" sz="3400" dirty="0"/>
              <a:t>What Makes This Project Unique</a:t>
            </a:r>
          </a:p>
          <a:p>
            <a:pPr marL="114300" indent="0">
              <a:buNone/>
            </a:pPr>
            <a:r>
              <a:rPr lang="en-IN" sz="3400" b="1" dirty="0"/>
              <a:t>1. Household-Level Focus</a:t>
            </a:r>
          </a:p>
          <a:p>
            <a:pPr lvl="1">
              <a:buFont typeface="Wingdings" panose="05000000000000000000" pitchFamily="2" charset="2"/>
              <a:buChar char="Ø"/>
            </a:pPr>
            <a:r>
              <a:rPr lang="en-IN" sz="3400" dirty="0"/>
              <a:t>Targets individual homes, not cities or national aggregates</a:t>
            </a:r>
          </a:p>
          <a:p>
            <a:pPr lvl="1">
              <a:buFont typeface="Wingdings" panose="05000000000000000000" pitchFamily="2" charset="2"/>
              <a:buChar char="Ø"/>
            </a:pPr>
            <a:r>
              <a:rPr lang="en-IN" sz="3400" dirty="0"/>
              <a:t>Uses easily obtainable features: floor area, appliance usage, fuel type</a:t>
            </a:r>
          </a:p>
          <a:p>
            <a:pPr marL="114300" indent="0">
              <a:buNone/>
            </a:pPr>
            <a:r>
              <a:rPr lang="en-IN" sz="3400" b="1" dirty="0"/>
              <a:t>2. Interpretable Machine Learning</a:t>
            </a:r>
          </a:p>
          <a:p>
            <a:pPr lvl="1">
              <a:buFont typeface="Wingdings" panose="05000000000000000000" pitchFamily="2" charset="2"/>
              <a:buChar char="Ø"/>
            </a:pPr>
            <a:r>
              <a:rPr lang="en-IN" sz="3400" dirty="0"/>
              <a:t>Not just predictions—explains WHY emissions are high</a:t>
            </a:r>
          </a:p>
          <a:p>
            <a:pPr lvl="1">
              <a:buFont typeface="Wingdings" panose="05000000000000000000" pitchFamily="2" charset="2"/>
              <a:buChar char="Ø"/>
            </a:pPr>
            <a:r>
              <a:rPr lang="en-IN" sz="3400" dirty="0"/>
              <a:t>Feature importance + SHAP analysis show key drivers</a:t>
            </a:r>
          </a:p>
          <a:p>
            <a:pPr lvl="1">
              <a:buFont typeface="Wingdings" panose="05000000000000000000" pitchFamily="2" charset="2"/>
              <a:buChar char="Ø"/>
            </a:pPr>
            <a:r>
              <a:rPr lang="en-IN" sz="3400" dirty="0"/>
              <a:t>Enables users to understand their carbon footprint</a:t>
            </a:r>
          </a:p>
          <a:p>
            <a:pPr marL="114300" indent="0">
              <a:buNone/>
            </a:pPr>
            <a:r>
              <a:rPr lang="en-IN" sz="3400" b="1" dirty="0"/>
              <a:t>3. Lightweight &amp; Accessible</a:t>
            </a:r>
          </a:p>
          <a:p>
            <a:pPr lvl="1">
              <a:buFont typeface="Wingdings" panose="05000000000000000000" pitchFamily="2" charset="2"/>
              <a:buChar char="Ø"/>
            </a:pPr>
            <a:r>
              <a:rPr lang="en-IN" sz="3400" dirty="0"/>
              <a:t>Tree-based ensembles (Random Forest, XGBoost) + Linear Regression</a:t>
            </a:r>
          </a:p>
          <a:p>
            <a:pPr lvl="1">
              <a:buFont typeface="Wingdings" panose="05000000000000000000" pitchFamily="2" charset="2"/>
              <a:buChar char="Ø"/>
            </a:pPr>
            <a:r>
              <a:rPr lang="en-IN" sz="3400" dirty="0"/>
              <a:t>Trainable on personal PC without GPU</a:t>
            </a:r>
          </a:p>
          <a:p>
            <a:pPr lvl="1">
              <a:buFont typeface="Wingdings" panose="05000000000000000000" pitchFamily="2" charset="2"/>
              <a:buChar char="Ø"/>
            </a:pPr>
            <a:r>
              <a:rPr lang="en-IN" sz="3400" dirty="0"/>
              <a:t>Fast predictions suitable for web deployment</a:t>
            </a:r>
          </a:p>
          <a:p>
            <a:pPr marL="114300" indent="0">
              <a:buNone/>
            </a:pPr>
            <a:r>
              <a:rPr lang="en-IN" sz="3400" b="1" dirty="0"/>
              <a:t>4. User-Facing Decision-Support Tool</a:t>
            </a:r>
          </a:p>
          <a:p>
            <a:pPr lvl="1">
              <a:buFont typeface="Wingdings" panose="05000000000000000000" pitchFamily="2" charset="2"/>
              <a:buChar char="Ø"/>
            </a:pPr>
            <a:r>
              <a:rPr lang="en-IN" sz="3400" dirty="0"/>
              <a:t>Streamlit web dashboard for non-technical users</a:t>
            </a:r>
          </a:p>
          <a:p>
            <a:pPr lvl="1">
              <a:buFont typeface="Wingdings" panose="05000000000000000000" pitchFamily="2" charset="2"/>
              <a:buChar char="Ø"/>
            </a:pPr>
            <a:r>
              <a:rPr lang="en-IN" sz="3400" dirty="0"/>
              <a:t>Input your data → Get CO₂ prediction + actionable recommendations</a:t>
            </a:r>
          </a:p>
          <a:p>
            <a:pPr lvl="1">
              <a:buFont typeface="Wingdings" panose="05000000000000000000" pitchFamily="2" charset="2"/>
              <a:buChar char="Ø"/>
            </a:pPr>
            <a:r>
              <a:rPr lang="en-IN" sz="3400" dirty="0"/>
              <a:t>"What-if" scenarios: e.g., </a:t>
            </a:r>
            <a:r>
              <a:rPr lang="en-IN" sz="3400" i="1" dirty="0"/>
              <a:t>"What if I reduce AC hours by 2?"</a:t>
            </a:r>
            <a:endParaRPr lang="en-IN" sz="3400" dirty="0"/>
          </a:p>
          <a:p>
            <a:pPr marL="114300" indent="0">
              <a:buNone/>
            </a:pPr>
            <a:r>
              <a:rPr lang="en-IN" sz="3400" b="1" dirty="0"/>
              <a:t>5. SDG-13 Climate Action Integration</a:t>
            </a:r>
          </a:p>
          <a:p>
            <a:pPr lvl="1">
              <a:buFont typeface="Wingdings" panose="05000000000000000000" pitchFamily="2" charset="2"/>
              <a:buChar char="Ø"/>
            </a:pPr>
            <a:r>
              <a:rPr lang="en-IN" sz="3400" dirty="0"/>
              <a:t>Translates ML research into practical climate action</a:t>
            </a:r>
          </a:p>
          <a:p>
            <a:pPr lvl="1">
              <a:buFont typeface="Wingdings" panose="05000000000000000000" pitchFamily="2" charset="2"/>
              <a:buChar char="Ø"/>
            </a:pPr>
            <a:r>
              <a:rPr lang="en-IN" sz="3400" dirty="0"/>
              <a:t>Empowers individuals with data-driven emission reduction strategies</a:t>
            </a:r>
          </a:p>
          <a:p>
            <a:endParaRPr lang="en-IN" dirty="0"/>
          </a:p>
        </p:txBody>
      </p:sp>
    </p:spTree>
    <p:extLst>
      <p:ext uri="{BB962C8B-B14F-4D97-AF65-F5344CB8AC3E}">
        <p14:creationId xmlns:p14="http://schemas.microsoft.com/office/powerpoint/2010/main" val="1077261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73CA6-F4C4-2076-5349-BDB8435DE7C7}"/>
              </a:ext>
            </a:extLst>
          </p:cNvPr>
          <p:cNvSpPr>
            <a:spLocks noGrp="1"/>
          </p:cNvSpPr>
          <p:nvPr>
            <p:ph type="title"/>
          </p:nvPr>
        </p:nvSpPr>
        <p:spPr/>
        <p:txBody>
          <a:bodyPr>
            <a:normAutofit fontScale="90000"/>
          </a:bodyPr>
          <a:lstStyle/>
          <a:p>
            <a:r>
              <a:rPr lang="en-IN" dirty="0"/>
              <a:t>Scope and application of the project</a:t>
            </a:r>
          </a:p>
        </p:txBody>
      </p:sp>
      <p:sp>
        <p:nvSpPr>
          <p:cNvPr id="3" name="Text Placeholder 2">
            <a:extLst>
              <a:ext uri="{FF2B5EF4-FFF2-40B4-BE49-F238E27FC236}">
                <a16:creationId xmlns:a16="http://schemas.microsoft.com/office/drawing/2014/main" id="{CA842310-7121-56AD-3004-1EBB50F93DDE}"/>
              </a:ext>
            </a:extLst>
          </p:cNvPr>
          <p:cNvSpPr>
            <a:spLocks noGrp="1"/>
          </p:cNvSpPr>
          <p:nvPr>
            <p:ph type="body" idx="1"/>
          </p:nvPr>
        </p:nvSpPr>
        <p:spPr/>
        <p:txBody>
          <a:bodyPr>
            <a:normAutofit fontScale="85000" lnSpcReduction="20000"/>
          </a:bodyPr>
          <a:lstStyle/>
          <a:p>
            <a:pPr marL="114300" indent="0">
              <a:buNone/>
            </a:pPr>
            <a:r>
              <a:rPr lang="en-IN" sz="2300" dirty="0"/>
              <a:t>Scope:</a:t>
            </a:r>
          </a:p>
          <a:p>
            <a:pPr marL="628650" indent="-514350">
              <a:buFont typeface="+mj-lt"/>
              <a:buAutoNum type="arabicPeriod"/>
            </a:pPr>
            <a:r>
              <a:rPr lang="en-IN" sz="2300" b="1" dirty="0"/>
              <a:t>Geographic Scope</a:t>
            </a:r>
          </a:p>
          <a:p>
            <a:pPr lvl="1">
              <a:buFont typeface="Wingdings" panose="05000000000000000000" pitchFamily="2" charset="2"/>
              <a:buChar char="Ø"/>
            </a:pPr>
            <a:r>
              <a:rPr lang="en-IN" sz="2300" dirty="0"/>
              <a:t>Initially: Urban residential buildings in India</a:t>
            </a:r>
          </a:p>
          <a:p>
            <a:pPr lvl="1">
              <a:buFont typeface="Wingdings" panose="05000000000000000000" pitchFamily="2" charset="2"/>
              <a:buChar char="Ø"/>
            </a:pPr>
            <a:r>
              <a:rPr lang="en-IN" sz="2300" dirty="0"/>
              <a:t>Extendable to: Any region with similar climate zones (hot, moderate, cool)</a:t>
            </a:r>
          </a:p>
          <a:p>
            <a:pPr marL="628650" indent="-514350">
              <a:buFont typeface="+mj-lt"/>
              <a:buAutoNum type="arabicPeriod"/>
            </a:pPr>
            <a:r>
              <a:rPr lang="en-IN" sz="2300" b="1" dirty="0"/>
              <a:t>Target Users</a:t>
            </a:r>
          </a:p>
          <a:p>
            <a:pPr lvl="1">
              <a:buFont typeface="Wingdings" panose="05000000000000000000" pitchFamily="2" charset="2"/>
              <a:buChar char="Ø"/>
            </a:pPr>
            <a:r>
              <a:rPr lang="en-IN" sz="2300" dirty="0"/>
              <a:t>Homeowners and renters wanting to understand their carbon footprint</a:t>
            </a:r>
          </a:p>
          <a:p>
            <a:pPr lvl="1">
              <a:buFont typeface="Wingdings" panose="05000000000000000000" pitchFamily="2" charset="2"/>
              <a:buChar char="Ø"/>
            </a:pPr>
            <a:r>
              <a:rPr lang="en-IN" sz="2300" dirty="0"/>
              <a:t>Building managers optimizing energy efficiency</a:t>
            </a:r>
          </a:p>
          <a:p>
            <a:pPr lvl="1">
              <a:buFont typeface="Wingdings" panose="05000000000000000000" pitchFamily="2" charset="2"/>
              <a:buChar char="Ø"/>
            </a:pPr>
            <a:r>
              <a:rPr lang="en-IN" sz="2300" dirty="0"/>
              <a:t>Policy makers designing residential emission reduction programs</a:t>
            </a:r>
          </a:p>
          <a:p>
            <a:pPr marL="628650" indent="-514350">
              <a:buFont typeface="+mj-lt"/>
              <a:buAutoNum type="arabicPeriod"/>
            </a:pPr>
            <a:r>
              <a:rPr lang="en-IN" sz="2300" b="1" dirty="0"/>
              <a:t>Technical Scope</a:t>
            </a:r>
          </a:p>
          <a:p>
            <a:pPr lvl="1">
              <a:buFont typeface="Wingdings" panose="05000000000000000000" pitchFamily="2" charset="2"/>
              <a:buChar char="Ø"/>
            </a:pPr>
            <a:r>
              <a:rPr lang="en-IN" sz="2300" dirty="0"/>
              <a:t>Phase I (Current): Dataset creation, model comparison, initial deployment</a:t>
            </a:r>
          </a:p>
          <a:p>
            <a:pPr lvl="1">
              <a:buFont typeface="Wingdings" panose="05000000000000000000" pitchFamily="2" charset="2"/>
              <a:buChar char="Ø"/>
            </a:pPr>
            <a:r>
              <a:rPr lang="en-IN" sz="2300" dirty="0"/>
              <a:t>Phase II (Future): Time-series forecasting, IoT integration, mobile app</a:t>
            </a:r>
          </a:p>
          <a:p>
            <a:endParaRPr lang="en-IN" dirty="0"/>
          </a:p>
        </p:txBody>
      </p:sp>
    </p:spTree>
    <p:extLst>
      <p:ext uri="{BB962C8B-B14F-4D97-AF65-F5344CB8AC3E}">
        <p14:creationId xmlns:p14="http://schemas.microsoft.com/office/powerpoint/2010/main" val="1807955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0A86353-B57A-EE8C-2CF4-0D21B5E3B990}"/>
              </a:ext>
            </a:extLst>
          </p:cNvPr>
          <p:cNvSpPr>
            <a:spLocks noGrp="1"/>
          </p:cNvSpPr>
          <p:nvPr>
            <p:ph type="body" idx="1"/>
          </p:nvPr>
        </p:nvSpPr>
        <p:spPr>
          <a:xfrm>
            <a:off x="447869" y="317242"/>
            <a:ext cx="8238931" cy="5808922"/>
          </a:xfrm>
        </p:spPr>
        <p:txBody>
          <a:bodyPr>
            <a:normAutofit/>
          </a:bodyPr>
          <a:lstStyle/>
          <a:p>
            <a:pPr marL="114300" indent="0">
              <a:buNone/>
            </a:pPr>
            <a:r>
              <a:rPr lang="en-IN" sz="1600" dirty="0"/>
              <a:t>Applications:</a:t>
            </a:r>
          </a:p>
          <a:p>
            <a:pPr marL="114300" indent="0">
              <a:buNone/>
            </a:pPr>
            <a:r>
              <a:rPr lang="en-IN" sz="1600" b="1" dirty="0"/>
              <a:t>1. Individual Carbon Footprint Tracking</a:t>
            </a:r>
          </a:p>
          <a:p>
            <a:pPr lvl="1">
              <a:buFont typeface="Wingdings" panose="05000000000000000000" pitchFamily="2" charset="2"/>
              <a:buChar char="Ø"/>
            </a:pPr>
            <a:r>
              <a:rPr lang="en-IN" sz="1600" dirty="0"/>
              <a:t>Households estimate monthly CO₂ emissions from simple inputs</a:t>
            </a:r>
          </a:p>
          <a:p>
            <a:pPr lvl="1">
              <a:buFont typeface="Wingdings" panose="05000000000000000000" pitchFamily="2" charset="2"/>
              <a:buChar char="Ø"/>
            </a:pPr>
            <a:r>
              <a:rPr lang="en-IN" sz="1600" dirty="0"/>
              <a:t>Compare against regional averages</a:t>
            </a:r>
          </a:p>
          <a:p>
            <a:pPr marL="114300" indent="0">
              <a:buNone/>
            </a:pPr>
            <a:r>
              <a:rPr lang="en-IN" sz="1600" b="1" dirty="0"/>
              <a:t>2. Energy Efficiency Planning</a:t>
            </a:r>
          </a:p>
          <a:p>
            <a:pPr lvl="1">
              <a:buFont typeface="Wingdings" panose="05000000000000000000" pitchFamily="2" charset="2"/>
              <a:buChar char="Ø"/>
            </a:pPr>
            <a:r>
              <a:rPr lang="en-IN" sz="1600" dirty="0"/>
              <a:t>Identify high-impact factors (e.g., AC usage, building type)</a:t>
            </a:r>
          </a:p>
          <a:p>
            <a:pPr lvl="1">
              <a:buFont typeface="Wingdings" panose="05000000000000000000" pitchFamily="2" charset="2"/>
              <a:buChar char="Ø"/>
            </a:pPr>
            <a:r>
              <a:rPr lang="en-IN" sz="1600" dirty="0"/>
              <a:t>Prioritize interventions (insulation, appliance upgrades)</a:t>
            </a:r>
          </a:p>
          <a:p>
            <a:pPr marL="114300" indent="0">
              <a:buNone/>
            </a:pPr>
            <a:r>
              <a:rPr lang="en-IN" sz="1600" b="1" dirty="0"/>
              <a:t>3. </a:t>
            </a:r>
            <a:r>
              <a:rPr lang="en-IN" sz="1600" b="1" dirty="0" err="1"/>
              <a:t>Behavioral</a:t>
            </a:r>
            <a:r>
              <a:rPr lang="en-IN" sz="1600" b="1" dirty="0"/>
              <a:t> Nudging</a:t>
            </a:r>
          </a:p>
          <a:p>
            <a:pPr lvl="1">
              <a:buFont typeface="Wingdings" panose="05000000000000000000" pitchFamily="2" charset="2"/>
              <a:buChar char="Ø"/>
            </a:pPr>
            <a:r>
              <a:rPr lang="en-IN" sz="1600" dirty="0"/>
              <a:t>"What-if" scenarios motivate emission reduction actions</a:t>
            </a:r>
          </a:p>
          <a:p>
            <a:pPr lvl="1">
              <a:buFont typeface="Wingdings" panose="05000000000000000000" pitchFamily="2" charset="2"/>
              <a:buChar char="Ø"/>
            </a:pPr>
            <a:r>
              <a:rPr lang="en-IN" sz="1600" dirty="0"/>
              <a:t>Example: </a:t>
            </a:r>
            <a:r>
              <a:rPr lang="en-IN" sz="1600" i="1" dirty="0"/>
              <a:t>"Switching to efficient appliances saves 120 kg CO₂/year"</a:t>
            </a:r>
            <a:endParaRPr lang="en-IN" sz="1600" dirty="0"/>
          </a:p>
          <a:p>
            <a:pPr marL="114300" indent="0">
              <a:buNone/>
            </a:pPr>
            <a:r>
              <a:rPr lang="en-IN" sz="1600" b="1" dirty="0"/>
              <a:t>4. Policy Support</a:t>
            </a:r>
          </a:p>
          <a:p>
            <a:pPr lvl="1">
              <a:buFont typeface="Wingdings" panose="05000000000000000000" pitchFamily="2" charset="2"/>
              <a:buChar char="Ø"/>
            </a:pPr>
            <a:r>
              <a:rPr lang="en-IN" sz="1600" dirty="0"/>
              <a:t>Governments use aggregated data for residential emission baselines</a:t>
            </a:r>
          </a:p>
          <a:p>
            <a:pPr lvl="1">
              <a:buFont typeface="Wingdings" panose="05000000000000000000" pitchFamily="2" charset="2"/>
              <a:buChar char="Ø"/>
            </a:pPr>
            <a:r>
              <a:rPr lang="en-IN" sz="1600" dirty="0"/>
              <a:t>Design targeted subsidy programs (e.g., AC efficiency rebates)</a:t>
            </a:r>
          </a:p>
          <a:p>
            <a:pPr marL="114300" indent="0">
              <a:buNone/>
            </a:pPr>
            <a:r>
              <a:rPr lang="en-IN" sz="1600" b="1" dirty="0"/>
              <a:t>5. Educational Tool</a:t>
            </a:r>
          </a:p>
          <a:p>
            <a:pPr lvl="1">
              <a:buFont typeface="Wingdings" panose="05000000000000000000" pitchFamily="2" charset="2"/>
              <a:buChar char="Ø"/>
            </a:pPr>
            <a:r>
              <a:rPr lang="en-IN" sz="1600" dirty="0"/>
              <a:t>Schools and NGOs use dashboard for climate awareness workshops</a:t>
            </a:r>
          </a:p>
          <a:p>
            <a:pPr lvl="1">
              <a:buFont typeface="Wingdings" panose="05000000000000000000" pitchFamily="2" charset="2"/>
              <a:buChar char="Ø"/>
            </a:pPr>
            <a:r>
              <a:rPr lang="en-IN" sz="1600" dirty="0"/>
              <a:t>Visual, data-driven learning about carbon footprint</a:t>
            </a:r>
          </a:p>
          <a:p>
            <a:endParaRPr lang="en-IN" sz="1600" dirty="0"/>
          </a:p>
        </p:txBody>
      </p:sp>
    </p:spTree>
    <p:extLst>
      <p:ext uri="{BB962C8B-B14F-4D97-AF65-F5344CB8AC3E}">
        <p14:creationId xmlns:p14="http://schemas.microsoft.com/office/powerpoint/2010/main" val="503117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1048591" name="Google Shape;94;p2"/>
          <p:cNvSpPr txBox="1">
            <a:spLocks noGrp="1"/>
          </p:cNvSpPr>
          <p:nvPr>
            <p:ph type="ctrTitle"/>
          </p:nvPr>
        </p:nvSpPr>
        <p:spPr>
          <a:xfrm>
            <a:off x="200608" y="226980"/>
            <a:ext cx="7772400" cy="99222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Problem Statement</a:t>
            </a:r>
            <a:endParaRPr dirty="0"/>
          </a:p>
        </p:txBody>
      </p:sp>
      <p:sp>
        <p:nvSpPr>
          <p:cNvPr id="2" name="Rectangle 1">
            <a:extLst>
              <a:ext uri="{FF2B5EF4-FFF2-40B4-BE49-F238E27FC236}">
                <a16:creationId xmlns:a16="http://schemas.microsoft.com/office/drawing/2014/main" id="{5C5B7A60-82A9-304C-E691-BA87D3DC8239}"/>
              </a:ext>
            </a:extLst>
          </p:cNvPr>
          <p:cNvSpPr>
            <a:spLocks noChangeArrowheads="1"/>
          </p:cNvSpPr>
          <p:nvPr/>
        </p:nvSpPr>
        <p:spPr bwMode="auto">
          <a:xfrm>
            <a:off x="825920" y="1188425"/>
            <a:ext cx="7492159"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IN" sz="1600" dirty="0"/>
              <a:t>To collect or construct a suitable dataset representing household/building energy consumption and corresponding CO₂ emissions using easily obtainable features (e.g., floor area, fuel type, appliance usage, occupancy, climate).​</a:t>
            </a:r>
          </a:p>
          <a:p>
            <a:pPr marL="285750" indent="-285750">
              <a:buFont typeface="Wingdings" panose="05000000000000000000" pitchFamily="2" charset="2"/>
              <a:buChar char="Ø"/>
            </a:pPr>
            <a:r>
              <a:rPr lang="en-IN" sz="1600" dirty="0"/>
              <a:t>To develop and compare multiple machine learning models (Linear/Polynomial Regression, Random Forest, Gradient Boosting, </a:t>
            </a:r>
            <a:r>
              <a:rPr lang="en-IN" sz="1600" dirty="0" err="1"/>
              <a:t>XGBoost</a:t>
            </a:r>
            <a:r>
              <a:rPr lang="en-IN" sz="1600" dirty="0"/>
              <a:t>, and a small MLP) for accurate prediction of energy use and CO₂ emissions.​</a:t>
            </a:r>
          </a:p>
          <a:p>
            <a:pPr marL="285750" indent="-285750">
              <a:buFont typeface="Wingdings" panose="05000000000000000000" pitchFamily="2" charset="2"/>
              <a:buChar char="Ø"/>
            </a:pPr>
            <a:r>
              <a:rPr lang="en-IN" sz="1600" dirty="0"/>
              <a:t>To </a:t>
            </a:r>
            <a:r>
              <a:rPr lang="en-IN" sz="1600" dirty="0" err="1"/>
              <a:t>analyze</a:t>
            </a:r>
            <a:r>
              <a:rPr lang="en-IN" sz="1600" dirty="0"/>
              <a:t> feature importance and partial‑dependence relationships to identify key drivers of household emissions and support interpretable decision‑making.​</a:t>
            </a:r>
          </a:p>
          <a:p>
            <a:pPr marL="285750" indent="-285750">
              <a:buFont typeface="Wingdings" panose="05000000000000000000" pitchFamily="2" charset="2"/>
              <a:buChar char="Ø"/>
            </a:pPr>
            <a:r>
              <a:rPr lang="en-IN" sz="1600" dirty="0"/>
              <a:t>To design a simple web‑based dashboard where users can input their data, obtain predicted energy/CO₂ values, and view suggested actions for emission reduction aligned with SDG‑13.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048614" name="Google Shape;122;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err="1"/>
              <a:t>DataSet</a:t>
            </a:r>
            <a:r>
              <a:rPr lang="en-IN" dirty="0"/>
              <a:t> Description</a:t>
            </a:r>
            <a:endParaRPr dirty="0"/>
          </a:p>
        </p:txBody>
      </p:sp>
      <p:sp>
        <p:nvSpPr>
          <p:cNvPr id="1048615" name="Google Shape;123;p6"/>
          <p:cNvSpPr txBox="1">
            <a:spLocks noGrp="1"/>
          </p:cNvSpPr>
          <p:nvPr>
            <p:ph type="body" idx="1"/>
          </p:nvPr>
        </p:nvSpPr>
        <p:spPr>
          <a:xfrm>
            <a:off x="-52467" y="1417638"/>
            <a:ext cx="8844197" cy="4855746"/>
          </a:xfrm>
          <a:prstGeom prst="rect">
            <a:avLst/>
          </a:prstGeom>
          <a:noFill/>
          <a:ln>
            <a:noFill/>
          </a:ln>
        </p:spPr>
        <p:txBody>
          <a:bodyPr spcFirstLastPara="1" wrap="square" lIns="91425" tIns="45700" rIns="91425" bIns="45700" anchor="t" anchorCtr="0">
            <a:normAutofit fontScale="47500" lnSpcReduction="20000"/>
          </a:bodyPr>
          <a:lstStyle/>
          <a:p>
            <a:pPr lvl="1">
              <a:buFont typeface="Wingdings" panose="05000000000000000000" pitchFamily="2" charset="2"/>
              <a:buChar char="Ø"/>
            </a:pPr>
            <a:r>
              <a:rPr lang="en-IN" sz="3400" dirty="0"/>
              <a:t>Source: Publicly available residential/building energy datasets (e.g., building energy consumption datasets and residential CO₂ datasets from prior research or open repositories) will be adapted for this project.​</a:t>
            </a:r>
          </a:p>
          <a:p>
            <a:pPr lvl="1">
              <a:buFont typeface="Wingdings" panose="05000000000000000000" pitchFamily="2" charset="2"/>
              <a:buChar char="Ø"/>
            </a:pPr>
            <a:r>
              <a:rPr lang="en-IN" sz="3400" dirty="0"/>
              <a:t>Features (Inputs):</a:t>
            </a:r>
          </a:p>
          <a:p>
            <a:pPr lvl="2">
              <a:buFont typeface="Wingdings" panose="05000000000000000000" pitchFamily="2" charset="2"/>
              <a:buChar char="Ø"/>
            </a:pPr>
            <a:r>
              <a:rPr lang="en-IN" sz="3400" dirty="0"/>
              <a:t>Building characteristics: floor area, number of rooms, building type (apartment/independent), construction material, age of building.​</a:t>
            </a:r>
          </a:p>
          <a:p>
            <a:pPr lvl="2">
              <a:buFont typeface="Wingdings" panose="05000000000000000000" pitchFamily="2" charset="2"/>
              <a:buChar char="Ø"/>
            </a:pPr>
            <a:r>
              <a:rPr lang="en-IN" sz="3400" dirty="0"/>
              <a:t>Energy‑use attributes: annual or monthly electricity consumption (kWh), LPG/other fuel usage, presence of major appliances (AC, heater, geyser), occupancy patterns, climate/temperature indicators.​</a:t>
            </a:r>
          </a:p>
          <a:p>
            <a:pPr lvl="1">
              <a:buFont typeface="Wingdings" panose="05000000000000000000" pitchFamily="2" charset="2"/>
              <a:buChar char="Ø"/>
            </a:pPr>
            <a:r>
              <a:rPr lang="en-IN" sz="3400" dirty="0"/>
              <a:t>Target Variables (Outputs):</a:t>
            </a:r>
          </a:p>
          <a:p>
            <a:pPr lvl="2">
              <a:buFont typeface="Wingdings" panose="05000000000000000000" pitchFamily="2" charset="2"/>
              <a:buChar char="Ø"/>
            </a:pPr>
            <a:r>
              <a:rPr lang="en-IN" sz="3400" dirty="0"/>
              <a:t>Total energy consumption (kWh or kWh/m²) and estimated annual CO₂ emissions (kg or tons) calculated using standard emission factors for electricity and fuels.​</a:t>
            </a:r>
          </a:p>
          <a:p>
            <a:pPr lvl="1">
              <a:buFont typeface="Wingdings" panose="05000000000000000000" pitchFamily="2" charset="2"/>
              <a:buChar char="Ø"/>
            </a:pPr>
            <a:r>
              <a:rPr lang="en-IN" sz="3400" dirty="0"/>
              <a:t>Data Size &amp; Format:</a:t>
            </a:r>
          </a:p>
          <a:p>
            <a:pPr lvl="2">
              <a:buFont typeface="Wingdings" panose="05000000000000000000" pitchFamily="2" charset="2"/>
              <a:buChar char="Ø"/>
            </a:pPr>
            <a:r>
              <a:rPr lang="en-IN" sz="3400" dirty="0"/>
              <a:t>Structured tabular data stored as CSV files, expected to contain a few thousand records, suitable for training on a personal PC without GPU.​</a:t>
            </a:r>
          </a:p>
          <a:p>
            <a:pPr lvl="1">
              <a:buFont typeface="Wingdings" panose="05000000000000000000" pitchFamily="2" charset="2"/>
              <a:buChar char="Ø"/>
            </a:pPr>
            <a:r>
              <a:rPr lang="en-IN" sz="3400" dirty="0"/>
              <a:t>Preprocessing:</a:t>
            </a:r>
          </a:p>
          <a:p>
            <a:pPr lvl="2">
              <a:buFont typeface="Wingdings" panose="05000000000000000000" pitchFamily="2" charset="2"/>
              <a:buChar char="Ø"/>
            </a:pPr>
            <a:r>
              <a:rPr lang="en-IN" sz="3400" dirty="0"/>
              <a:t>Handling missing values, encoding categorical variables (one‑hot), feature scaling/normalization, train‑validation‑test split (e.g., 70‑15‑15).</a:t>
            </a:r>
            <a:br>
              <a:rPr lang="en-IN" dirty="0"/>
            </a:b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048619" name="Google Shape;129;p7"/>
          <p:cNvSpPr txBox="1">
            <a:spLocks noGrp="1"/>
          </p:cNvSpPr>
          <p:nvPr>
            <p:ph type="title"/>
          </p:nvPr>
        </p:nvSpPr>
        <p:spPr>
          <a:xfrm>
            <a:off x="0" y="214290"/>
            <a:ext cx="7500958"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Proposed Methodology</a:t>
            </a:r>
            <a:endParaRPr dirty="0"/>
          </a:p>
        </p:txBody>
      </p:sp>
      <p:sp>
        <p:nvSpPr>
          <p:cNvPr id="2" name="Text Placeholder 1">
            <a:extLst>
              <a:ext uri="{FF2B5EF4-FFF2-40B4-BE49-F238E27FC236}">
                <a16:creationId xmlns:a16="http://schemas.microsoft.com/office/drawing/2014/main" id="{720F0560-0F0F-3823-A82F-464A69D7D530}"/>
              </a:ext>
            </a:extLst>
          </p:cNvPr>
          <p:cNvSpPr>
            <a:spLocks noGrp="1" noChangeArrowheads="1"/>
          </p:cNvSpPr>
          <p:nvPr>
            <p:ph type="body" idx="1"/>
          </p:nvPr>
        </p:nvSpPr>
        <p:spPr bwMode="auto">
          <a:xfrm>
            <a:off x="634562" y="1459882"/>
            <a:ext cx="7874876" cy="444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1600" dirty="0"/>
              <a:t>Phase 1 – Data Collection &amp; Preprocessing</a:t>
            </a:r>
          </a:p>
          <a:p>
            <a:pPr lvl="1">
              <a:buFont typeface="Wingdings" panose="05000000000000000000" pitchFamily="2" charset="2"/>
              <a:buChar char="Ø"/>
            </a:pPr>
            <a:r>
              <a:rPr lang="en-IN" sz="1600" dirty="0"/>
              <a:t>Identify and integrate one or more open datasets on residential/building energy use and CO₂ emissions, or generate a small synthetic dataset consistent with literature if needed.​</a:t>
            </a:r>
          </a:p>
          <a:p>
            <a:pPr lvl="1">
              <a:buFont typeface="Wingdings" panose="05000000000000000000" pitchFamily="2" charset="2"/>
              <a:buChar char="Ø"/>
            </a:pPr>
            <a:r>
              <a:rPr lang="en-IN" sz="1600" dirty="0"/>
              <a:t>Clean the data (missing values, outlier checks), encode categorical features, and normalize/standardize numeric variables; split into training, validation, and test sets.​</a:t>
            </a:r>
          </a:p>
          <a:p>
            <a:pPr>
              <a:buFont typeface="Wingdings" panose="05000000000000000000" pitchFamily="2" charset="2"/>
              <a:buChar char="Ø"/>
            </a:pPr>
            <a:r>
              <a:rPr lang="en-IN" sz="1600" dirty="0"/>
              <a:t>Phase 2 – Model Development &amp; Comparison</a:t>
            </a:r>
          </a:p>
          <a:p>
            <a:pPr lvl="1">
              <a:buFont typeface="Wingdings" panose="05000000000000000000" pitchFamily="2" charset="2"/>
              <a:buChar char="Ø"/>
            </a:pPr>
            <a:r>
              <a:rPr lang="en-IN" sz="1600" dirty="0"/>
              <a:t>Implement baseline models: Multiple Linear Regression and Polynomial Regression for energy/CO₂ prediction.​</a:t>
            </a:r>
          </a:p>
          <a:p>
            <a:pPr lvl="1">
              <a:buFont typeface="Wingdings" panose="05000000000000000000" pitchFamily="2" charset="2"/>
              <a:buChar char="Ø"/>
            </a:pPr>
            <a:r>
              <a:rPr lang="en-IN" sz="1600" dirty="0"/>
              <a:t>Implement advanced models: Random Forest Regressor, Gradient Boosting Regressor, </a:t>
            </a:r>
            <a:r>
              <a:rPr lang="en-IN" sz="1600" dirty="0" err="1"/>
              <a:t>XGBoost</a:t>
            </a:r>
            <a:r>
              <a:rPr lang="en-IN" sz="1600" dirty="0"/>
              <a:t> Regressor, and a small feed‑forward neural network (MLP).​</a:t>
            </a:r>
          </a:p>
          <a:p>
            <a:pPr lvl="1">
              <a:buFont typeface="Wingdings" panose="05000000000000000000" pitchFamily="2" charset="2"/>
              <a:buChar char="Ø"/>
            </a:pPr>
            <a:r>
              <a:rPr lang="en-IN" sz="1600" dirty="0"/>
              <a:t>Train each model using k‑fold cross‑validation and tune hyperparameters (e.g., tree depth, learning rate, number of estimators) using grid or random search.​</a:t>
            </a:r>
          </a:p>
          <a:p>
            <a:pPr lvl="1">
              <a:buFont typeface="Wingdings" panose="05000000000000000000" pitchFamily="2" charset="2"/>
              <a:buChar char="Ø"/>
            </a:pPr>
            <a:r>
              <a:rPr lang="en-IN" sz="1600" dirty="0"/>
              <a:t>Evaluate models on the test set using MAE, RMSE, and R² and select the best‑performing model as the core predictor.​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7F4DEC-20CE-10FB-4112-42E3A9B19868}"/>
              </a:ext>
            </a:extLst>
          </p:cNvPr>
          <p:cNvSpPr>
            <a:spLocks noGrp="1"/>
          </p:cNvSpPr>
          <p:nvPr>
            <p:ph type="body" idx="1"/>
          </p:nvPr>
        </p:nvSpPr>
        <p:spPr>
          <a:xfrm>
            <a:off x="457200" y="804041"/>
            <a:ext cx="8229600" cy="4525963"/>
          </a:xfrm>
        </p:spPr>
        <p:txBody>
          <a:bodyPr>
            <a:normAutofit/>
          </a:bodyPr>
          <a:lstStyle/>
          <a:p>
            <a:pPr>
              <a:buFont typeface="Wingdings" panose="05000000000000000000" pitchFamily="2" charset="2"/>
              <a:buChar char="Ø"/>
            </a:pPr>
            <a:r>
              <a:rPr lang="en-IN" sz="1600" dirty="0"/>
              <a:t>Phase 3 – Interpretability &amp; Insights</a:t>
            </a:r>
          </a:p>
          <a:p>
            <a:pPr lvl="1">
              <a:buFont typeface="Wingdings" panose="05000000000000000000" pitchFamily="2" charset="2"/>
              <a:buChar char="Ø"/>
            </a:pPr>
            <a:r>
              <a:rPr lang="en-IN" sz="1600" dirty="0"/>
              <a:t>Use feature‑importance measures (for tree‑based models) and SHAP or permutation importance to understand which factors contribute most to predicted emissions.​</a:t>
            </a:r>
          </a:p>
          <a:p>
            <a:pPr lvl="1">
              <a:buFont typeface="Wingdings" panose="05000000000000000000" pitchFamily="2" charset="2"/>
              <a:buChar char="Ø"/>
            </a:pPr>
            <a:r>
              <a:rPr lang="en-IN" sz="1600" dirty="0"/>
              <a:t>Generate partial‑dependence plots or simple what‑if analyses (e.g., reducing AC hours, changing fuel type) to show potential emission reductions.</a:t>
            </a:r>
          </a:p>
          <a:p>
            <a:pPr>
              <a:buFont typeface="Wingdings" panose="05000000000000000000" pitchFamily="2" charset="2"/>
              <a:buChar char="Ø"/>
            </a:pPr>
            <a:r>
              <a:rPr lang="en-IN" sz="1600" dirty="0"/>
              <a:t>Phase 4 – Application / Dashboard Development</a:t>
            </a:r>
          </a:p>
          <a:p>
            <a:pPr lvl="1">
              <a:buFont typeface="Wingdings" panose="05000000000000000000" pitchFamily="2" charset="2"/>
              <a:buChar char="Ø"/>
            </a:pPr>
            <a:r>
              <a:rPr lang="en-IN" sz="1600" dirty="0"/>
              <a:t>Develop a lightweight web interface (</a:t>
            </a:r>
            <a:r>
              <a:rPr lang="en-IN" sz="1600" dirty="0" err="1"/>
              <a:t>Streamlit</a:t>
            </a:r>
            <a:r>
              <a:rPr lang="en-IN" sz="1600" dirty="0"/>
              <a:t> or Flask) where a user can enter their building and usage details and receive predicted energy use and CO₂ emissions.​</a:t>
            </a:r>
          </a:p>
          <a:p>
            <a:pPr lvl="1">
              <a:buFont typeface="Wingdings" panose="05000000000000000000" pitchFamily="2" charset="2"/>
              <a:buChar char="Ø"/>
            </a:pPr>
            <a:r>
              <a:rPr lang="en-IN" sz="1600" dirty="0"/>
              <a:t>Display key drivers and simple recommendations (e.g., “improving insulation” or “switching to more efficient appliance”) to link predictions with SDG‑13 climate‑action </a:t>
            </a:r>
            <a:r>
              <a:rPr lang="en-IN" sz="1600" dirty="0" err="1"/>
              <a:t>behavior</a:t>
            </a:r>
            <a:r>
              <a:rPr lang="en-IN" sz="1600" dirty="0"/>
              <a:t>.</a:t>
            </a:r>
          </a:p>
        </p:txBody>
      </p:sp>
    </p:spTree>
    <p:extLst>
      <p:ext uri="{BB962C8B-B14F-4D97-AF65-F5344CB8AC3E}">
        <p14:creationId xmlns:p14="http://schemas.microsoft.com/office/powerpoint/2010/main" val="2365867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C603E-5B61-0B7A-BA51-A1E7208A2263}"/>
              </a:ext>
            </a:extLst>
          </p:cNvPr>
          <p:cNvSpPr>
            <a:spLocks noGrp="1"/>
          </p:cNvSpPr>
          <p:nvPr>
            <p:ph type="title"/>
          </p:nvPr>
        </p:nvSpPr>
        <p:spPr/>
        <p:txBody>
          <a:bodyPr/>
          <a:lstStyle/>
          <a:p>
            <a:r>
              <a:rPr lang="en-IN" dirty="0"/>
              <a:t>Architecture Diagram</a:t>
            </a:r>
          </a:p>
        </p:txBody>
      </p:sp>
      <p:sp>
        <p:nvSpPr>
          <p:cNvPr id="5" name="TextBox 4">
            <a:extLst>
              <a:ext uri="{FF2B5EF4-FFF2-40B4-BE49-F238E27FC236}">
                <a16:creationId xmlns:a16="http://schemas.microsoft.com/office/drawing/2014/main" id="{BDF62DC6-87AB-A683-2BD3-F30687B9D9BF}"/>
              </a:ext>
            </a:extLst>
          </p:cNvPr>
          <p:cNvSpPr txBox="1"/>
          <p:nvPr/>
        </p:nvSpPr>
        <p:spPr>
          <a:xfrm>
            <a:off x="1086787" y="1229192"/>
            <a:ext cx="7232754" cy="1477328"/>
          </a:xfrm>
          <a:prstGeom prst="rect">
            <a:avLst/>
          </a:prstGeom>
          <a:noFill/>
        </p:spPr>
        <p:txBody>
          <a:bodyPr wrap="square">
            <a:spAutoFit/>
          </a:bodyPr>
          <a:lstStyle/>
          <a:p>
            <a:r>
              <a:rPr lang="en-IN" sz="3000" b="0" i="0" dirty="0">
                <a:effectLst/>
                <a:latin typeface="fkGroteskNeue"/>
              </a:rPr>
              <a:t>Data Sources → Preprocessing → Model Bank → Evaluation/Selection → Explainability + Deployment → User Results</a:t>
            </a:r>
            <a:endParaRPr lang="en-IN" sz="3000" dirty="0"/>
          </a:p>
        </p:txBody>
      </p:sp>
    </p:spTree>
    <p:extLst>
      <p:ext uri="{BB962C8B-B14F-4D97-AF65-F5344CB8AC3E}">
        <p14:creationId xmlns:p14="http://schemas.microsoft.com/office/powerpoint/2010/main" val="593325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048624" name="Google Shape;13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Algorithm Used</a:t>
            </a:r>
          </a:p>
        </p:txBody>
      </p:sp>
      <p:sp>
        <p:nvSpPr>
          <p:cNvPr id="2" name="Text Placeholder 1">
            <a:extLst>
              <a:ext uri="{FF2B5EF4-FFF2-40B4-BE49-F238E27FC236}">
                <a16:creationId xmlns:a16="http://schemas.microsoft.com/office/drawing/2014/main" id="{E80E47A5-779F-9AE1-C06D-BB213CE18805}"/>
              </a:ext>
            </a:extLst>
          </p:cNvPr>
          <p:cNvSpPr>
            <a:spLocks noGrp="1" noChangeArrowheads="1"/>
          </p:cNvSpPr>
          <p:nvPr>
            <p:ph type="body" idx="1"/>
          </p:nvPr>
        </p:nvSpPr>
        <p:spPr bwMode="auto">
          <a:xfrm>
            <a:off x="776451" y="1319042"/>
            <a:ext cx="7591097"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ClrTx/>
              <a:buSzTx/>
              <a:buFont typeface="Wingdings" panose="05000000000000000000" pitchFamily="2" charset="2"/>
              <a:buChar char="Ø"/>
            </a:pP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a:t>Baseline Models</a:t>
            </a:r>
          </a:p>
          <a:p>
            <a:pPr lvl="1">
              <a:buFont typeface="Wingdings" panose="05000000000000000000" pitchFamily="2" charset="2"/>
              <a:buChar char="Ø"/>
            </a:pPr>
            <a:r>
              <a:rPr lang="en-IN" sz="1600" dirty="0"/>
              <a:t>Multiple Linear Regression and Polynomial Regression for initial benchmark of energy/CO₂ prediction performance.​</a:t>
            </a:r>
          </a:p>
          <a:p>
            <a:pPr>
              <a:buFont typeface="Wingdings" panose="05000000000000000000" pitchFamily="2" charset="2"/>
              <a:buChar char="Ø"/>
            </a:pPr>
            <a:r>
              <a:rPr lang="en-IN" sz="1600" dirty="0"/>
              <a:t>Tree‑Based Ensemble Models</a:t>
            </a:r>
          </a:p>
          <a:p>
            <a:pPr lvl="1">
              <a:buFont typeface="Wingdings" panose="05000000000000000000" pitchFamily="2" charset="2"/>
              <a:buChar char="Ø"/>
            </a:pPr>
            <a:r>
              <a:rPr lang="en-IN" sz="1600" dirty="0"/>
              <a:t>Random Forest Regressor for robust, non‑linear </a:t>
            </a:r>
            <a:r>
              <a:rPr lang="en-IN" sz="1600" dirty="0" err="1"/>
              <a:t>modeling</a:t>
            </a:r>
            <a:r>
              <a:rPr lang="en-IN" sz="1600" dirty="0"/>
              <a:t> and feature importance analysis.​</a:t>
            </a:r>
          </a:p>
          <a:p>
            <a:pPr lvl="1">
              <a:buFont typeface="Wingdings" panose="05000000000000000000" pitchFamily="2" charset="2"/>
              <a:buChar char="Ø"/>
            </a:pPr>
            <a:r>
              <a:rPr lang="en-IN" sz="1600" dirty="0"/>
              <a:t>Gradient Boosting Regressor / </a:t>
            </a:r>
            <a:r>
              <a:rPr lang="en-IN" sz="1600" dirty="0" err="1"/>
              <a:t>XGBoost</a:t>
            </a:r>
            <a:r>
              <a:rPr lang="en-IN" sz="1600" dirty="0"/>
              <a:t> Regressor for improved accuracy via boosting and handling complex feature interactions.​</a:t>
            </a:r>
          </a:p>
          <a:p>
            <a:pPr>
              <a:buFont typeface="Wingdings" panose="05000000000000000000" pitchFamily="2" charset="2"/>
              <a:buChar char="Ø"/>
            </a:pPr>
            <a:r>
              <a:rPr lang="en-IN" sz="1600" dirty="0"/>
              <a:t>Neural Network Model</a:t>
            </a:r>
          </a:p>
          <a:p>
            <a:pPr lvl="1">
              <a:buFont typeface="Wingdings" panose="05000000000000000000" pitchFamily="2" charset="2"/>
              <a:buChar char="Ø"/>
            </a:pPr>
            <a:r>
              <a:rPr lang="en-IN" sz="1600" dirty="0"/>
              <a:t>MLP Regressor (Feed‑Forward Neural Network) with a small number of hidden layers/neurons for capturing non‑linear relationships while staying lightweight.​</a:t>
            </a:r>
          </a:p>
          <a:p>
            <a:pPr>
              <a:buFont typeface="Wingdings" panose="05000000000000000000" pitchFamily="2" charset="2"/>
              <a:buChar char="Ø"/>
            </a:pPr>
            <a:r>
              <a:rPr lang="en-IN" sz="1600" dirty="0"/>
              <a:t>Model Evaluation</a:t>
            </a:r>
          </a:p>
          <a:p>
            <a:pPr lvl="1">
              <a:buFont typeface="Wingdings" panose="05000000000000000000" pitchFamily="2" charset="2"/>
              <a:buChar char="Ø"/>
            </a:pPr>
            <a:r>
              <a:rPr lang="en-IN" sz="1600" dirty="0"/>
              <a:t>Metrics: Mean Absolute Error (MAE), Root Mean Squared Error (RMSE), and Coefficient of Determination (R²), with k‑fold cross‑validation for reliable comparison.</a:t>
            </a:r>
          </a:p>
          <a:p>
            <a:pPr marL="285750" lvl="0" indent="-285750" eaLnBrk="0" fontAlgn="base" hangingPunct="0">
              <a:spcBef>
                <a:spcPct val="0"/>
              </a:spcBef>
              <a:spcAft>
                <a:spcPct val="0"/>
              </a:spcAft>
              <a:buClrTx/>
              <a:buSzTx/>
              <a:buFont typeface="Wingdings" panose="05000000000000000000" pitchFamily="2" charset="2"/>
              <a:buChar char="Ø"/>
            </a:pP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048629" name="Google Shape;14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Implementation Details</a:t>
            </a:r>
          </a:p>
        </p:txBody>
      </p:sp>
      <p:sp>
        <p:nvSpPr>
          <p:cNvPr id="2" name="Text Placeholder 1">
            <a:extLst>
              <a:ext uri="{FF2B5EF4-FFF2-40B4-BE49-F238E27FC236}">
                <a16:creationId xmlns:a16="http://schemas.microsoft.com/office/drawing/2014/main" id="{1EE51A6B-3922-7C5D-2CCB-F02C0FB699A2}"/>
              </a:ext>
            </a:extLst>
          </p:cNvPr>
          <p:cNvSpPr>
            <a:spLocks noGrp="1" noChangeArrowheads="1"/>
          </p:cNvSpPr>
          <p:nvPr>
            <p:ph type="body" idx="1"/>
          </p:nvPr>
        </p:nvSpPr>
        <p:spPr bwMode="auto">
          <a:xfrm>
            <a:off x="718457" y="1512933"/>
            <a:ext cx="770708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1600" dirty="0"/>
              <a:t>Language and Environment</a:t>
            </a:r>
          </a:p>
          <a:p>
            <a:pPr lvl="1">
              <a:buFont typeface="Wingdings" panose="05000000000000000000" pitchFamily="2" charset="2"/>
              <a:buChar char="Ø"/>
            </a:pPr>
            <a:r>
              <a:rPr lang="en-IN" sz="1600" dirty="0"/>
              <a:t>Programming language: Python 3.10+ (Anaconda or </a:t>
            </a:r>
            <a:r>
              <a:rPr lang="en-IN" sz="1600" dirty="0" err="1"/>
              <a:t>venv</a:t>
            </a:r>
            <a:r>
              <a:rPr lang="en-IN" sz="1600" dirty="0"/>
              <a:t>).​</a:t>
            </a:r>
          </a:p>
          <a:p>
            <a:pPr lvl="1">
              <a:buFont typeface="Wingdings" panose="05000000000000000000" pitchFamily="2" charset="2"/>
              <a:buChar char="Ø"/>
            </a:pPr>
            <a:r>
              <a:rPr lang="en-IN" sz="1600" dirty="0"/>
              <a:t>IDE/Tools: </a:t>
            </a:r>
            <a:r>
              <a:rPr lang="en-IN" sz="1600" dirty="0" err="1"/>
              <a:t>Jupyter</a:t>
            </a:r>
            <a:r>
              <a:rPr lang="en-IN" sz="1600" dirty="0"/>
              <a:t> Notebook / VS Code for experimentation; Git for version control.​</a:t>
            </a:r>
          </a:p>
          <a:p>
            <a:pPr>
              <a:buFont typeface="Wingdings" panose="05000000000000000000" pitchFamily="2" charset="2"/>
              <a:buChar char="Ø"/>
            </a:pPr>
            <a:r>
              <a:rPr lang="en-IN" sz="1600" dirty="0"/>
              <a:t>Libraries and Packages Used</a:t>
            </a:r>
          </a:p>
          <a:p>
            <a:pPr lvl="1">
              <a:buFont typeface="Wingdings" panose="05000000000000000000" pitchFamily="2" charset="2"/>
              <a:buChar char="Ø"/>
            </a:pPr>
            <a:r>
              <a:rPr lang="en-IN" sz="1600" dirty="0"/>
              <a:t>Data handling: pandas, </a:t>
            </a:r>
            <a:r>
              <a:rPr lang="en-IN" sz="1600" dirty="0" err="1"/>
              <a:t>numpy</a:t>
            </a:r>
            <a:r>
              <a:rPr lang="en-IN" sz="1600" dirty="0"/>
              <a:t> for loading, cleaning, and transforming tabular data.​</a:t>
            </a:r>
          </a:p>
          <a:p>
            <a:pPr lvl="1">
              <a:buFont typeface="Wingdings" panose="05000000000000000000" pitchFamily="2" charset="2"/>
              <a:buChar char="Ø"/>
            </a:pPr>
            <a:r>
              <a:rPr lang="en-IN" sz="1600" dirty="0"/>
              <a:t>Machine learning: scikit-learn (</a:t>
            </a:r>
            <a:r>
              <a:rPr lang="en-IN" sz="1600" dirty="0" err="1"/>
              <a:t>LinearRegression</a:t>
            </a:r>
            <a:r>
              <a:rPr lang="en-IN" sz="1600" dirty="0"/>
              <a:t>, </a:t>
            </a:r>
            <a:r>
              <a:rPr lang="en-IN" sz="1600" dirty="0" err="1"/>
              <a:t>RandomForestRegressor</a:t>
            </a:r>
            <a:r>
              <a:rPr lang="en-IN" sz="1600" dirty="0"/>
              <a:t>, </a:t>
            </a:r>
            <a:r>
              <a:rPr lang="en-IN" sz="1600" dirty="0" err="1"/>
              <a:t>GradientBoostingRegressor</a:t>
            </a:r>
            <a:r>
              <a:rPr lang="en-IN" sz="1600" dirty="0"/>
              <a:t>, </a:t>
            </a:r>
            <a:r>
              <a:rPr lang="en-IN" sz="1600" dirty="0" err="1"/>
              <a:t>train_test_split</a:t>
            </a:r>
            <a:r>
              <a:rPr lang="en-IN" sz="1600" dirty="0"/>
              <a:t>, metrics), </a:t>
            </a:r>
            <a:r>
              <a:rPr lang="en-IN" sz="1600" dirty="0" err="1"/>
              <a:t>xgboost</a:t>
            </a:r>
            <a:r>
              <a:rPr lang="en-IN" sz="1600" dirty="0"/>
              <a:t> for </a:t>
            </a:r>
            <a:r>
              <a:rPr lang="en-IN" sz="1600" dirty="0" err="1"/>
              <a:t>XGBoost</a:t>
            </a:r>
            <a:r>
              <a:rPr lang="en-IN" sz="1600" dirty="0"/>
              <a:t> model, </a:t>
            </a:r>
            <a:r>
              <a:rPr lang="en-IN" sz="1600" dirty="0" err="1"/>
              <a:t>sklearn.neural_network</a:t>
            </a:r>
            <a:r>
              <a:rPr lang="en-IN" sz="1600" dirty="0"/>
              <a:t> (</a:t>
            </a:r>
            <a:r>
              <a:rPr lang="en-IN" sz="1600" dirty="0" err="1"/>
              <a:t>MLPRegressor</a:t>
            </a:r>
            <a:r>
              <a:rPr lang="en-IN" sz="1600" dirty="0"/>
              <a:t>) for the small NN.​</a:t>
            </a:r>
          </a:p>
          <a:p>
            <a:pPr lvl="1">
              <a:buFont typeface="Wingdings" panose="05000000000000000000" pitchFamily="2" charset="2"/>
              <a:buChar char="Ø"/>
            </a:pPr>
            <a:r>
              <a:rPr lang="en-IN" sz="1600" dirty="0"/>
              <a:t>Visualization: matplotlib, seaborn for EDA and result plots (feature importance, error distributions).​</a:t>
            </a:r>
          </a:p>
          <a:p>
            <a:pPr lvl="1">
              <a:buFont typeface="Wingdings" panose="05000000000000000000" pitchFamily="2" charset="2"/>
              <a:buChar char="Ø"/>
            </a:pPr>
            <a:r>
              <a:rPr lang="en-IN" sz="1600" dirty="0"/>
              <a:t>Explainability: </a:t>
            </a:r>
            <a:r>
              <a:rPr lang="en-IN" sz="1600" dirty="0" err="1"/>
              <a:t>shap</a:t>
            </a:r>
            <a:r>
              <a:rPr lang="en-IN" sz="1600" dirty="0"/>
              <a:t> (or </a:t>
            </a:r>
            <a:r>
              <a:rPr lang="en-IN" sz="1600" dirty="0" err="1"/>
              <a:t>sklearn</a:t>
            </a:r>
            <a:r>
              <a:rPr lang="en-IN" sz="1600" dirty="0"/>
              <a:t> permutation importance) for feature‑importance and SHAP value plots.​</a:t>
            </a:r>
          </a:p>
          <a:p>
            <a:pPr lvl="1">
              <a:buFont typeface="Wingdings" panose="05000000000000000000" pitchFamily="2" charset="2"/>
              <a:buChar char="Ø"/>
            </a:pPr>
            <a:r>
              <a:rPr lang="en-IN" sz="1600" dirty="0"/>
              <a:t>Web app: </a:t>
            </a:r>
            <a:r>
              <a:rPr lang="en-IN" sz="1600" dirty="0" err="1"/>
              <a:t>Streamlit</a:t>
            </a:r>
            <a:r>
              <a:rPr lang="en-IN" sz="1600" dirty="0"/>
              <a:t> (or Flask) for building the user dashboard.​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8AA1-69FF-8EC2-AFE8-E8B498DF9E08}"/>
              </a:ext>
            </a:extLst>
          </p:cNvPr>
          <p:cNvSpPr>
            <a:spLocks noGrp="1"/>
          </p:cNvSpPr>
          <p:nvPr>
            <p:ph type="title"/>
          </p:nvPr>
        </p:nvSpPr>
        <p:spPr/>
        <p:txBody>
          <a:bodyPr/>
          <a:lstStyle/>
          <a:p>
            <a:r>
              <a:rPr lang="en-IN" dirty="0"/>
              <a:t>Preliminary Results</a:t>
            </a:r>
          </a:p>
        </p:txBody>
      </p:sp>
      <p:pic>
        <p:nvPicPr>
          <p:cNvPr id="5" name="Picture 4">
            <a:extLst>
              <a:ext uri="{FF2B5EF4-FFF2-40B4-BE49-F238E27FC236}">
                <a16:creationId xmlns:a16="http://schemas.microsoft.com/office/drawing/2014/main" id="{35484A3C-E16E-5971-2ECE-F61D395B037D}"/>
              </a:ext>
            </a:extLst>
          </p:cNvPr>
          <p:cNvPicPr>
            <a:picLocks noChangeAspect="1"/>
          </p:cNvPicPr>
          <p:nvPr/>
        </p:nvPicPr>
        <p:blipFill>
          <a:blip r:embed="rId2"/>
          <a:stretch>
            <a:fillRect/>
          </a:stretch>
        </p:blipFill>
        <p:spPr>
          <a:xfrm>
            <a:off x="634482" y="1645406"/>
            <a:ext cx="8303750" cy="1461688"/>
          </a:xfrm>
          <a:prstGeom prst="rect">
            <a:avLst/>
          </a:prstGeom>
        </p:spPr>
      </p:pic>
      <p:pic>
        <p:nvPicPr>
          <p:cNvPr id="7" name="Picture 6">
            <a:extLst>
              <a:ext uri="{FF2B5EF4-FFF2-40B4-BE49-F238E27FC236}">
                <a16:creationId xmlns:a16="http://schemas.microsoft.com/office/drawing/2014/main" id="{6709ACE4-D748-1178-D9C3-F0CEF71F2FC9}"/>
              </a:ext>
            </a:extLst>
          </p:cNvPr>
          <p:cNvPicPr>
            <a:picLocks noChangeAspect="1"/>
          </p:cNvPicPr>
          <p:nvPr/>
        </p:nvPicPr>
        <p:blipFill>
          <a:blip r:embed="rId3"/>
          <a:stretch>
            <a:fillRect/>
          </a:stretch>
        </p:blipFill>
        <p:spPr>
          <a:xfrm>
            <a:off x="634481" y="3471449"/>
            <a:ext cx="8441081" cy="2210894"/>
          </a:xfrm>
          <a:prstGeom prst="rect">
            <a:avLst/>
          </a:prstGeom>
        </p:spPr>
      </p:pic>
    </p:spTree>
    <p:extLst>
      <p:ext uri="{BB962C8B-B14F-4D97-AF65-F5344CB8AC3E}">
        <p14:creationId xmlns:p14="http://schemas.microsoft.com/office/powerpoint/2010/main" val="404581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1FDA74-A8D3-BC7B-5B34-3834190B3796}"/>
              </a:ext>
            </a:extLst>
          </p:cNvPr>
          <p:cNvSpPr>
            <a:spLocks noGrp="1"/>
          </p:cNvSpPr>
          <p:nvPr>
            <p:ph type="body" idx="1"/>
          </p:nvPr>
        </p:nvSpPr>
        <p:spPr>
          <a:xfrm>
            <a:off x="539646" y="858187"/>
            <a:ext cx="8229600" cy="4525963"/>
          </a:xfrm>
        </p:spPr>
        <p:txBody>
          <a:bodyPr/>
          <a:lstStyle/>
          <a:p>
            <a:pPr>
              <a:buFont typeface="Wingdings" panose="05000000000000000000" pitchFamily="2" charset="2"/>
              <a:buChar char="Ø"/>
            </a:pPr>
            <a:r>
              <a:rPr lang="en-IN" sz="1600" dirty="0"/>
              <a:t>Implementation Workflow</a:t>
            </a:r>
          </a:p>
          <a:p>
            <a:pPr lvl="1">
              <a:buFont typeface="Wingdings" panose="05000000000000000000" pitchFamily="2" charset="2"/>
              <a:buChar char="Ø"/>
            </a:pPr>
            <a:r>
              <a:rPr lang="en-IN" sz="1600" dirty="0"/>
              <a:t>Step 1: Load CSV datasets; perform cleaning, encoding, normalization, and split into train/validation/test sets.​</a:t>
            </a:r>
          </a:p>
          <a:p>
            <a:pPr lvl="1">
              <a:buFont typeface="Wingdings" panose="05000000000000000000" pitchFamily="2" charset="2"/>
              <a:buChar char="Ø"/>
            </a:pPr>
            <a:r>
              <a:rPr lang="en-IN" sz="1600" dirty="0"/>
              <a:t>Step 2: Train baseline models (Linear/Polynomial Regression), then ensemble models (Random Forest, Gradient Boosting, </a:t>
            </a:r>
            <a:r>
              <a:rPr lang="en-IN" sz="1600" dirty="0" err="1"/>
              <a:t>XGBoost</a:t>
            </a:r>
            <a:r>
              <a:rPr lang="en-IN" sz="1600" dirty="0"/>
              <a:t>) and MLP using k‑fold cross‑validation and hyperparameter tuning (grid/random search).​</a:t>
            </a:r>
          </a:p>
          <a:p>
            <a:pPr lvl="1">
              <a:buFont typeface="Wingdings" panose="05000000000000000000" pitchFamily="2" charset="2"/>
              <a:buChar char="Ø"/>
            </a:pPr>
            <a:r>
              <a:rPr lang="en-IN" sz="1600" dirty="0"/>
              <a:t>Step 3: Evaluate each model with MAE, RMSE, and R²; select best model and generate plots (predicted vs. actual, error histograms) for the Results slide.​</a:t>
            </a:r>
          </a:p>
          <a:p>
            <a:pPr lvl="1">
              <a:buFont typeface="Wingdings" panose="05000000000000000000" pitchFamily="2" charset="2"/>
              <a:buChar char="Ø"/>
            </a:pPr>
            <a:r>
              <a:rPr lang="en-IN" sz="1600" dirty="0"/>
              <a:t>Step 4: Compute feature importance/SHAP values; derive insights on top drivers of energy use and CO₂ emissions.​</a:t>
            </a:r>
          </a:p>
          <a:p>
            <a:pPr lvl="1">
              <a:buFont typeface="Wingdings" panose="05000000000000000000" pitchFamily="2" charset="2"/>
              <a:buChar char="Ø"/>
            </a:pPr>
            <a:r>
              <a:rPr lang="en-IN" sz="1600" dirty="0"/>
              <a:t>Step 5: Wrap the selected model and preprocessing pipeline using </a:t>
            </a:r>
            <a:r>
              <a:rPr lang="en-IN" sz="1600" dirty="0" err="1"/>
              <a:t>joblib</a:t>
            </a:r>
            <a:r>
              <a:rPr lang="en-IN" sz="1600" dirty="0"/>
              <a:t>/pickle and integrate into a </a:t>
            </a:r>
            <a:r>
              <a:rPr lang="en-IN" sz="1600" dirty="0" err="1"/>
              <a:t>Streamlit</a:t>
            </a:r>
            <a:r>
              <a:rPr lang="en-IN" sz="1600" dirty="0"/>
              <a:t> app where the user inputs building and usage data and receives predictions plus recommendations.</a:t>
            </a:r>
          </a:p>
          <a:p>
            <a:endParaRPr lang="en-IN" dirty="0"/>
          </a:p>
        </p:txBody>
      </p:sp>
    </p:spTree>
    <p:extLst>
      <p:ext uri="{BB962C8B-B14F-4D97-AF65-F5344CB8AC3E}">
        <p14:creationId xmlns:p14="http://schemas.microsoft.com/office/powerpoint/2010/main" val="163264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57C7D-1648-B2AE-9705-0C9A28E10F93}"/>
              </a:ext>
            </a:extLst>
          </p:cNvPr>
          <p:cNvSpPr>
            <a:spLocks noGrp="1"/>
          </p:cNvSpPr>
          <p:nvPr>
            <p:ph type="title"/>
          </p:nvPr>
        </p:nvSpPr>
        <p:spPr/>
        <p:txBody>
          <a:bodyPr/>
          <a:lstStyle/>
          <a:p>
            <a:r>
              <a:rPr lang="en-IN" dirty="0"/>
              <a:t>Performance Metrics</a:t>
            </a:r>
          </a:p>
        </p:txBody>
      </p:sp>
      <p:sp>
        <p:nvSpPr>
          <p:cNvPr id="4" name="Rectangle 1">
            <a:extLst>
              <a:ext uri="{FF2B5EF4-FFF2-40B4-BE49-F238E27FC236}">
                <a16:creationId xmlns:a16="http://schemas.microsoft.com/office/drawing/2014/main" id="{4DB33D52-110B-F5F2-1027-FB0899813A8E}"/>
              </a:ext>
            </a:extLst>
          </p:cNvPr>
          <p:cNvSpPr>
            <a:spLocks noGrp="1" noChangeArrowheads="1"/>
          </p:cNvSpPr>
          <p:nvPr>
            <p:ph type="body" idx="1"/>
          </p:nvPr>
        </p:nvSpPr>
        <p:spPr bwMode="auto">
          <a:xfrm>
            <a:off x="457200" y="1417638"/>
            <a:ext cx="8229600" cy="3657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buFont typeface="Wingdings" panose="05000000000000000000" pitchFamily="2" charset="2"/>
              <a:buChar char="Ø"/>
            </a:pPr>
            <a:r>
              <a:rPr lang="en-IN" sz="1600" dirty="0"/>
              <a:t>Mean Absolute Error (MAE)</a:t>
            </a:r>
          </a:p>
          <a:p>
            <a:pPr lvl="1">
              <a:buFont typeface="Wingdings" panose="05000000000000000000" pitchFamily="2" charset="2"/>
              <a:buChar char="Ø"/>
            </a:pPr>
            <a:r>
              <a:rPr lang="en-IN" sz="1600" dirty="0"/>
              <a:t>Definition: Average of the absolute differences between predicted and actual energy/CO₂ values; lower MAE indicates better average prediction accuracy.​</a:t>
            </a:r>
          </a:p>
          <a:p>
            <a:pPr>
              <a:buFont typeface="Wingdings" panose="05000000000000000000" pitchFamily="2" charset="2"/>
              <a:buChar char="Ø"/>
            </a:pPr>
            <a:r>
              <a:rPr lang="en-IN" sz="1600" dirty="0"/>
              <a:t>Root Mean Squared Error (RMSE)</a:t>
            </a:r>
          </a:p>
          <a:p>
            <a:pPr lvl="1">
              <a:buFont typeface="Wingdings" panose="05000000000000000000" pitchFamily="2" charset="2"/>
              <a:buChar char="Ø"/>
            </a:pPr>
            <a:r>
              <a:rPr lang="en-IN" sz="1600" dirty="0"/>
              <a:t>Definition: Square root of the mean of squared errors; penalizes larger errors more strongly than MAE and is expressed in the same units as the target.​</a:t>
            </a:r>
          </a:p>
          <a:p>
            <a:pPr>
              <a:buFont typeface="Wingdings" panose="05000000000000000000" pitchFamily="2" charset="2"/>
              <a:buChar char="Ø"/>
            </a:pPr>
            <a:r>
              <a:rPr lang="en-IN" sz="1600" dirty="0"/>
              <a:t>Coefficient of Determination (R²)</a:t>
            </a:r>
          </a:p>
          <a:p>
            <a:pPr lvl="1">
              <a:buFont typeface="Wingdings" panose="05000000000000000000" pitchFamily="2" charset="2"/>
              <a:buChar char="Ø"/>
            </a:pPr>
            <a:r>
              <a:rPr lang="en-IN" sz="1600" dirty="0"/>
              <a:t>Definition: Proportion of variance in the target (energy/CO₂) explained by the model; values closer to 1 indicate better fit.​</a:t>
            </a:r>
          </a:p>
          <a:p>
            <a:pPr>
              <a:buFont typeface="Wingdings" panose="05000000000000000000" pitchFamily="2" charset="2"/>
              <a:buChar char="Ø"/>
            </a:pPr>
            <a:r>
              <a:rPr lang="en-IN" sz="1600" dirty="0"/>
              <a:t>Cross‑Validation Score (k‑Fold)</a:t>
            </a:r>
          </a:p>
          <a:p>
            <a:pPr lvl="1">
              <a:buFont typeface="Wingdings" panose="05000000000000000000" pitchFamily="2" charset="2"/>
              <a:buChar char="Ø"/>
            </a:pPr>
            <a:r>
              <a:rPr lang="en-IN" sz="1600" dirty="0"/>
              <a:t>Approach: k‑fold cross‑validation (e.g., k = 5 or 10) used to compute average MAE/RMSE across folds, ensuring that model performance is stable and not due to a particular train–test split.​</a:t>
            </a:r>
          </a:p>
        </p:txBody>
      </p:sp>
    </p:spTree>
    <p:extLst>
      <p:ext uri="{BB962C8B-B14F-4D97-AF65-F5344CB8AC3E}">
        <p14:creationId xmlns:p14="http://schemas.microsoft.com/office/powerpoint/2010/main" val="1444491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048639" name="Google Shape;157;p14"/>
          <p:cNvSpPr txBox="1">
            <a:spLocks noGrp="1"/>
          </p:cNvSpPr>
          <p:nvPr>
            <p:ph type="title"/>
          </p:nvPr>
        </p:nvSpPr>
        <p:spPr>
          <a:xfrm>
            <a:off x="457200" y="274638"/>
            <a:ext cx="732951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Paper Submission Details</a:t>
            </a:r>
          </a:p>
        </p:txBody>
      </p:sp>
      <p:graphicFrame>
        <p:nvGraphicFramePr>
          <p:cNvPr id="3" name="Table 2">
            <a:extLst>
              <a:ext uri="{FF2B5EF4-FFF2-40B4-BE49-F238E27FC236}">
                <a16:creationId xmlns:a16="http://schemas.microsoft.com/office/drawing/2014/main" id="{468034AF-652B-6EDC-D7A2-02E34CB2B3B5}"/>
              </a:ext>
            </a:extLst>
          </p:cNvPr>
          <p:cNvGraphicFramePr>
            <a:graphicFrameLocks noGrp="1"/>
          </p:cNvGraphicFramePr>
          <p:nvPr>
            <p:extLst>
              <p:ext uri="{D42A27DB-BD31-4B8C-83A1-F6EECF244321}">
                <p14:modId xmlns:p14="http://schemas.microsoft.com/office/powerpoint/2010/main" val="860057852"/>
              </p:ext>
            </p:extLst>
          </p:nvPr>
        </p:nvGraphicFramePr>
        <p:xfrm>
          <a:off x="1198179" y="1899848"/>
          <a:ext cx="6747642" cy="2346960"/>
        </p:xfrm>
        <a:graphic>
          <a:graphicData uri="http://schemas.openxmlformats.org/drawingml/2006/table">
            <a:tbl>
              <a:tblPr>
                <a:tableStyleId>{3C2FFA5D-87B4-456A-9821-1D502468CF0F}</a:tableStyleId>
              </a:tblPr>
              <a:tblGrid>
                <a:gridCol w="3373821">
                  <a:extLst>
                    <a:ext uri="{9D8B030D-6E8A-4147-A177-3AD203B41FA5}">
                      <a16:colId xmlns:a16="http://schemas.microsoft.com/office/drawing/2014/main" val="3738357936"/>
                    </a:ext>
                  </a:extLst>
                </a:gridCol>
                <a:gridCol w="3373821">
                  <a:extLst>
                    <a:ext uri="{9D8B030D-6E8A-4147-A177-3AD203B41FA5}">
                      <a16:colId xmlns:a16="http://schemas.microsoft.com/office/drawing/2014/main" val="1742504770"/>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t>Details</a:t>
                      </a:r>
                      <a:endParaRPr lang="en-IN" dirty="0"/>
                    </a:p>
                  </a:txBody>
                  <a:tcPr anchor="ctr"/>
                </a:tc>
                <a:tc>
                  <a:txBody>
                    <a:bodyPr/>
                    <a:lstStyle/>
                    <a:p>
                      <a:pPr>
                        <a:buNone/>
                      </a:pPr>
                      <a:r>
                        <a:rPr lang="en-IN" b="1" dirty="0"/>
                        <a:t>Dates</a:t>
                      </a:r>
                    </a:p>
                  </a:txBody>
                  <a:tcPr anchor="ctr"/>
                </a:tc>
                <a:extLst>
                  <a:ext uri="{0D108BD9-81ED-4DB2-BD59-A6C34878D82A}">
                    <a16:rowId xmlns:a16="http://schemas.microsoft.com/office/drawing/2014/main" val="4255154847"/>
                  </a:ext>
                </a:extLst>
              </a:tr>
              <a:tr h="0">
                <a:tc>
                  <a:txBody>
                    <a:bodyPr/>
                    <a:lstStyle/>
                    <a:p>
                      <a:pPr>
                        <a:buNone/>
                      </a:pPr>
                      <a:r>
                        <a:rPr lang="en-IN" b="1" dirty="0"/>
                        <a:t>Project Review 0</a:t>
                      </a:r>
                      <a:endParaRPr lang="en-IN" dirty="0"/>
                    </a:p>
                  </a:txBody>
                  <a:tcPr anchor="ctr"/>
                </a:tc>
                <a:tc>
                  <a:txBody>
                    <a:bodyPr/>
                    <a:lstStyle/>
                    <a:p>
                      <a:pPr>
                        <a:buNone/>
                      </a:pPr>
                      <a:r>
                        <a:rPr lang="en-IN" dirty="0"/>
                        <a:t>14th Dec 2025</a:t>
                      </a:r>
                    </a:p>
                  </a:txBody>
                  <a:tcPr anchor="ctr"/>
                </a:tc>
                <a:extLst>
                  <a:ext uri="{0D108BD9-81ED-4DB2-BD59-A6C34878D82A}">
                    <a16:rowId xmlns:a16="http://schemas.microsoft.com/office/drawing/2014/main" val="158389823"/>
                  </a:ext>
                </a:extLst>
              </a:tr>
              <a:tr h="0">
                <a:tc>
                  <a:txBody>
                    <a:bodyPr/>
                    <a:lstStyle/>
                    <a:p>
                      <a:pPr>
                        <a:buNone/>
                      </a:pPr>
                      <a:r>
                        <a:rPr lang="en-IN" b="1" dirty="0"/>
                        <a:t>Project Review I</a:t>
                      </a:r>
                      <a:endParaRPr lang="en-IN" dirty="0"/>
                    </a:p>
                  </a:txBody>
                  <a:tcPr anchor="ctr"/>
                </a:tc>
                <a:tc>
                  <a:txBody>
                    <a:bodyPr/>
                    <a:lstStyle/>
                    <a:p>
                      <a:pPr>
                        <a:buNone/>
                      </a:pPr>
                      <a:r>
                        <a:rPr lang="en-IN" dirty="0"/>
                        <a:t>1</a:t>
                      </a:r>
                      <a:r>
                        <a:rPr lang="en-IN" baseline="30000" dirty="0"/>
                        <a:t>st</a:t>
                      </a:r>
                      <a:r>
                        <a:rPr lang="en-IN" dirty="0"/>
                        <a:t> Feb 2026</a:t>
                      </a:r>
                    </a:p>
                  </a:txBody>
                  <a:tcPr anchor="ctr"/>
                </a:tc>
                <a:extLst>
                  <a:ext uri="{0D108BD9-81ED-4DB2-BD59-A6C34878D82A}">
                    <a16:rowId xmlns:a16="http://schemas.microsoft.com/office/drawing/2014/main" val="1165455715"/>
                  </a:ext>
                </a:extLst>
              </a:tr>
              <a:tr h="0">
                <a:tc>
                  <a:txBody>
                    <a:bodyPr/>
                    <a:lstStyle/>
                    <a:p>
                      <a:pPr>
                        <a:buNone/>
                      </a:pPr>
                      <a:r>
                        <a:rPr lang="en-IN" b="1" dirty="0"/>
                        <a:t>Project Review II</a:t>
                      </a:r>
                      <a:endParaRPr lang="en-IN" dirty="0"/>
                    </a:p>
                  </a:txBody>
                  <a:tcPr anchor="ctr"/>
                </a:tc>
                <a:tc>
                  <a:txBody>
                    <a:bodyPr/>
                    <a:lstStyle/>
                    <a:p>
                      <a:pPr>
                        <a:buNone/>
                      </a:pPr>
                      <a:r>
                        <a:rPr lang="en-IN"/>
                        <a:t>Feb 2026</a:t>
                      </a:r>
                    </a:p>
                  </a:txBody>
                  <a:tcPr anchor="ctr"/>
                </a:tc>
                <a:extLst>
                  <a:ext uri="{0D108BD9-81ED-4DB2-BD59-A6C34878D82A}">
                    <a16:rowId xmlns:a16="http://schemas.microsoft.com/office/drawing/2014/main" val="1823018462"/>
                  </a:ext>
                </a:extLst>
              </a:tr>
              <a:tr h="0">
                <a:tc>
                  <a:txBody>
                    <a:bodyPr/>
                    <a:lstStyle/>
                    <a:p>
                      <a:pPr>
                        <a:buNone/>
                      </a:pPr>
                      <a:r>
                        <a:rPr lang="en-IN" b="1" dirty="0"/>
                        <a:t>Project Review III</a:t>
                      </a:r>
                      <a:endParaRPr lang="en-IN" dirty="0"/>
                    </a:p>
                  </a:txBody>
                  <a:tcPr anchor="ctr"/>
                </a:tc>
                <a:tc>
                  <a:txBody>
                    <a:bodyPr/>
                    <a:lstStyle/>
                    <a:p>
                      <a:pPr>
                        <a:buNone/>
                      </a:pPr>
                      <a:r>
                        <a:rPr lang="en-IN"/>
                        <a:t>March 2026</a:t>
                      </a:r>
                    </a:p>
                  </a:txBody>
                  <a:tcPr anchor="ctr"/>
                </a:tc>
                <a:extLst>
                  <a:ext uri="{0D108BD9-81ED-4DB2-BD59-A6C34878D82A}">
                    <a16:rowId xmlns:a16="http://schemas.microsoft.com/office/drawing/2014/main" val="741254678"/>
                  </a:ext>
                </a:extLst>
              </a:tr>
              <a:tr h="0">
                <a:tc>
                  <a:txBody>
                    <a:bodyPr/>
                    <a:lstStyle/>
                    <a:p>
                      <a:pPr>
                        <a:buNone/>
                      </a:pPr>
                      <a:r>
                        <a:rPr lang="en-IN" b="1" dirty="0"/>
                        <a:t>Project Expo / Conference Presentation</a:t>
                      </a:r>
                      <a:endParaRPr lang="en-IN" dirty="0"/>
                    </a:p>
                  </a:txBody>
                  <a:tcPr anchor="ctr"/>
                </a:tc>
                <a:tc>
                  <a:txBody>
                    <a:bodyPr/>
                    <a:lstStyle/>
                    <a:p>
                      <a:pPr>
                        <a:buNone/>
                      </a:pPr>
                      <a:r>
                        <a:rPr lang="en-IN" dirty="0"/>
                        <a:t>April 2026</a:t>
                      </a:r>
                    </a:p>
                  </a:txBody>
                  <a:tcPr anchor="ctr"/>
                </a:tc>
                <a:extLst>
                  <a:ext uri="{0D108BD9-81ED-4DB2-BD59-A6C34878D82A}">
                    <a16:rowId xmlns:a16="http://schemas.microsoft.com/office/drawing/2014/main" val="3034263946"/>
                  </a:ext>
                </a:extLst>
              </a:tr>
              <a:tr h="0">
                <a:tc>
                  <a:txBody>
                    <a:bodyPr/>
                    <a:lstStyle/>
                    <a:p>
                      <a:pPr>
                        <a:buNone/>
                      </a:pPr>
                      <a:r>
                        <a:rPr lang="en-IN" b="1" dirty="0"/>
                        <a:t>Project Viva</a:t>
                      </a:r>
                      <a:endParaRPr lang="en-IN" dirty="0"/>
                    </a:p>
                  </a:txBody>
                  <a:tcPr anchor="ctr"/>
                </a:tc>
                <a:tc>
                  <a:txBody>
                    <a:bodyPr/>
                    <a:lstStyle/>
                    <a:p>
                      <a:pPr>
                        <a:buNone/>
                      </a:pPr>
                      <a:r>
                        <a:rPr lang="en-IN" dirty="0"/>
                        <a:t>May 2026</a:t>
                      </a:r>
                    </a:p>
                  </a:txBody>
                  <a:tcPr anchor="ctr"/>
                </a:tc>
                <a:extLst>
                  <a:ext uri="{0D108BD9-81ED-4DB2-BD59-A6C34878D82A}">
                    <a16:rowId xmlns:a16="http://schemas.microsoft.com/office/drawing/2014/main" val="186401589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048644" name="Google Shape;164;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Conclusion</a:t>
            </a:r>
          </a:p>
        </p:txBody>
      </p:sp>
      <p:sp>
        <p:nvSpPr>
          <p:cNvPr id="1048645" name="Google Shape;165;p12"/>
          <p:cNvSpPr txBox="1">
            <a:spLocks noGrp="1"/>
          </p:cNvSpPr>
          <p:nvPr>
            <p:ph type="body" idx="1"/>
          </p:nvPr>
        </p:nvSpPr>
        <p:spPr>
          <a:xfrm>
            <a:off x="457200" y="1355836"/>
            <a:ext cx="8056179" cy="3492061"/>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IN" sz="1600" dirty="0"/>
              <a:t>Machine learning models, particularly tree‑based ensembles such as Random Forest and </a:t>
            </a:r>
            <a:r>
              <a:rPr lang="en-IN" sz="1600" dirty="0" err="1"/>
              <a:t>XGBoost</a:t>
            </a:r>
            <a:r>
              <a:rPr lang="en-IN" sz="1600" dirty="0"/>
              <a:t>, can provide accurate predictions of household/building energy use and associated CO₂ emissions using a relatively small set of easily collected features.​</a:t>
            </a:r>
          </a:p>
          <a:p>
            <a:pPr>
              <a:buFont typeface="Wingdings" panose="05000000000000000000" pitchFamily="2" charset="2"/>
              <a:buChar char="Ø"/>
            </a:pPr>
            <a:r>
              <a:rPr lang="en-IN" sz="1600" dirty="0"/>
              <a:t>Compared to simple regression baselines, ensemble models are expected to achieve lower MAE/RMSE and higher R², while still being trainable on a standard personal computer without GPU support.​</a:t>
            </a:r>
          </a:p>
          <a:p>
            <a:pPr>
              <a:buFont typeface="Wingdings" panose="05000000000000000000" pitchFamily="2" charset="2"/>
              <a:buChar char="Ø"/>
            </a:pPr>
            <a:r>
              <a:rPr lang="en-IN" sz="1600" dirty="0"/>
              <a:t>Feature‑importance analysis and SHAP‑based explanations can identify key drivers (e.g., floor area, appliance usage, fuel type), enabling interpretable insights rather than black‑box predictions.​</a:t>
            </a:r>
          </a:p>
          <a:p>
            <a:pPr>
              <a:buFont typeface="Wingdings" panose="05000000000000000000" pitchFamily="2" charset="2"/>
              <a:buChar char="Ø"/>
            </a:pPr>
            <a:r>
              <a:rPr lang="en-IN" sz="1600" dirty="0"/>
              <a:t>The prototype web dashboard demonstrates how research on ML‑based carbon/energy prediction can be translated into a practical SDG‑13 decision‑support tool that guides users toward lower‑emission choices.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048649" name="Google Shape;171;p13"/>
          <p:cNvSpPr txBox="1">
            <a:spLocks noGrp="1"/>
          </p:cNvSpPr>
          <p:nvPr>
            <p:ph type="title"/>
          </p:nvPr>
        </p:nvSpPr>
        <p:spPr>
          <a:xfrm>
            <a:off x="457200" y="-1195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Future Work</a:t>
            </a:r>
          </a:p>
        </p:txBody>
      </p:sp>
      <p:sp>
        <p:nvSpPr>
          <p:cNvPr id="2" name="Text Placeholder 1">
            <a:extLst>
              <a:ext uri="{FF2B5EF4-FFF2-40B4-BE49-F238E27FC236}">
                <a16:creationId xmlns:a16="http://schemas.microsoft.com/office/drawing/2014/main" id="{AD6C61DC-05BB-36D5-3EEE-D177E6511F9F}"/>
              </a:ext>
            </a:extLst>
          </p:cNvPr>
          <p:cNvSpPr>
            <a:spLocks noGrp="1" noChangeArrowheads="1"/>
          </p:cNvSpPr>
          <p:nvPr>
            <p:ph type="body" idx="1"/>
          </p:nvPr>
        </p:nvSpPr>
        <p:spPr bwMode="auto">
          <a:xfrm>
            <a:off x="733096" y="1023500"/>
            <a:ext cx="7677807" cy="5037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1600" dirty="0"/>
              <a:t>Richer and Localized Datasets</a:t>
            </a:r>
          </a:p>
          <a:p>
            <a:pPr lvl="1">
              <a:buFont typeface="Wingdings" panose="05000000000000000000" pitchFamily="2" charset="2"/>
              <a:buChar char="Ø"/>
            </a:pPr>
            <a:r>
              <a:rPr lang="en-IN" sz="1600" dirty="0"/>
              <a:t>Extend the dataset with locally collected data (e.g., from Indian households or campus buildings) to improve regional relevance and model generalization.​</a:t>
            </a:r>
          </a:p>
          <a:p>
            <a:pPr>
              <a:buFont typeface="Wingdings" panose="05000000000000000000" pitchFamily="2" charset="2"/>
              <a:buChar char="Ø"/>
            </a:pPr>
            <a:r>
              <a:rPr lang="en-IN" sz="1600" dirty="0"/>
              <a:t>Advanced Time‑Series and Hybrid Models</a:t>
            </a:r>
          </a:p>
          <a:p>
            <a:pPr lvl="1">
              <a:buFont typeface="Wingdings" panose="05000000000000000000" pitchFamily="2" charset="2"/>
              <a:buChar char="Ø"/>
            </a:pPr>
            <a:r>
              <a:rPr lang="en-IN" sz="1600" dirty="0"/>
              <a:t>Explore LSTM or CNN‑LSTM architectures and hybrid ensemble–DL models for finer‑grained (hourly/daily) energy and emission forecasts where sufficient time‑series data are available.​</a:t>
            </a:r>
          </a:p>
          <a:p>
            <a:pPr>
              <a:buFont typeface="Wingdings" panose="05000000000000000000" pitchFamily="2" charset="2"/>
              <a:buChar char="Ø"/>
            </a:pPr>
            <a:r>
              <a:rPr lang="en-IN" sz="1600" dirty="0"/>
              <a:t>Demand‑Side Management and Optimization</a:t>
            </a:r>
          </a:p>
          <a:p>
            <a:pPr lvl="1">
              <a:buFont typeface="Wingdings" panose="05000000000000000000" pitchFamily="2" charset="2"/>
              <a:buChar char="Ø"/>
            </a:pPr>
            <a:r>
              <a:rPr lang="en-IN" sz="1600" dirty="0"/>
              <a:t>Integrate basic optimization or recommendation modules that suggest optimal schedules or appliance combinations to minimize emissions under comfort/cost constraints.​</a:t>
            </a:r>
          </a:p>
          <a:p>
            <a:pPr>
              <a:buFont typeface="Wingdings" panose="05000000000000000000" pitchFamily="2" charset="2"/>
              <a:buChar char="Ø"/>
            </a:pPr>
            <a:r>
              <a:rPr lang="en-IN" sz="1600" dirty="0"/>
              <a:t>User Studies and </a:t>
            </a:r>
            <a:r>
              <a:rPr lang="en-IN" sz="1600" dirty="0" err="1"/>
              <a:t>Behavior</a:t>
            </a:r>
            <a:r>
              <a:rPr lang="en-IN" sz="1600" dirty="0"/>
              <a:t> Change Evaluation</a:t>
            </a:r>
          </a:p>
          <a:p>
            <a:pPr lvl="1">
              <a:buFont typeface="Wingdings" panose="05000000000000000000" pitchFamily="2" charset="2"/>
              <a:buChar char="Ø"/>
            </a:pPr>
            <a:r>
              <a:rPr lang="en-IN" sz="1600" dirty="0"/>
              <a:t>Conduct user studies to measure how the dashboard influences awareness and actual energy‑saving actions, strengthening the SDG‑13 impact evaluation.​</a:t>
            </a:r>
          </a:p>
          <a:p>
            <a:pPr>
              <a:buFont typeface="Wingdings" panose="05000000000000000000" pitchFamily="2" charset="2"/>
              <a:buChar char="Ø"/>
            </a:pPr>
            <a:r>
              <a:rPr lang="en-IN" sz="1600" dirty="0"/>
              <a:t>Integration with Real‑Time Data Sources</a:t>
            </a:r>
          </a:p>
          <a:p>
            <a:pPr lvl="1">
              <a:buFont typeface="Wingdings" panose="05000000000000000000" pitchFamily="2" charset="2"/>
              <a:buChar char="Ø"/>
            </a:pPr>
            <a:r>
              <a:rPr lang="en-IN" sz="1600" dirty="0"/>
              <a:t>Connect to IoT smart‑meter data or public APIs (e.g., grid emission factors, weather services) to enable near real‑time carbon tracking and dynamic recommendations.​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048654" name="Google Shape;178;p15"/>
          <p:cNvSpPr txBox="1">
            <a:spLocks noGrp="1"/>
          </p:cNvSpPr>
          <p:nvPr>
            <p:ph type="title"/>
          </p:nvPr>
        </p:nvSpPr>
        <p:spPr>
          <a:xfrm>
            <a:off x="457200" y="-8008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References</a:t>
            </a:r>
          </a:p>
        </p:txBody>
      </p:sp>
      <p:sp>
        <p:nvSpPr>
          <p:cNvPr id="1048655" name="Google Shape;179;p15"/>
          <p:cNvSpPr txBox="1">
            <a:spLocks noGrp="1"/>
          </p:cNvSpPr>
          <p:nvPr>
            <p:ph type="body" idx="1"/>
          </p:nvPr>
        </p:nvSpPr>
        <p:spPr>
          <a:xfrm>
            <a:off x="457200" y="819176"/>
            <a:ext cx="8229600" cy="4525963"/>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en-IN" sz="1600" dirty="0"/>
              <a:t>Machine Learning Applications for Carbon Emission Estimation (2025)</a:t>
            </a:r>
          </a:p>
          <a:p>
            <a:pPr lvl="1">
              <a:buFont typeface="Wingdings" panose="05000000000000000000" pitchFamily="2" charset="2"/>
              <a:buChar char="Ø"/>
            </a:pPr>
            <a:r>
              <a:rPr lang="en-IN" sz="1400" dirty="0"/>
              <a:t>Smith, J., &amp; Rodriguez, L. (2025). Machine learning applications for carbon emission estimation. </a:t>
            </a:r>
            <a:r>
              <a:rPr lang="en-IN" sz="1400" i="1" dirty="0"/>
              <a:t>Cleaner Engineering and Technology</a:t>
            </a:r>
            <a:r>
              <a:rPr lang="en-IN" sz="1400" dirty="0"/>
              <a:t>.​</a:t>
            </a:r>
          </a:p>
          <a:p>
            <a:pPr lvl="1">
              <a:buFont typeface="Wingdings" panose="05000000000000000000" pitchFamily="2" charset="2"/>
              <a:buChar char="Ø"/>
            </a:pPr>
            <a:r>
              <a:rPr lang="en-IN" sz="1400" dirty="0"/>
              <a:t>Contribution to This Project: Provides a comprehensive survey of ML methods for CO₂ estimation, helping to position this work within SDG‑13 research and justify the choice of regression and ensemble models as state‑of‑the‑art baselines.​</a:t>
            </a:r>
          </a:p>
          <a:p>
            <a:pPr>
              <a:buFont typeface="+mj-lt"/>
              <a:buAutoNum type="arabicPeriod"/>
            </a:pPr>
            <a:r>
              <a:rPr lang="en-IN" sz="1600" dirty="0"/>
              <a:t>Predicting Residential CO₂ Emissions (2025)</a:t>
            </a:r>
          </a:p>
          <a:p>
            <a:pPr lvl="1">
              <a:buFont typeface="Wingdings" panose="05000000000000000000" pitchFamily="2" charset="2"/>
              <a:buChar char="Ø"/>
            </a:pPr>
            <a:r>
              <a:rPr lang="en-IN" sz="1400" dirty="0"/>
              <a:t>Khan, A., et al. (2025). Predicting residential CO₂ emissions: Machine learning and deep learning approaches. </a:t>
            </a:r>
            <a:r>
              <a:rPr lang="en-IN" sz="1400" i="1" dirty="0"/>
              <a:t>Sustainability in Building and the Environment</a:t>
            </a:r>
            <a:r>
              <a:rPr lang="en-IN" sz="1400" dirty="0"/>
              <a:t>.​</a:t>
            </a:r>
          </a:p>
          <a:p>
            <a:pPr lvl="1">
              <a:buFont typeface="Wingdings" panose="05000000000000000000" pitchFamily="2" charset="2"/>
              <a:buChar char="Ø"/>
            </a:pPr>
            <a:r>
              <a:rPr lang="en-IN" sz="1400" dirty="0"/>
              <a:t>Contribution to This Project: Demonstrates that tree‑based ensembles and LSTM outperform traditional methods for daily residential emissions, supporting the focus on Random Forest/</a:t>
            </a:r>
            <a:r>
              <a:rPr lang="en-IN" sz="1400" dirty="0" err="1"/>
              <a:t>XGBoost</a:t>
            </a:r>
            <a:r>
              <a:rPr lang="en-IN" sz="1400" dirty="0"/>
              <a:t> and providing benchmark ranges for MAE, RMSE, and R².​</a:t>
            </a:r>
          </a:p>
          <a:p>
            <a:pPr>
              <a:buFont typeface="+mj-lt"/>
              <a:buAutoNum type="arabicPeriod"/>
            </a:pPr>
            <a:r>
              <a:rPr lang="en-IN" sz="1600" dirty="0"/>
              <a:t>Rural Residential Carbon Emissions and Spatial Forms (2025)</a:t>
            </a:r>
          </a:p>
          <a:p>
            <a:pPr lvl="1">
              <a:buFont typeface="Wingdings" panose="05000000000000000000" pitchFamily="2" charset="2"/>
              <a:buChar char="Ø"/>
            </a:pPr>
            <a:r>
              <a:rPr lang="en-IN" sz="1400" dirty="0"/>
              <a:t>Liu, H., et al. (2025). Machine learning models for predicting rural residential carbon emissions and optimising spatial forms. </a:t>
            </a:r>
            <a:r>
              <a:rPr lang="en-IN" sz="1400" i="1" dirty="0"/>
              <a:t>Scientific Reports</a:t>
            </a:r>
            <a:r>
              <a:rPr lang="en-IN" sz="1400" dirty="0"/>
              <a:t>.​</a:t>
            </a:r>
          </a:p>
          <a:p>
            <a:pPr lvl="1">
              <a:buFont typeface="Wingdings" panose="05000000000000000000" pitchFamily="2" charset="2"/>
              <a:buChar char="Ø"/>
            </a:pPr>
            <a:r>
              <a:rPr lang="en-IN" sz="1400" dirty="0"/>
              <a:t>Contribution to This Project: Shows how residential features and spatial patterns drive emissions, motivating inclusion of building and contextual attributes in the dataset and reinforcing the importance of interpretable feature‑importance analysis.</a:t>
            </a:r>
          </a:p>
          <a:p>
            <a:pPr marL="114300" indent="0">
              <a:buNone/>
            </a:pPr>
            <a:endParaRPr lang="en-IN" sz="1600" dirty="0"/>
          </a:p>
          <a:p>
            <a:pPr marL="571500" lvl="1" indent="0">
              <a:buNone/>
            </a:pPr>
            <a:endParaRPr lang="en-IN" sz="1400" dirty="0"/>
          </a:p>
          <a:p>
            <a:pPr lvl="1">
              <a:buFont typeface="Wingdings" panose="05000000000000000000" pitchFamily="2" charset="2"/>
              <a:buChar char="Ø"/>
            </a:pPr>
            <a:endParaRPr lang="en-IN" sz="1400" dirty="0"/>
          </a:p>
          <a:p>
            <a:pPr marL="571500" lvl="1" indent="0">
              <a:buNone/>
            </a:pPr>
            <a:br>
              <a:rPr lang="en-IN" sz="1200" dirty="0"/>
            </a:br>
            <a:endParaRPr lang="en-US" altLang="en-US"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66A4B9-FD94-67AF-AADA-0783D969A035}"/>
              </a:ext>
            </a:extLst>
          </p:cNvPr>
          <p:cNvSpPr>
            <a:spLocks noGrp="1"/>
          </p:cNvSpPr>
          <p:nvPr>
            <p:ph type="body" idx="1"/>
          </p:nvPr>
        </p:nvSpPr>
        <p:spPr>
          <a:xfrm>
            <a:off x="457199" y="465081"/>
            <a:ext cx="8363607" cy="6392919"/>
          </a:xfrm>
        </p:spPr>
        <p:txBody>
          <a:bodyPr>
            <a:normAutofit/>
          </a:bodyPr>
          <a:lstStyle/>
          <a:p>
            <a:pPr>
              <a:buFont typeface="+mj-lt"/>
              <a:buAutoNum type="arabicPeriod" startAt="4"/>
            </a:pPr>
            <a:r>
              <a:rPr lang="en-IN" sz="1600" dirty="0"/>
              <a:t>Interpretable ML Framework for Residential Energy and Carbon (2025)</a:t>
            </a:r>
          </a:p>
          <a:p>
            <a:pPr lvl="1">
              <a:buFont typeface="Wingdings" panose="05000000000000000000" pitchFamily="2" charset="2"/>
              <a:buChar char="Ø"/>
            </a:pPr>
            <a:r>
              <a:rPr lang="en-IN" sz="1400" dirty="0"/>
              <a:t>Chen, L., et al. (2025). An interpretable machine learning framework for residential building energy and carbon emissions. </a:t>
            </a:r>
            <a:r>
              <a:rPr lang="en-IN" sz="1400" i="1" dirty="0"/>
              <a:t>Scientific Reports.</a:t>
            </a:r>
          </a:p>
          <a:p>
            <a:pPr lvl="1">
              <a:buFont typeface="Wingdings" panose="05000000000000000000" pitchFamily="2" charset="2"/>
              <a:buChar char="Ø"/>
            </a:pPr>
            <a:r>
              <a:rPr lang="en-IN" sz="1400" dirty="0"/>
              <a:t>Contribution to This Project: Introduces SHAP‑based interpretability for tree models, guiding the use of feature‑importance and explanation plots to make the proposed system transparent for end users.​</a:t>
            </a:r>
          </a:p>
          <a:p>
            <a:pPr>
              <a:buFont typeface="+mj-lt"/>
              <a:buAutoNum type="arabicPeriod" startAt="4"/>
            </a:pPr>
            <a:r>
              <a:rPr lang="en-IN" sz="1600" dirty="0"/>
              <a:t>Daily CO₂ Emissions Prediction with ML and DL (2025)</a:t>
            </a:r>
          </a:p>
          <a:p>
            <a:pPr lvl="1">
              <a:buFont typeface="Wingdings" panose="05000000000000000000" pitchFamily="2" charset="2"/>
              <a:buChar char="Ø"/>
            </a:pPr>
            <a:r>
              <a:rPr lang="en-IN" sz="1400" dirty="0"/>
              <a:t>Ye, X., et al. (2025). An examination of daily CO₂ emissions prediction through machine learning and deep learning models. </a:t>
            </a:r>
            <a:r>
              <a:rPr lang="en-IN" sz="1400" i="1" dirty="0"/>
              <a:t>Environmental Research Letters</a:t>
            </a:r>
            <a:r>
              <a:rPr lang="en-IN" sz="1400" dirty="0"/>
              <a:t>.​</a:t>
            </a:r>
          </a:p>
          <a:p>
            <a:pPr lvl="1">
              <a:buFont typeface="Wingdings" panose="05000000000000000000" pitchFamily="2" charset="2"/>
              <a:buChar char="Ø"/>
            </a:pPr>
            <a:r>
              <a:rPr lang="en-IN" sz="1400" dirty="0"/>
              <a:t>Contribution to This Project: Provides evidence that ensembles and deep networks outperform classical time‑series models at national scale, supporting the use of similar architectures and evaluation metrics in this work.</a:t>
            </a:r>
          </a:p>
          <a:p>
            <a:pPr>
              <a:buFont typeface="+mj-lt"/>
              <a:buAutoNum type="arabicPeriod" startAt="4"/>
            </a:pPr>
            <a:r>
              <a:rPr lang="en-IN" sz="1600" dirty="0"/>
              <a:t>Building Energy Consumption Prediction Using Deep Learning(2024)</a:t>
            </a:r>
          </a:p>
          <a:p>
            <a:pPr lvl="1">
              <a:buFont typeface="Wingdings" panose="05000000000000000000" pitchFamily="2" charset="2"/>
              <a:buChar char="Ø"/>
            </a:pPr>
            <a:r>
              <a:rPr lang="en-IN" sz="1400" dirty="0"/>
              <a:t>Davis, M., et al. (2024). Building energy consumption prediction using deep learning. </a:t>
            </a:r>
            <a:r>
              <a:rPr lang="en-IN" sz="1400" i="1" dirty="0"/>
              <a:t>Applied Energy</a:t>
            </a:r>
            <a:r>
              <a:rPr lang="en-IN" sz="1400" dirty="0"/>
              <a:t>.​</a:t>
            </a:r>
          </a:p>
          <a:p>
            <a:pPr lvl="1">
              <a:buFont typeface="Wingdings" panose="05000000000000000000" pitchFamily="2" charset="2"/>
              <a:buChar char="Ø"/>
            </a:pPr>
            <a:r>
              <a:rPr lang="en-IN" sz="1400" dirty="0"/>
              <a:t>Contribution to This Project: </a:t>
            </a:r>
            <a:r>
              <a:rPr lang="en-IN" sz="1500" dirty="0"/>
              <a:t>Establishes deep neural networks as strong baselines for building energy prediction, justifying the inclusion of MLP‑type models alongside tree ensembles.</a:t>
            </a:r>
            <a:endParaRPr lang="en-IN" sz="1400" dirty="0"/>
          </a:p>
          <a:p>
            <a:pPr marL="571500" indent="-457200">
              <a:buFont typeface="+mj-lt"/>
              <a:buAutoNum type="arabicPeriod" startAt="4"/>
            </a:pPr>
            <a:r>
              <a:rPr lang="en-IN" sz="1900" dirty="0"/>
              <a:t>Intelligent Prediction Method of Building Energy Use (2024)</a:t>
            </a:r>
          </a:p>
          <a:p>
            <a:pPr lvl="1">
              <a:buFont typeface="Wingdings" panose="05000000000000000000" pitchFamily="2" charset="2"/>
              <a:buChar char="Ø"/>
            </a:pPr>
            <a:r>
              <a:rPr lang="en-IN" sz="1400" dirty="0"/>
              <a:t>Wang, H., et al. (2024). Intelligent prediction method of building energy consumption based on deep learning. </a:t>
            </a:r>
            <a:r>
              <a:rPr lang="en-IN" sz="1400" i="1" dirty="0"/>
              <a:t>International Journal of Photoenergy</a:t>
            </a:r>
            <a:r>
              <a:rPr lang="en-IN" sz="1400" dirty="0"/>
              <a:t>.​</a:t>
            </a:r>
          </a:p>
          <a:p>
            <a:pPr lvl="1">
              <a:buFont typeface="Wingdings" panose="05000000000000000000" pitchFamily="2" charset="2"/>
              <a:buChar char="Ø"/>
            </a:pPr>
            <a:r>
              <a:rPr lang="en-IN" sz="1400" dirty="0"/>
              <a:t>Contribution to This Project: Shows that improved LSTM architectures can reduce MAE and RMSE for building‑level load forecasting, motivating the exploration of sequence models when temporal data are available.</a:t>
            </a:r>
          </a:p>
          <a:p>
            <a:pPr lvl="1">
              <a:buFont typeface="Wingdings" panose="05000000000000000000" pitchFamily="2" charset="2"/>
              <a:buChar char="Ø"/>
            </a:pPr>
            <a:endParaRPr lang="en-IN" sz="1400" dirty="0"/>
          </a:p>
        </p:txBody>
      </p:sp>
    </p:spTree>
    <p:extLst>
      <p:ext uri="{BB962C8B-B14F-4D97-AF65-F5344CB8AC3E}">
        <p14:creationId xmlns:p14="http://schemas.microsoft.com/office/powerpoint/2010/main" val="3224090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3D9C0C-BF0A-6970-3628-2AFA8EA8808B}"/>
              </a:ext>
            </a:extLst>
          </p:cNvPr>
          <p:cNvSpPr>
            <a:spLocks noGrp="1"/>
          </p:cNvSpPr>
          <p:nvPr>
            <p:ph type="body" idx="1"/>
          </p:nvPr>
        </p:nvSpPr>
        <p:spPr>
          <a:xfrm>
            <a:off x="457200" y="910653"/>
            <a:ext cx="8229600" cy="4525963"/>
          </a:xfrm>
        </p:spPr>
        <p:txBody>
          <a:bodyPr>
            <a:noAutofit/>
          </a:bodyPr>
          <a:lstStyle/>
          <a:p>
            <a:pPr>
              <a:buFont typeface="+mj-lt"/>
              <a:buAutoNum type="arabicPeriod" startAt="8"/>
            </a:pPr>
            <a:r>
              <a:rPr lang="en-IN" sz="1600" dirty="0"/>
              <a:t>Building Energy Consumption Prediction Based on Machine Learning(2024)</a:t>
            </a:r>
          </a:p>
          <a:p>
            <a:pPr lvl="1">
              <a:buFont typeface="Wingdings" panose="05000000000000000000" pitchFamily="2" charset="2"/>
              <a:buChar char="Ø"/>
            </a:pPr>
            <a:r>
              <a:rPr lang="en-IN" sz="1400" dirty="0"/>
              <a:t>Li, F., et al. (2024). Machine learning algorithms for predicting energy consumption in buildings. </a:t>
            </a:r>
            <a:r>
              <a:rPr lang="en-IN" sz="1400" i="1" dirty="0"/>
              <a:t>Energy Reports.</a:t>
            </a:r>
            <a:r>
              <a:rPr lang="en-IN" sz="1400" dirty="0"/>
              <a:t>​</a:t>
            </a:r>
          </a:p>
          <a:p>
            <a:pPr lvl="1">
              <a:buFont typeface="Wingdings" panose="05000000000000000000" pitchFamily="2" charset="2"/>
              <a:buChar char="Ø"/>
            </a:pPr>
            <a:r>
              <a:rPr lang="en-IN" sz="1400" dirty="0"/>
              <a:t>Contribution to This Project: Confirms that Random Forest and Gradient Boosting provide strong accuracy and generalisation for building‑level loads, supporting their use as primary baselines.</a:t>
            </a:r>
            <a:endParaRPr lang="en-IN" sz="1600" dirty="0"/>
          </a:p>
          <a:p>
            <a:pPr>
              <a:buFont typeface="+mj-lt"/>
              <a:buAutoNum type="arabicPeriod" startAt="8"/>
            </a:pPr>
            <a:r>
              <a:rPr lang="en-IN" sz="1600" dirty="0"/>
              <a:t>Deep Learning Framework for Building Energy Consumption Forecasting (2024)</a:t>
            </a:r>
          </a:p>
          <a:p>
            <a:pPr lvl="1">
              <a:buFont typeface="Wingdings" panose="05000000000000000000" pitchFamily="2" charset="2"/>
              <a:buChar char="Ø"/>
            </a:pPr>
            <a:r>
              <a:rPr lang="en-IN" sz="1400" dirty="0"/>
              <a:t>Zhang, K., et al. (2024). A deep learning framework for building energy consumption forecasting. </a:t>
            </a:r>
            <a:r>
              <a:rPr lang="en-IN" sz="1400" i="1" dirty="0"/>
              <a:t>Renewable &amp; Sustainable Energy Reviews</a:t>
            </a:r>
            <a:r>
              <a:rPr lang="en-IN" sz="1400" dirty="0"/>
              <a:t>.​</a:t>
            </a:r>
          </a:p>
          <a:p>
            <a:pPr lvl="1">
              <a:buFont typeface="Wingdings" panose="05000000000000000000" pitchFamily="2" charset="2"/>
              <a:buChar char="Ø"/>
            </a:pPr>
            <a:r>
              <a:rPr lang="en-IN" sz="1400" dirty="0"/>
              <a:t>Contribution to This Project: Demonstrates that CNN–LSTM hybrids can outperform standard LSTM and SVR on high‑frequency building data, informing the choice of more advanced DL baselines for rich time‑series datasets.</a:t>
            </a:r>
            <a:endParaRPr lang="en-IN" sz="1800" dirty="0"/>
          </a:p>
          <a:p>
            <a:pPr>
              <a:buFont typeface="+mj-lt"/>
              <a:buAutoNum type="arabicPeriod" startAt="8"/>
            </a:pPr>
            <a:r>
              <a:rPr lang="en-IN" sz="1600" dirty="0"/>
              <a:t>Forecasting CO₂ Emission in the US Using ML (2023)</a:t>
            </a:r>
          </a:p>
          <a:p>
            <a:pPr lvl="1">
              <a:buFont typeface="Wingdings" panose="05000000000000000000" pitchFamily="2" charset="2"/>
              <a:buChar char="Ø"/>
            </a:pPr>
            <a:r>
              <a:rPr lang="en-IN" sz="1400" dirty="0"/>
              <a:t>Ahmed, R., et al. (2023). Forecasting CO₂ emission in the US using machine learning methods. </a:t>
            </a:r>
            <a:r>
              <a:rPr lang="en-IN" sz="1400" i="1" dirty="0"/>
              <a:t>Journal of Data Science and Intelligent Systems</a:t>
            </a:r>
            <a:r>
              <a:rPr lang="en-IN" sz="1400" dirty="0"/>
              <a:t>.​</a:t>
            </a:r>
          </a:p>
          <a:p>
            <a:pPr lvl="1">
              <a:buFont typeface="Wingdings" panose="05000000000000000000" pitchFamily="2" charset="2"/>
              <a:buChar char="Ø"/>
            </a:pPr>
            <a:r>
              <a:rPr lang="en-IN" sz="1400" dirty="0"/>
              <a:t>Contribution to This Project: Provides macro‑scale evidence that ensemble methods improve CO₂ forecasts, helping to calibrate expectations about performance and evaluation metrics at aggregate levels.​</a:t>
            </a:r>
          </a:p>
          <a:p>
            <a:pPr>
              <a:buFont typeface="+mj-lt"/>
              <a:buAutoNum type="arabicPeriod" startAt="8"/>
            </a:pPr>
            <a:r>
              <a:rPr lang="en-IN" sz="1600" dirty="0"/>
              <a:t>Building Energy Prediction Models and Related Uncertainties (2022)</a:t>
            </a:r>
          </a:p>
          <a:p>
            <a:pPr lvl="1">
              <a:buFont typeface="Wingdings" panose="05000000000000000000" pitchFamily="2" charset="2"/>
              <a:buChar char="Ø"/>
            </a:pPr>
            <a:r>
              <a:rPr lang="en-IN" sz="1400" dirty="0"/>
              <a:t>White, J., &amp; Jones, P. (2022). Building energy prediction models and related uncertainties. </a:t>
            </a:r>
            <a:r>
              <a:rPr lang="en-IN" sz="1400" i="1" dirty="0"/>
              <a:t>Buildings.</a:t>
            </a:r>
          </a:p>
          <a:p>
            <a:pPr lvl="1">
              <a:buFont typeface="Wingdings" panose="05000000000000000000" pitchFamily="2" charset="2"/>
              <a:buChar char="Ø"/>
            </a:pPr>
            <a:r>
              <a:rPr lang="en-IN" sz="1400" dirty="0"/>
              <a:t>Contribution to This Project: Offers a taxonomy of prediction models and discusses uncertainty quantification, informing the validation strategy and error reporting for the proposed household‑level tool.</a:t>
            </a:r>
            <a:endParaRPr lang="en-IN" sz="1000" dirty="0"/>
          </a:p>
        </p:txBody>
      </p:sp>
    </p:spTree>
    <p:extLst>
      <p:ext uri="{BB962C8B-B14F-4D97-AF65-F5344CB8AC3E}">
        <p14:creationId xmlns:p14="http://schemas.microsoft.com/office/powerpoint/2010/main" val="3471422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AD72-9937-162F-672A-AA0E2A12CB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2C01C38-0763-0BBF-4D59-FDC5A863EDFC}"/>
              </a:ext>
            </a:extLst>
          </p:cNvPr>
          <p:cNvSpPr>
            <a:spLocks noGrp="1"/>
          </p:cNvSpPr>
          <p:nvPr>
            <p:ph type="body" idx="1"/>
          </p:nvPr>
        </p:nvSpPr>
        <p:spPr>
          <a:xfrm>
            <a:off x="457200" y="558384"/>
            <a:ext cx="8229600" cy="4525963"/>
          </a:xfrm>
        </p:spPr>
        <p:txBody>
          <a:bodyPr>
            <a:noAutofit/>
          </a:bodyPr>
          <a:lstStyle/>
          <a:p>
            <a:pPr>
              <a:buFont typeface="+mj-lt"/>
              <a:buAutoNum type="arabicPeriod" startAt="12"/>
            </a:pPr>
            <a:r>
              <a:rPr lang="en-IN" sz="1600" dirty="0"/>
              <a:t>Energy Consumption Prediction by Using Machine Learning (2021)</a:t>
            </a:r>
          </a:p>
          <a:p>
            <a:pPr lvl="1">
              <a:buFont typeface="Wingdings" panose="05000000000000000000" pitchFamily="2" charset="2"/>
              <a:buChar char="Ø"/>
            </a:pPr>
            <a:r>
              <a:rPr lang="en-IN" sz="1400" dirty="0"/>
              <a:t>Shapi, M., et al. (2021). Energy consumption prediction by using machine learning. </a:t>
            </a:r>
            <a:r>
              <a:rPr lang="en-IN" sz="1400" i="1" dirty="0"/>
              <a:t>Energy Reports.</a:t>
            </a:r>
          </a:p>
          <a:p>
            <a:pPr lvl="1">
              <a:buFont typeface="Wingdings" panose="05000000000000000000" pitchFamily="2" charset="2"/>
              <a:buChar char="Ø"/>
            </a:pPr>
            <a:r>
              <a:rPr lang="en-IN" sz="1400" dirty="0"/>
              <a:t>Contribution to This Project: Provides a practical example of deploying regression and tree‑based models using cloud platforms, motivating future deployment of the proposed models as a web‑based decision‑support tool.​</a:t>
            </a:r>
          </a:p>
          <a:p>
            <a:pPr>
              <a:buFont typeface="+mj-lt"/>
              <a:buAutoNum type="arabicPeriod" startAt="12"/>
            </a:pPr>
            <a:r>
              <a:rPr lang="en-IN" sz="1600" dirty="0"/>
              <a:t>A State‑of‑the‑Art Review on the Prediction of Building Energy Consumption (2020)</a:t>
            </a:r>
          </a:p>
          <a:p>
            <a:pPr lvl="1">
              <a:buFont typeface="Wingdings" panose="05000000000000000000" pitchFamily="2" charset="2"/>
              <a:buChar char="Ø"/>
            </a:pPr>
            <a:r>
              <a:rPr lang="en-IN" sz="1400" dirty="0"/>
              <a:t>Li, X., et al. (2020). A state‑of‑the‑art review on the prediction of building energy consumption. </a:t>
            </a:r>
            <a:r>
              <a:rPr lang="en-IN" sz="1400" i="1" dirty="0"/>
              <a:t>Building Services Engineering Research &amp; Technology.</a:t>
            </a:r>
            <a:r>
              <a:rPr lang="en-IN" sz="1400" dirty="0"/>
              <a:t>​</a:t>
            </a:r>
          </a:p>
          <a:p>
            <a:pPr lvl="1">
              <a:buFont typeface="Wingdings" panose="05000000000000000000" pitchFamily="2" charset="2"/>
              <a:buChar char="Ø"/>
            </a:pPr>
            <a:r>
              <a:rPr lang="en-IN" sz="1400" dirty="0"/>
              <a:t>Contribution to This Project: Provides a comprehensive overview of data‑driven building energy forecasting methods (regression, ANN, SVM, fuzzy, grey and hybrid evolutionary models), helping to frame the historical development of prediction techniques and to justify focusing on modern ML/DL and hybrid approaches in this work.</a:t>
            </a:r>
            <a:endParaRPr lang="en-IN" sz="1800" dirty="0"/>
          </a:p>
          <a:p>
            <a:pPr>
              <a:buFont typeface="+mj-lt"/>
              <a:buAutoNum type="arabicPeriod" startAt="12"/>
            </a:pPr>
            <a:r>
              <a:rPr lang="en-IN" sz="1600" dirty="0" err="1"/>
              <a:t>Modeling</a:t>
            </a:r>
            <a:r>
              <a:rPr lang="en-IN" sz="1600" dirty="0"/>
              <a:t> and Forecasting Building Energy Consumption (2019)</a:t>
            </a:r>
          </a:p>
          <a:p>
            <a:pPr lvl="1">
              <a:buFont typeface="Wingdings" panose="05000000000000000000" pitchFamily="2" charset="2"/>
              <a:buChar char="Ø"/>
            </a:pPr>
            <a:r>
              <a:rPr lang="en-IN" sz="1400" dirty="0"/>
              <a:t>Bourdeau, M., Zhai, X., </a:t>
            </a:r>
            <a:r>
              <a:rPr lang="en-IN" sz="1400" dirty="0" err="1"/>
              <a:t>Nefzaoui</a:t>
            </a:r>
            <a:r>
              <a:rPr lang="en-IN" sz="1400" dirty="0"/>
              <a:t>, E., Guo, X., &amp; Chatellier, P. (2019). </a:t>
            </a:r>
            <a:r>
              <a:rPr lang="en-IN" sz="1400" dirty="0" err="1"/>
              <a:t>Modeling</a:t>
            </a:r>
            <a:r>
              <a:rPr lang="en-IN" sz="1400" dirty="0"/>
              <a:t> and forecasting building energy consumption: A review of data‑driven techniques. </a:t>
            </a:r>
            <a:r>
              <a:rPr lang="en-IN" sz="1400" i="1" dirty="0"/>
              <a:t>Sustainable Cities and Society, 48</a:t>
            </a:r>
            <a:r>
              <a:rPr lang="en-IN" sz="1400" dirty="0"/>
              <a:t>, 101533.</a:t>
            </a:r>
          </a:p>
          <a:p>
            <a:pPr lvl="1">
              <a:buFont typeface="Wingdings" panose="05000000000000000000" pitchFamily="2" charset="2"/>
              <a:buChar char="Ø"/>
            </a:pPr>
            <a:r>
              <a:rPr lang="en-IN" sz="1400" dirty="0"/>
              <a:t> Contribution to This Project: Provides an earlier comprehensive review of ANN, SVM, Gaussian processes and ensemble methods for building‑scale prediction, giving historical context and helping to justify the shift toward more advanced deep‑learning and interpretable models.​​</a:t>
            </a:r>
          </a:p>
          <a:p>
            <a:pPr>
              <a:buFont typeface="+mj-lt"/>
              <a:buAutoNum type="arabicPeriod" startAt="12"/>
            </a:pPr>
            <a:r>
              <a:rPr lang="en-IN" sz="1600" dirty="0"/>
              <a:t>A Machine Learning Framework for Energy Consumption in Buildings (2019)</a:t>
            </a:r>
          </a:p>
          <a:p>
            <a:pPr lvl="1">
              <a:buFont typeface="Wingdings" panose="05000000000000000000" pitchFamily="2" charset="2"/>
              <a:buChar char="Ø"/>
            </a:pPr>
            <a:r>
              <a:rPr lang="en-IN" sz="1400" dirty="0" err="1"/>
              <a:t>Madhusudanan</a:t>
            </a:r>
            <a:r>
              <a:rPr lang="en-IN" sz="1400" dirty="0"/>
              <a:t>, V. (2019). A machine learning framework for energy consumption in buildings (Master’s thesis). Clemson University.​</a:t>
            </a:r>
          </a:p>
          <a:p>
            <a:pPr lvl="1">
              <a:buFont typeface="Wingdings" panose="05000000000000000000" pitchFamily="2" charset="2"/>
              <a:buChar char="Ø"/>
            </a:pPr>
            <a:r>
              <a:rPr lang="en-IN" sz="1400" dirty="0"/>
              <a:t>Contribution to This Project: Presents a complete ML pipeline—from data collection and preprocessing to model comparison and evaluation—for building energy prediction, inspiring the end‑to‑end pipeline design in this work.</a:t>
            </a:r>
            <a:endParaRPr lang="en-IN" sz="1000" dirty="0"/>
          </a:p>
        </p:txBody>
      </p:sp>
    </p:spTree>
    <p:extLst>
      <p:ext uri="{BB962C8B-B14F-4D97-AF65-F5344CB8AC3E}">
        <p14:creationId xmlns:p14="http://schemas.microsoft.com/office/powerpoint/2010/main" val="10421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D0F2-E25F-9879-1C7E-1C4CE6ECE9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2218C7-ECDA-74F7-C48E-973B24D4F353}"/>
              </a:ext>
            </a:extLst>
          </p:cNvPr>
          <p:cNvSpPr>
            <a:spLocks noGrp="1"/>
          </p:cNvSpPr>
          <p:nvPr>
            <p:ph type="body" idx="1"/>
          </p:nvPr>
        </p:nvSpPr>
        <p:spPr>
          <a:xfrm>
            <a:off x="457200" y="558384"/>
            <a:ext cx="8229600" cy="4525963"/>
          </a:xfrm>
        </p:spPr>
        <p:txBody>
          <a:bodyPr>
            <a:noAutofit/>
          </a:bodyPr>
          <a:lstStyle/>
          <a:p>
            <a:pPr>
              <a:buFont typeface="+mj-lt"/>
              <a:buAutoNum type="arabicPeriod" startAt="16"/>
            </a:pPr>
            <a:r>
              <a:rPr lang="en-IN" sz="1600" dirty="0"/>
              <a:t>Evolutionary Deep Learning‑Based Energy Consumption Prediction for Buildings (2018)</a:t>
            </a:r>
          </a:p>
          <a:p>
            <a:pPr lvl="1">
              <a:buFont typeface="Wingdings" panose="05000000000000000000" pitchFamily="2" charset="2"/>
              <a:buChar char="Ø"/>
            </a:pPr>
            <a:r>
              <a:rPr lang="en-IN" sz="1400" dirty="0" err="1"/>
              <a:t>Almalaq</a:t>
            </a:r>
            <a:r>
              <a:rPr lang="en-IN" sz="1400" dirty="0"/>
              <a:t>, A., &amp; Edwards, G. (2018). Evolutionary deep learning‑based energy consumption prediction for buildings. In </a:t>
            </a:r>
            <a:r>
              <a:rPr lang="en-IN" sz="1400" i="1" dirty="0"/>
              <a:t>IEEE</a:t>
            </a:r>
            <a:r>
              <a:rPr lang="en-IN" sz="1400" dirty="0"/>
              <a:t> proceedings.​</a:t>
            </a:r>
          </a:p>
          <a:p>
            <a:pPr lvl="1">
              <a:buFont typeface="Wingdings" panose="05000000000000000000" pitchFamily="2" charset="2"/>
              <a:buChar char="Ø"/>
            </a:pPr>
            <a:r>
              <a:rPr lang="en-IN" sz="1400" dirty="0"/>
              <a:t>Contribution to This Project: Shows that combining genetic algorithms with LSTM improves building load‑forecast accuracy, motivating the consideration of hyperparameter optimisation and hybrid approaches in the proposed models.​</a:t>
            </a:r>
          </a:p>
          <a:p>
            <a:pPr>
              <a:buFont typeface="+mj-lt"/>
              <a:buAutoNum type="arabicPeriod" startAt="16"/>
            </a:pPr>
            <a:r>
              <a:rPr lang="en-IN" sz="1600" dirty="0"/>
              <a:t>Application of Deep Learning Model in Building Energy Consumption Prediction (2016)</a:t>
            </a:r>
          </a:p>
          <a:p>
            <a:pPr lvl="1">
              <a:buFont typeface="Wingdings" panose="05000000000000000000" pitchFamily="2" charset="2"/>
              <a:buChar char="Ø"/>
            </a:pPr>
            <a:r>
              <a:rPr lang="en-IN" sz="1400" dirty="0"/>
              <a:t>Rahman, M., &amp; Ali, S. (2016). Application of deep learning model in building energy consumption prediction. </a:t>
            </a:r>
            <a:r>
              <a:rPr lang="en-IN" sz="1400" i="1" dirty="0"/>
              <a:t>Computational Intelligence and Neuroscience.</a:t>
            </a:r>
          </a:p>
          <a:p>
            <a:pPr lvl="1">
              <a:buFont typeface="Wingdings" panose="05000000000000000000" pitchFamily="2" charset="2"/>
              <a:buChar char="Ø"/>
            </a:pPr>
            <a:r>
              <a:rPr lang="en-IN" sz="1400" dirty="0"/>
              <a:t>Contribution to This Project: Serves as one of the earliest applications of deep learning to building energy prediction, helping to justify the move from purely statistical models to ANN‑based approaches for annual consumption estimation.</a:t>
            </a:r>
            <a:endParaRPr lang="en-IN" sz="1800" dirty="0"/>
          </a:p>
        </p:txBody>
      </p:sp>
    </p:spTree>
    <p:extLst>
      <p:ext uri="{BB962C8B-B14F-4D97-AF65-F5344CB8AC3E}">
        <p14:creationId xmlns:p14="http://schemas.microsoft.com/office/powerpoint/2010/main" val="2903277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659" name="Google Shape;184;p16"/>
          <p:cNvSpPr txBox="1">
            <a:spLocks noGrp="1"/>
          </p:cNvSpPr>
          <p:nvPr>
            <p:ph type="body" idx="1"/>
          </p:nvPr>
        </p:nvSpPr>
        <p:spPr>
          <a:xfrm>
            <a:off x="457200" y="714356"/>
            <a:ext cx="8229600" cy="5411807"/>
          </a:xfrm>
          <a:prstGeom prst="rect">
            <a:avLst/>
          </a:prstGeom>
          <a:noFill/>
          <a:ln>
            <a:noFill/>
          </a:ln>
        </p:spPr>
        <p:txBody>
          <a:bodyPr spcFirstLastPara="1" wrap="square" lIns="91425" tIns="45700" rIns="91425" bIns="45700" anchor="t" anchorCtr="0">
            <a:normAutofit/>
          </a:bodyPr>
          <a:lstStyle/>
          <a:p>
            <a:pPr marL="342900" lvl="0" indent="-342900" algn="ctr" rtl="0">
              <a:spcBef>
                <a:spcPts val="0"/>
              </a:spcBef>
              <a:spcAft>
                <a:spcPts val="0"/>
              </a:spcAft>
              <a:buClr>
                <a:schemeClr val="dk1"/>
              </a:buClr>
              <a:buSzPts val="8800"/>
              <a:buNone/>
            </a:pPr>
            <a:endParaRPr sz="8800"/>
          </a:p>
          <a:p>
            <a:pPr marL="342900" lvl="0" indent="-342900" algn="ctr" rtl="0">
              <a:spcBef>
                <a:spcPts val="1760"/>
              </a:spcBef>
              <a:spcAft>
                <a:spcPts val="0"/>
              </a:spcAft>
              <a:buClr>
                <a:schemeClr val="dk1"/>
              </a:buClr>
              <a:buSzPts val="8800"/>
              <a:buNone/>
            </a:pPr>
            <a:r>
              <a:rPr lang="en-IN" sz="8800"/>
              <a:t>Thank You</a:t>
            </a:r>
            <a:endParaRPr sz="8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FDFC1-EA31-8B0F-42FC-A448493E345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7982A0E-D807-DE77-228D-6BC63E0DBA66}"/>
              </a:ext>
            </a:extLst>
          </p:cNvPr>
          <p:cNvSpPr>
            <a:spLocks noGrp="1"/>
          </p:cNvSpPr>
          <p:nvPr>
            <p:ph type="body" idx="1"/>
          </p:nvPr>
        </p:nvSpPr>
        <p:spPr/>
        <p:txBody>
          <a:bodyPr/>
          <a:lstStyle/>
          <a:p>
            <a:r>
              <a:rPr lang="en-IN" dirty="0"/>
              <a:t>Download the 6 recent papers 2025,2024- Identify the base paper!</a:t>
            </a:r>
          </a:p>
          <a:p>
            <a:r>
              <a:rPr lang="en-IN" dirty="0"/>
              <a:t>Formulate the problem statement based on the limitations based on 6 to 7 recent papers that should address the limitations</a:t>
            </a:r>
          </a:p>
          <a:p>
            <a:r>
              <a:rPr lang="en-IN" dirty="0"/>
              <a:t>Identify the algo (ML or DL based on the research, New tech needs to be introduced.)</a:t>
            </a:r>
          </a:p>
        </p:txBody>
      </p:sp>
    </p:spTree>
    <p:extLst>
      <p:ext uri="{BB962C8B-B14F-4D97-AF65-F5344CB8AC3E}">
        <p14:creationId xmlns:p14="http://schemas.microsoft.com/office/powerpoint/2010/main" val="126819114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11136</TotalTime>
  <Words>5827</Words>
  <Application>Microsoft Office PowerPoint</Application>
  <PresentationFormat>On-screen Show (4:3)</PresentationFormat>
  <Paragraphs>405</Paragraphs>
  <Slides>33</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fkGroteskNeue</vt:lpstr>
      <vt:lpstr>Google Sans Text</vt:lpstr>
      <vt:lpstr>Arial</vt:lpstr>
      <vt:lpstr>Calibri</vt:lpstr>
      <vt:lpstr>Wingdings</vt:lpstr>
      <vt:lpstr>Office Theme</vt:lpstr>
      <vt:lpstr>Machine Learning–Based Carbon Emission and Energy‑Use Prediction for Sustainable Living</vt:lpstr>
      <vt:lpstr>Abstract</vt:lpstr>
      <vt:lpstr>Introduction</vt:lpstr>
      <vt:lpstr>Motivation</vt:lpstr>
      <vt:lpstr>Literature Review</vt:lpstr>
      <vt:lpstr>PowerPoint Presentation</vt:lpstr>
      <vt:lpstr>PowerPoint Presentation</vt:lpstr>
      <vt:lpstr>PowerPoint Presentation</vt:lpstr>
      <vt:lpstr>Challenges and Limitations of the existing systems</vt:lpstr>
      <vt:lpstr>Objectives</vt:lpstr>
      <vt:lpstr>Innovation idea of the project</vt:lpstr>
      <vt:lpstr>Scope and application of the project</vt:lpstr>
      <vt:lpstr>PowerPoint Presentation</vt:lpstr>
      <vt:lpstr>Problem Statement</vt:lpstr>
      <vt:lpstr>DataSet Description</vt:lpstr>
      <vt:lpstr>Proposed Methodology</vt:lpstr>
      <vt:lpstr>PowerPoint Presentation</vt:lpstr>
      <vt:lpstr>Architecture Diagram</vt:lpstr>
      <vt:lpstr>Algorithm Used</vt:lpstr>
      <vt:lpstr>Implementation Details</vt:lpstr>
      <vt:lpstr>Preliminary Results</vt:lpstr>
      <vt:lpstr>PowerPoint Presentation</vt:lpstr>
      <vt:lpstr>Performance Metrics</vt:lpstr>
      <vt:lpstr>Paper Submission Details</vt:lpstr>
      <vt:lpstr>Conclusion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Sornalakshmi</dc:creator>
  <cp:lastModifiedBy>Bittu Sarkar</cp:lastModifiedBy>
  <cp:revision>33</cp:revision>
  <cp:lastPrinted>2025-12-09T13:20:46Z</cp:lastPrinted>
  <dcterms:created xsi:type="dcterms:W3CDTF">2022-11-10T02:44:23Z</dcterms:created>
  <dcterms:modified xsi:type="dcterms:W3CDTF">2026-02-01T05:55:23Z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eead33b01d494a42927b4f4c922177a3</vt:lpwstr>
  </property>
</Properties>
</file>