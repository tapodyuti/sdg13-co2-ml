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4"/>
  </p:notesMasterIdLst>
  <p:sldIdLst>
    <p:sldId id="290" r:id="rId2"/>
    <p:sldId id="291" r:id="rId3"/>
    <p:sldId id="317" r:id="rId4"/>
    <p:sldId id="326" r:id="rId5"/>
    <p:sldId id="294" r:id="rId6"/>
    <p:sldId id="308" r:id="rId7"/>
    <p:sldId id="309" r:id="rId8"/>
    <p:sldId id="322" r:id="rId9"/>
    <p:sldId id="327" r:id="rId10"/>
    <p:sldId id="295" r:id="rId11"/>
    <p:sldId id="328" r:id="rId12"/>
    <p:sldId id="329" r:id="rId13"/>
    <p:sldId id="331" r:id="rId14"/>
    <p:sldId id="330" r:id="rId15"/>
    <p:sldId id="332" r:id="rId16"/>
    <p:sldId id="333" r:id="rId17"/>
    <p:sldId id="334" r:id="rId18"/>
    <p:sldId id="335" r:id="rId19"/>
    <p:sldId id="336" r:id="rId20"/>
    <p:sldId id="337" r:id="rId21"/>
    <p:sldId id="338" r:id="rId22"/>
    <p:sldId id="339" r:id="rId23"/>
    <p:sldId id="325" r:id="rId24"/>
    <p:sldId id="340" r:id="rId25"/>
    <p:sldId id="341" r:id="rId26"/>
    <p:sldId id="302" r:id="rId27"/>
    <p:sldId id="305" r:id="rId28"/>
    <p:sldId id="316" r:id="rId29"/>
    <p:sldId id="319" r:id="rId30"/>
    <p:sldId id="323" r:id="rId31"/>
    <p:sldId id="324" r:id="rId32"/>
    <p:sldId id="306" r:id="rId3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7DEB74D-5D1D-4487-B39A-8B87FFD09FBC}">
          <p14:sldIdLst>
            <p14:sldId id="290"/>
            <p14:sldId id="291"/>
            <p14:sldId id="317"/>
            <p14:sldId id="326"/>
            <p14:sldId id="294"/>
            <p14:sldId id="308"/>
            <p14:sldId id="309"/>
            <p14:sldId id="322"/>
            <p14:sldId id="327"/>
            <p14:sldId id="295"/>
            <p14:sldId id="328"/>
            <p14:sldId id="329"/>
            <p14:sldId id="331"/>
            <p14:sldId id="330"/>
            <p14:sldId id="332"/>
            <p14:sldId id="333"/>
            <p14:sldId id="334"/>
            <p14:sldId id="335"/>
            <p14:sldId id="336"/>
            <p14:sldId id="337"/>
            <p14:sldId id="338"/>
            <p14:sldId id="339"/>
            <p14:sldId id="325"/>
            <p14:sldId id="340"/>
            <p14:sldId id="341"/>
            <p14:sldId id="302"/>
            <p14:sldId id="305"/>
            <p14:sldId id="316"/>
            <p14:sldId id="319"/>
            <p14:sldId id="323"/>
            <p14:sldId id="324"/>
            <p14:sldId id="306"/>
          </p14:sldIdLst>
        </p14:section>
        <p14:section name="Untitled Section" id="{1C259BAC-84F5-4A12-9E1B-8CCA9136C22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ttu Sarkar" initials="BS" lastIdx="1" clrIdx="0">
    <p:extLst>
      <p:ext uri="{19B8F6BF-5375-455C-9EA6-DF929625EA0E}">
        <p15:presenceInfo xmlns:p15="http://schemas.microsoft.com/office/powerpoint/2012/main" userId="e49cf8b0b5cd84e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A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D6EE30B-C028-4789-B6E4-0BFFCBE8230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Style>
        <a:tcBdr/>
        <a:fill>
          <a:solidFill>
            <a:srgbClr val="CACACA"/>
          </a:solidFill>
        </a:fill>
      </a:tcStyle>
    </a:band1H>
    <a:band2H>
      <a:tcStyle>
        <a:tcBdr/>
      </a:tcStyle>
    </a:band2H>
    <a:band1V>
      <a:tcStyle>
        <a:tcBdr/>
        <a:fill>
          <a:solidFill>
            <a:srgbClr val="CACACA"/>
          </a:solidFill>
        </a:fill>
      </a:tcStyle>
    </a:band1V>
    <a:band2V>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Style>
        <a:tcBdr/>
      </a:tcStyle>
    </a:seCell>
    <a:swCell>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Style>
        <a:tcBdr/>
      </a:tcStyle>
    </a:neCell>
    <a:nwCell>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2107"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710"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1"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2"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3"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714"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715"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1048585" name="Google Shape;8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86"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1048588"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589"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p>
        </p:txBody>
      </p:sp>
      <p:sp>
        <p:nvSpPr>
          <p:cNvPr id="1048590" name="Google Shape;92;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2E3D3A98-A47C-C520-5EC2-6133A16873A5}"/>
            </a:ext>
          </a:extLst>
        </p:cNvPr>
        <p:cNvGrpSpPr/>
        <p:nvPr/>
      </p:nvGrpSpPr>
      <p:grpSpPr>
        <a:xfrm>
          <a:off x="0" y="0"/>
          <a:ext cx="0" cy="0"/>
          <a:chOff x="0" y="0"/>
          <a:chExt cx="0" cy="0"/>
        </a:xfrm>
      </p:grpSpPr>
      <p:sp>
        <p:nvSpPr>
          <p:cNvPr id="1048588" name="Google Shape;90;p2:notes">
            <a:extLst>
              <a:ext uri="{FF2B5EF4-FFF2-40B4-BE49-F238E27FC236}">
                <a16:creationId xmlns:a16="http://schemas.microsoft.com/office/drawing/2014/main" id="{6506DF98-164F-9B1C-9E7C-B8784AF26BF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589" name="Google Shape;91;p2:notes">
            <a:extLst>
              <a:ext uri="{FF2B5EF4-FFF2-40B4-BE49-F238E27FC236}">
                <a16:creationId xmlns:a16="http://schemas.microsoft.com/office/drawing/2014/main" id="{4D4C663E-9F6A-9001-2A42-E021D97A6C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Depict your overall work abstract as a diagram</a:t>
            </a:r>
          </a:p>
        </p:txBody>
      </p:sp>
      <p:sp>
        <p:nvSpPr>
          <p:cNvPr id="1048590" name="Google Shape;92;p2:notes">
            <a:extLst>
              <a:ext uri="{FF2B5EF4-FFF2-40B4-BE49-F238E27FC236}">
                <a16:creationId xmlns:a16="http://schemas.microsoft.com/office/drawing/2014/main" id="{1195B4C4-1555-7BD0-FA7E-9A8033E0824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lang="en-IN"/>
          </a:p>
        </p:txBody>
      </p:sp>
    </p:spTree>
    <p:extLst>
      <p:ext uri="{BB962C8B-B14F-4D97-AF65-F5344CB8AC3E}">
        <p14:creationId xmlns:p14="http://schemas.microsoft.com/office/powerpoint/2010/main" val="2351320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8606"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F1440320-73E9-BFC9-AF76-531A15BF0D53}"/>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51F6AC64-475F-97A9-620B-91828F6DC62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C0F7EAFF-F9CC-2AA2-E469-9B26F771E2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D95F3B60-7654-17F2-724F-F2092BF6546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lang="en-IN"/>
          </a:p>
        </p:txBody>
      </p:sp>
    </p:spTree>
    <p:extLst>
      <p:ext uri="{BB962C8B-B14F-4D97-AF65-F5344CB8AC3E}">
        <p14:creationId xmlns:p14="http://schemas.microsoft.com/office/powerpoint/2010/main" val="293252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8ECE28E-FA2E-8F17-0544-939B21787519}"/>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9C308FA1-883D-2F5C-2C2E-C567A8C2373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59310AE9-60F3-3B65-3855-B8DF4DC43B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9CEBA2E8-0F0F-6515-5D9F-8F28F571AF7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lang="en-IN"/>
          </a:p>
        </p:txBody>
      </p:sp>
    </p:spTree>
    <p:extLst>
      <p:ext uri="{BB962C8B-B14F-4D97-AF65-F5344CB8AC3E}">
        <p14:creationId xmlns:p14="http://schemas.microsoft.com/office/powerpoint/2010/main" val="433825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E88016E7-1058-1AD0-AAC2-40CF11D67427}"/>
            </a:ext>
          </a:extLst>
        </p:cNvPr>
        <p:cNvGrpSpPr/>
        <p:nvPr/>
      </p:nvGrpSpPr>
      <p:grpSpPr>
        <a:xfrm>
          <a:off x="0" y="0"/>
          <a:ext cx="0" cy="0"/>
          <a:chOff x="0" y="0"/>
          <a:chExt cx="0" cy="0"/>
        </a:xfrm>
      </p:grpSpPr>
      <p:sp>
        <p:nvSpPr>
          <p:cNvPr id="1048606" name="Google Shape;104;p4:notes">
            <a:extLst>
              <a:ext uri="{FF2B5EF4-FFF2-40B4-BE49-F238E27FC236}">
                <a16:creationId xmlns:a16="http://schemas.microsoft.com/office/drawing/2014/main" id="{EE01273E-9797-3BEA-CC84-4E7508B2ED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7" name="Google Shape;105;p4:notes">
            <a:extLst>
              <a:ext uri="{FF2B5EF4-FFF2-40B4-BE49-F238E27FC236}">
                <a16:creationId xmlns:a16="http://schemas.microsoft.com/office/drawing/2014/main" id="{085AA2AB-FCB6-F05B-EE3A-7E03AD236C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In a tabular format, brief 5 references, which are closely related to your work. Citations and references should be in IEEE format</a:t>
            </a:r>
          </a:p>
        </p:txBody>
      </p:sp>
      <p:sp>
        <p:nvSpPr>
          <p:cNvPr id="1048608" name="Google Shape;106;p4:notes">
            <a:extLst>
              <a:ext uri="{FF2B5EF4-FFF2-40B4-BE49-F238E27FC236}">
                <a16:creationId xmlns:a16="http://schemas.microsoft.com/office/drawing/2014/main" id="{44100DC7-4C62-3C21-0F05-0FADEC29442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lang="en-IN"/>
          </a:p>
        </p:txBody>
      </p:sp>
    </p:spTree>
    <p:extLst>
      <p:ext uri="{BB962C8B-B14F-4D97-AF65-F5344CB8AC3E}">
        <p14:creationId xmlns:p14="http://schemas.microsoft.com/office/powerpoint/2010/main" val="3848394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0486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12" name="Google Shape;11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down the objectives of your project as bulleted points. Max 3.</a:t>
            </a:r>
          </a:p>
          <a:p>
            <a:pPr marL="0" lvl="0" indent="0" algn="l" rtl="0">
              <a:spcBef>
                <a:spcPts val="0"/>
              </a:spcBef>
              <a:spcAft>
                <a:spcPts val="0"/>
              </a:spcAft>
              <a:buNone/>
            </a:pPr>
            <a:r>
              <a:rPr lang="en-IN"/>
              <a:t>This includes the whole work of Phase I and Phase II</a:t>
            </a:r>
          </a:p>
        </p:txBody>
      </p:sp>
      <p:sp>
        <p:nvSpPr>
          <p:cNvPr id="1048613" name="Google Shape;113;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048641" name="Google Shape;15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2" name="Google Shape;1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Screen shot of acknowledgement proof</a:t>
            </a:r>
          </a:p>
          <a:p>
            <a:pPr marL="0" lvl="0" indent="0" algn="l" rtl="0">
              <a:spcBef>
                <a:spcPts val="0"/>
              </a:spcBef>
              <a:spcAft>
                <a:spcPts val="0"/>
              </a:spcAft>
              <a:buNone/>
            </a:pPr>
            <a:r>
              <a:rPr lang="en-IN"/>
              <a:t>Conference/Journal details</a:t>
            </a:r>
          </a:p>
        </p:txBody>
      </p:sp>
      <p:sp>
        <p:nvSpPr>
          <p:cNvPr id="1048643" name="Google Shape;15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26</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048656"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57" name="Google Shape;17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a:t>List the references In IEEE format. Minimum 5, Max 10.</a:t>
            </a:r>
          </a:p>
        </p:txBody>
      </p:sp>
      <p:sp>
        <p:nvSpPr>
          <p:cNvPr id="1048658" name="Google Shape;17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27</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048660" name="Google Shape;18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61" name="Google Shape;18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048581"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82"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pic>
        <p:nvPicPr>
          <p:cNvPr id="2097152" name="Google Shape;95;p1" descr="pngfind.com-kingpin-png-4152286 (1).png"/>
          <p:cNvPicPr preferRelativeResize="0">
            <a:picLocks/>
          </p:cNvPicPr>
          <p:nvPr userDrawn="1"/>
        </p:nvPicPr>
        <p:blipFill rotWithShape="1">
          <a:blip r:embed="rId2">
            <a:alphaModFix/>
          </a:blip>
          <a:srcRect/>
          <a:stretch>
            <a:fillRect/>
          </a:stretch>
        </p:blipFill>
        <p:spPr>
          <a:xfrm>
            <a:off x="7411914" y="92267"/>
            <a:ext cx="1638301" cy="716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1048595" name="Google Shape;2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96" name="Google Shape;2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597" name="Google Shape;2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8" name="Google Shape;2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9" name="Google Shape;2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pic>
        <p:nvPicPr>
          <p:cNvPr id="2097153" name="Google Shape;95;p1" descr="pngfind.com-kingpin-png-4152286 (1).png"/>
          <p:cNvPicPr preferRelativeResize="0">
            <a:picLocks/>
          </p:cNvPicPr>
          <p:nvPr userDrawn="1"/>
        </p:nvPicPr>
        <p:blipFill rotWithShape="1">
          <a:blip r:embed="rId2">
            <a:alphaModFix/>
          </a:blip>
          <a:srcRect/>
          <a:stretch>
            <a:fillRect/>
          </a:stretch>
        </p:blipFill>
        <p:spPr>
          <a:xfrm>
            <a:off x="7578968" y="28424"/>
            <a:ext cx="1565031" cy="56945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1048682" name="Google Shape;27;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3" name="Google Shape;28;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48684" name="Google Shape;2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5" name="Google Shape;3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6" name="Google Shape;3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1048687" name="Google Shape;3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8" name="Google Shape;34;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48689" name="Google Shape;35;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48690" name="Google Shape;3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1" name="Google Shape;3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2" name="Google Shape;3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1048693" name="Google Shape;4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4" name="Google Shape;41;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48695" name="Google Shape;42;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48696" name="Google Shape;43;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48697" name="Google Shape;44;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48698" name="Google Shape;4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9" name="Google Shape;4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0" name="Google Shape;4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1048662" name="Google Shape;4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3" name="Google Shape;5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4" name="Google Shape;5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5" name="Google Shape;5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1048701" name="Google Shape;54;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2" name="Google Shape;55;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3" name="Google Shape;56;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1048704" name="Google Shape;58;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5" name="Google Shape;59;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048706" name="Google Shape;60;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48707" name="Google Shape;6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8" name="Google Shape;6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9" name="Google Shape;6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1048671" name="Google Shape;65;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2" name="Google Shape;66;p26"/>
          <p:cNvSpPr>
            <a:spLocks noGrp="1"/>
          </p:cNvSpPr>
          <p:nvPr>
            <p:ph type="pic" idx="2"/>
          </p:nvPr>
        </p:nvSpPr>
        <p:spPr>
          <a:xfrm>
            <a:off x="1792288" y="612775"/>
            <a:ext cx="5486400" cy="4114800"/>
          </a:xfrm>
          <a:prstGeom prst="rect">
            <a:avLst/>
          </a:prstGeom>
          <a:noFill/>
          <a:ln>
            <a:noFill/>
          </a:ln>
        </p:spPr>
      </p:sp>
      <p:sp>
        <p:nvSpPr>
          <p:cNvPr id="1048673" name="Google Shape;67;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48674" name="Google Shape;6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5" name="Google Shape;6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6" name="Google Shape;7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1048677" name="Google Shape;7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8" name="Google Shape;73;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679" name="Google Shape;7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0" name="Google Shape;7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81" name="Google Shape;7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1048666" name="Google Shape;78;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67" name="Google Shape;79;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a:endParaRPr/>
          </a:p>
        </p:txBody>
      </p:sp>
      <p:sp>
        <p:nvSpPr>
          <p:cNvPr id="1048668" name="Google Shape;8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69" name="Google Shape;8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0" name="Google Shape;8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77"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48578"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79"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80"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048583" name="Google Shape;87;p1"/>
          <p:cNvSpPr txBox="1">
            <a:spLocks noGrp="1"/>
          </p:cNvSpPr>
          <p:nvPr>
            <p:ph type="ctrTitle"/>
          </p:nvPr>
        </p:nvSpPr>
        <p:spPr>
          <a:xfrm>
            <a:off x="303486" y="1448324"/>
            <a:ext cx="8537028" cy="1470025"/>
          </a:xfrm>
          <a:prstGeom prst="rect">
            <a:avLst/>
          </a:prstGeom>
          <a:noFill/>
          <a:ln>
            <a:noFill/>
          </a:ln>
        </p:spPr>
        <p:txBody>
          <a:bodyPr spcFirstLastPara="1" wrap="square" lIns="91425" tIns="45700" rIns="91425" bIns="45700" anchor="ctr" anchorCtr="0">
            <a:noAutofit/>
          </a:bodyPr>
          <a:lstStyle/>
          <a:p>
            <a:pPr lvl="0">
              <a:buSzPts val="4400"/>
            </a:pPr>
            <a:r>
              <a:rPr lang="en-IN" sz="3000" b="1" dirty="0">
                <a:solidFill>
                  <a:srgbClr val="FF0000"/>
                </a:solidFill>
              </a:rPr>
              <a:t>Machine Learning–Based Carbon Emission and Energy‑Use Prediction for Sustainable Living</a:t>
            </a:r>
            <a:endParaRPr sz="30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48584" name="Google Shape;88;p1"/>
          <p:cNvSpPr txBox="1">
            <a:spLocks noGrp="1"/>
          </p:cNvSpPr>
          <p:nvPr>
            <p:ph type="subTitle" idx="1"/>
          </p:nvPr>
        </p:nvSpPr>
        <p:spPr>
          <a:xfrm>
            <a:off x="1371600" y="4384544"/>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IN" b="1" dirty="0">
                <a:solidFill>
                  <a:srgbClr val="222AD0"/>
                </a:solidFill>
              </a:rPr>
              <a:t>First Review</a:t>
            </a:r>
            <a:br>
              <a:rPr lang="en-IN" b="1" dirty="0">
                <a:solidFill>
                  <a:srgbClr val="222AD0"/>
                </a:solidFill>
              </a:rPr>
            </a:br>
            <a:r>
              <a:rPr lang="en-IN" b="1" dirty="0">
                <a:solidFill>
                  <a:srgbClr val="222AD0"/>
                </a:solidFill>
              </a:rPr>
              <a:t>Guide: Dr. </a:t>
            </a:r>
            <a:r>
              <a:rPr lang="en-IN" b="1" dirty="0" err="1">
                <a:solidFill>
                  <a:srgbClr val="222AD0"/>
                </a:solidFill>
              </a:rPr>
              <a:t>Pitchaimanikam</a:t>
            </a:r>
            <a:endParaRPr lang="en-IN" b="1" dirty="0">
              <a:solidFill>
                <a:srgbClr val="222AD0"/>
              </a:solidFill>
            </a:endParaRPr>
          </a:p>
          <a:p>
            <a:pPr marL="0" lvl="0" indent="0">
              <a:spcBef>
                <a:spcPts val="0"/>
              </a:spcBef>
            </a:pPr>
            <a:r>
              <a:rPr lang="en-IN" b="1" dirty="0">
                <a:solidFill>
                  <a:srgbClr val="222AD0"/>
                </a:solidFill>
              </a:rPr>
              <a:t>Date: 1/2/26</a:t>
            </a:r>
            <a:endParaRPr b="1" dirty="0">
              <a:solidFill>
                <a:srgbClr val="222AD0"/>
              </a:solidFill>
            </a:endParaRPr>
          </a:p>
        </p:txBody>
      </p:sp>
      <p:sp>
        <p:nvSpPr>
          <p:cNvPr id="3" name="TextBox 2">
            <a:extLst>
              <a:ext uri="{FF2B5EF4-FFF2-40B4-BE49-F238E27FC236}">
                <a16:creationId xmlns:a16="http://schemas.microsoft.com/office/drawing/2014/main" id="{333E81C7-F785-FE89-640F-025A7CD96C58}"/>
              </a:ext>
            </a:extLst>
          </p:cNvPr>
          <p:cNvSpPr txBox="1"/>
          <p:nvPr/>
        </p:nvSpPr>
        <p:spPr>
          <a:xfrm>
            <a:off x="2908738" y="3143615"/>
            <a:ext cx="3326523" cy="1015663"/>
          </a:xfrm>
          <a:prstGeom prst="rect">
            <a:avLst/>
          </a:prstGeom>
          <a:noFill/>
        </p:spPr>
        <p:txBody>
          <a:bodyPr wrap="square">
            <a:spAutoFit/>
          </a:bodyPr>
          <a:lstStyle/>
          <a:p>
            <a:pPr algn="ctr"/>
            <a:r>
              <a:rPr lang="en-IN" sz="3000" b="1" dirty="0">
                <a:solidFill>
                  <a:srgbClr val="222AD0"/>
                </a:solidFill>
                <a:latin typeface="Calibri" panose="020F0502020204030204" pitchFamily="34" charset="0"/>
                <a:ea typeface="Calibri" panose="020F0502020204030204" pitchFamily="34" charset="0"/>
                <a:cs typeface="Calibri" panose="020F0502020204030204" pitchFamily="34" charset="0"/>
              </a:rPr>
              <a:t>Tapodyuti Sarkar RA2412049015096 </a:t>
            </a:r>
            <a:endParaRPr lang="en-IN" sz="3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1048587" name="Google Shape;94;p2"/>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Abstract</a:t>
            </a:r>
            <a:endParaRPr dirty="0"/>
          </a:p>
        </p:txBody>
      </p:sp>
      <p:sp>
        <p:nvSpPr>
          <p:cNvPr id="7" name="TextBox 6">
            <a:extLst>
              <a:ext uri="{FF2B5EF4-FFF2-40B4-BE49-F238E27FC236}">
                <a16:creationId xmlns:a16="http://schemas.microsoft.com/office/drawing/2014/main" id="{049C297D-907A-F602-BA09-3D42BD3925B1}"/>
              </a:ext>
            </a:extLst>
          </p:cNvPr>
          <p:cNvSpPr txBox="1"/>
          <p:nvPr/>
        </p:nvSpPr>
        <p:spPr>
          <a:xfrm>
            <a:off x="654269" y="1219200"/>
            <a:ext cx="7922172" cy="4770537"/>
          </a:xfrm>
          <a:prstGeom prst="rect">
            <a:avLst/>
          </a:prstGeom>
          <a:noFill/>
        </p:spPr>
        <p:txBody>
          <a:bodyPr wrap="square">
            <a:spAutoFit/>
          </a:bodyPr>
          <a:lstStyle/>
          <a:p>
            <a:r>
              <a:rPr lang="en-IN" sz="1600" dirty="0"/>
              <a:t>Climate change driven by rising carbon dioxide emissions is a critical global threat, directly addressed by SDG‑13: Climate Action. Residential and small‑scale energy use accounts for a significant share of global emissions, yet individuals lack simple, data‑driven tools to understand and reduce their footprint.​</a:t>
            </a:r>
            <a:br>
              <a:rPr lang="en-IN" sz="1600" dirty="0"/>
            </a:br>
            <a:endParaRPr lang="en-IN" sz="1600" dirty="0"/>
          </a:p>
          <a:p>
            <a:r>
              <a:rPr lang="en-IN" sz="1600" dirty="0"/>
              <a:t>This project proposes a machine learning framework to predict household energy consumption and associated CO₂ emissions from easily measurable features such as appliance usage, fuel type, and basic building characteristics. The system compares multiple models (Linear Regression, Random Forest, Gradient Boosting, </a:t>
            </a:r>
            <a:r>
              <a:rPr lang="en-IN" sz="1600" dirty="0" err="1"/>
              <a:t>XGBoost</a:t>
            </a:r>
            <a:r>
              <a:rPr lang="en-IN" sz="1600" dirty="0"/>
              <a:t>, and a lightweight neural network) using metrics like MAE, RMSE, and R², and selects the best model to power a user‑facing web dashboard.​</a:t>
            </a:r>
            <a:br>
              <a:rPr lang="en-IN" sz="1600" dirty="0"/>
            </a:br>
            <a:endParaRPr lang="en-IN" sz="1600" dirty="0"/>
          </a:p>
          <a:p>
            <a:r>
              <a:rPr lang="en-IN" sz="1600" dirty="0"/>
              <a:t>The expected outcome is an interpretable prediction tool that not only estimates emissions but also provides feature‑based insights and simple what‑if scenarios (e.g., switching fuels, reducing usage) to support practical decarbonization decisions at the household level. This contributes to SDG‑13 by translating ML‑based carbon‑emission research into an accessible decision‑support application.</a:t>
            </a:r>
          </a:p>
          <a:p>
            <a:br>
              <a:rPr lang="en-IN" sz="1600" dirty="0"/>
            </a:br>
            <a:endParaRPr lang="en-US" altLang="en-US" sz="16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E4320B5B-A59E-66AD-EAA9-E95448271982}"/>
            </a:ext>
          </a:extLst>
        </p:cNvPr>
        <p:cNvGrpSpPr/>
        <p:nvPr/>
      </p:nvGrpSpPr>
      <p:grpSpPr>
        <a:xfrm>
          <a:off x="0" y="0"/>
          <a:ext cx="0" cy="0"/>
          <a:chOff x="0" y="0"/>
          <a:chExt cx="0" cy="0"/>
        </a:xfrm>
      </p:grpSpPr>
      <p:sp>
        <p:nvSpPr>
          <p:cNvPr id="1048587" name="Google Shape;94;p2">
            <a:extLst>
              <a:ext uri="{FF2B5EF4-FFF2-40B4-BE49-F238E27FC236}">
                <a16:creationId xmlns:a16="http://schemas.microsoft.com/office/drawing/2014/main" id="{121AB52B-15B5-0056-854B-0F629A71FB30}"/>
              </a:ext>
            </a:extLst>
          </p:cNvPr>
          <p:cNvSpPr txBox="1">
            <a:spLocks noGrp="1"/>
          </p:cNvSpPr>
          <p:nvPr>
            <p:ph type="ctrTitle"/>
          </p:nvPr>
        </p:nvSpPr>
        <p:spPr>
          <a:xfrm>
            <a:off x="172616" y="484200"/>
            <a:ext cx="7772400" cy="735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IN" dirty="0"/>
              <a:t>Introduction</a:t>
            </a:r>
            <a:endParaRPr dirty="0"/>
          </a:p>
        </p:txBody>
      </p:sp>
      <p:sp>
        <p:nvSpPr>
          <p:cNvPr id="7" name="TextBox 6">
            <a:extLst>
              <a:ext uri="{FF2B5EF4-FFF2-40B4-BE49-F238E27FC236}">
                <a16:creationId xmlns:a16="http://schemas.microsoft.com/office/drawing/2014/main" id="{6A74D879-A2E4-A91D-9194-ACE2CD8E196E}"/>
              </a:ext>
            </a:extLst>
          </p:cNvPr>
          <p:cNvSpPr txBox="1"/>
          <p:nvPr/>
        </p:nvSpPr>
        <p:spPr>
          <a:xfrm>
            <a:off x="654269" y="1219200"/>
            <a:ext cx="7922172" cy="4278094"/>
          </a:xfrm>
          <a:prstGeom prst="rect">
            <a:avLst/>
          </a:prstGeom>
          <a:noFill/>
        </p:spPr>
        <p:txBody>
          <a:bodyPr wrap="square">
            <a:spAutoFit/>
          </a:bodyPr>
          <a:lstStyle/>
          <a:p>
            <a:pPr marL="285750" indent="-285750">
              <a:buFont typeface="Wingdings" panose="05000000000000000000" pitchFamily="2" charset="2"/>
              <a:buChar char="Ø"/>
            </a:pPr>
            <a:r>
              <a:rPr lang="en-IN" sz="1600" dirty="0"/>
              <a:t>Climate change is driven largely by human greenhouse gas emissions, with carbon dioxide from energy use as the dominant contributor.​</a:t>
            </a:r>
          </a:p>
          <a:p>
            <a:pPr marL="285750" indent="-285750">
              <a:buFont typeface="Wingdings" panose="05000000000000000000" pitchFamily="2" charset="2"/>
              <a:buChar char="Ø"/>
            </a:pPr>
            <a:r>
              <a:rPr lang="en-IN" sz="1600" dirty="0"/>
              <a:t>Residential and commercial buildings account for a substantial share of global final energy consumption and related CO₂ emissions, directly linking this sector to SDG‑13: Climate Action.​</a:t>
            </a:r>
          </a:p>
          <a:p>
            <a:pPr marL="285750" indent="-285750">
              <a:buFont typeface="Wingdings" panose="05000000000000000000" pitchFamily="2" charset="2"/>
              <a:buChar char="Ø"/>
            </a:pPr>
            <a:r>
              <a:rPr lang="en-IN" sz="1600" dirty="0"/>
              <a:t>In many regions, especially developing countries, increasing adoption of energy‑intensive appliances and rising electricity/LPG use intensify the climate impact of households.​</a:t>
            </a:r>
          </a:p>
          <a:p>
            <a:pPr marL="285750" indent="-285750">
              <a:buFont typeface="Wingdings" panose="05000000000000000000" pitchFamily="2" charset="2"/>
              <a:buChar char="Ø"/>
            </a:pPr>
            <a:r>
              <a:rPr lang="en-IN" sz="1600" dirty="0"/>
              <a:t>Most individuals lack quantitative tools that convert their everyday energy‑use patterns into estimated emissions and clear, personalized reduction strategies, creating a gap between awareness and action.​</a:t>
            </a:r>
          </a:p>
          <a:p>
            <a:pPr marL="285750" indent="-285750">
              <a:buFont typeface="Wingdings" panose="05000000000000000000" pitchFamily="2" charset="2"/>
              <a:buChar char="Ø"/>
            </a:pPr>
            <a:r>
              <a:rPr lang="en-IN" sz="1600" dirty="0"/>
              <a:t>Recent research shows that machine learning models can accurately predict building energy demand and CO₂ emissions from features such as floor area, building type, climate zone, and usage profiles.​</a:t>
            </a:r>
          </a:p>
          <a:p>
            <a:pPr marL="285750" indent="-285750">
              <a:buFont typeface="Wingdings" panose="05000000000000000000" pitchFamily="2" charset="2"/>
              <a:buChar char="Ø"/>
            </a:pPr>
            <a:r>
              <a:rPr lang="en-IN" sz="1600" dirty="0"/>
              <a:t>However, many existing ML solutions focus on aggregate forecasts (city or national level) or act as complex black boxes, limiting their usefulness for household‑level decision making and practical climate‑action planning.​</a:t>
            </a:r>
          </a:p>
        </p:txBody>
      </p:sp>
    </p:spTree>
    <p:extLst>
      <p:ext uri="{BB962C8B-B14F-4D97-AF65-F5344CB8AC3E}">
        <p14:creationId xmlns:p14="http://schemas.microsoft.com/office/powerpoint/2010/main" val="317778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FF86-7BCB-DC10-240E-E2E91948629A}"/>
              </a:ext>
            </a:extLst>
          </p:cNvPr>
          <p:cNvSpPr>
            <a:spLocks noGrp="1"/>
          </p:cNvSpPr>
          <p:nvPr>
            <p:ph type="title"/>
          </p:nvPr>
        </p:nvSpPr>
        <p:spPr/>
        <p:txBody>
          <a:bodyPr/>
          <a:lstStyle/>
          <a:p>
            <a:r>
              <a:rPr lang="en-IN" dirty="0"/>
              <a:t>Motivation</a:t>
            </a:r>
          </a:p>
        </p:txBody>
      </p:sp>
      <p:sp>
        <p:nvSpPr>
          <p:cNvPr id="3" name="Text Placeholder 2">
            <a:extLst>
              <a:ext uri="{FF2B5EF4-FFF2-40B4-BE49-F238E27FC236}">
                <a16:creationId xmlns:a16="http://schemas.microsoft.com/office/drawing/2014/main" id="{8705D6B5-EE51-1CF1-77A3-5D728F69787B}"/>
              </a:ext>
            </a:extLst>
          </p:cNvPr>
          <p:cNvSpPr>
            <a:spLocks noGrp="1"/>
          </p:cNvSpPr>
          <p:nvPr>
            <p:ph type="body" idx="1"/>
          </p:nvPr>
        </p:nvSpPr>
        <p:spPr>
          <a:xfrm>
            <a:off x="457199" y="1600200"/>
            <a:ext cx="8556171" cy="5071188"/>
          </a:xfrm>
        </p:spPr>
        <p:txBody>
          <a:bodyPr>
            <a:normAutofit fontScale="32500" lnSpcReduction="20000"/>
          </a:bodyPr>
          <a:lstStyle/>
          <a:p>
            <a:pPr marL="114300" indent="0">
              <a:buNone/>
            </a:pPr>
            <a:r>
              <a:rPr lang="en-IN" sz="4900" dirty="0"/>
              <a:t>Why This Project Matters:</a:t>
            </a:r>
          </a:p>
          <a:p>
            <a:pPr marL="114300" indent="0">
              <a:buNone/>
            </a:pPr>
            <a:endParaRPr lang="en-IN" sz="4900" dirty="0"/>
          </a:p>
          <a:p>
            <a:pPr>
              <a:buFont typeface="Wingdings" panose="05000000000000000000" pitchFamily="2" charset="2"/>
              <a:buChar char="Ø"/>
            </a:pPr>
            <a:r>
              <a:rPr lang="en-IN" sz="4900" b="1" dirty="0"/>
              <a:t>Global Climate Crisis</a:t>
            </a:r>
          </a:p>
          <a:p>
            <a:pPr lvl="1">
              <a:buFont typeface="Wingdings" panose="05000000000000000000" pitchFamily="2" charset="2"/>
              <a:buChar char="Ø"/>
            </a:pPr>
            <a:r>
              <a:rPr lang="en-IN" sz="4900" dirty="0"/>
              <a:t>Climate change driven by rising CO₂ emissions threatens global sustainability</a:t>
            </a:r>
          </a:p>
          <a:p>
            <a:pPr lvl="1">
              <a:buFont typeface="Wingdings" panose="05000000000000000000" pitchFamily="2" charset="2"/>
              <a:buChar char="Ø"/>
            </a:pPr>
            <a:r>
              <a:rPr lang="en-IN" sz="4900" dirty="0"/>
              <a:t>Directly addressed by SDG-13: Climate Action</a:t>
            </a:r>
          </a:p>
          <a:p>
            <a:pPr>
              <a:buFont typeface="Wingdings" panose="05000000000000000000" pitchFamily="2" charset="2"/>
              <a:buChar char="Ø"/>
            </a:pPr>
            <a:r>
              <a:rPr lang="en-IN" sz="4900" b="1" dirty="0"/>
              <a:t>Residential Sector Gap</a:t>
            </a:r>
          </a:p>
          <a:p>
            <a:pPr lvl="1">
              <a:buFont typeface="Wingdings" panose="05000000000000000000" pitchFamily="2" charset="2"/>
              <a:buChar char="Ø"/>
            </a:pPr>
            <a:r>
              <a:rPr lang="en-IN" sz="4900" dirty="0"/>
              <a:t>Residential and small-scale energy use accounts for 30-40% of global emissions</a:t>
            </a:r>
          </a:p>
          <a:p>
            <a:pPr lvl="1">
              <a:buFont typeface="Wingdings" panose="05000000000000000000" pitchFamily="2" charset="2"/>
              <a:buChar char="Ø"/>
            </a:pPr>
            <a:r>
              <a:rPr lang="en-IN" sz="4900" dirty="0"/>
              <a:t>Yet individuals lack simple, data-driven tools to understand their carbon footprint</a:t>
            </a:r>
          </a:p>
          <a:p>
            <a:pPr>
              <a:buFont typeface="Wingdings" panose="05000000000000000000" pitchFamily="2" charset="2"/>
              <a:buChar char="Ø"/>
            </a:pPr>
            <a:r>
              <a:rPr lang="en-IN" sz="4900" b="1" dirty="0"/>
              <a:t>Awareness-Action Gap</a:t>
            </a:r>
          </a:p>
          <a:p>
            <a:pPr lvl="1">
              <a:buFont typeface="Wingdings" panose="05000000000000000000" pitchFamily="2" charset="2"/>
              <a:buChar char="Ø"/>
            </a:pPr>
            <a:r>
              <a:rPr lang="en-IN" sz="4900" dirty="0"/>
              <a:t>Most people cannot quantify how their daily energy habits translate to CO₂ emissions</a:t>
            </a:r>
          </a:p>
          <a:p>
            <a:pPr lvl="1">
              <a:buFont typeface="Wingdings" panose="05000000000000000000" pitchFamily="2" charset="2"/>
              <a:buChar char="Ø"/>
            </a:pPr>
            <a:r>
              <a:rPr lang="en-IN" sz="4900" dirty="0"/>
              <a:t>No accessible tools for personalized reduction strategies at household level</a:t>
            </a:r>
          </a:p>
          <a:p>
            <a:pPr>
              <a:buFont typeface="Wingdings" panose="05000000000000000000" pitchFamily="2" charset="2"/>
              <a:buChar char="Ø"/>
            </a:pPr>
            <a:r>
              <a:rPr lang="en-IN" sz="4900" b="1" dirty="0"/>
              <a:t>Machine Learning Opportunity</a:t>
            </a:r>
          </a:p>
          <a:p>
            <a:pPr lvl="1">
              <a:buFont typeface="Wingdings" panose="05000000000000000000" pitchFamily="2" charset="2"/>
              <a:buChar char="Ø"/>
            </a:pPr>
            <a:r>
              <a:rPr lang="en-IN" sz="4900" dirty="0"/>
              <a:t>ML models can accurately predict building energy and CO₂ from simple features</a:t>
            </a:r>
          </a:p>
          <a:p>
            <a:pPr lvl="1">
              <a:buFont typeface="Wingdings" panose="05000000000000000000" pitchFamily="2" charset="2"/>
              <a:buChar char="Ø"/>
            </a:pPr>
            <a:r>
              <a:rPr lang="en-IN" sz="4900" dirty="0"/>
              <a:t>Transform complex climate data into actionable household-level insights</a:t>
            </a:r>
          </a:p>
          <a:p>
            <a:pPr>
              <a:buFont typeface="Wingdings" panose="05000000000000000000" pitchFamily="2" charset="2"/>
              <a:buChar char="Ø"/>
            </a:pPr>
            <a:r>
              <a:rPr lang="en-IN" sz="4900" b="1" dirty="0"/>
              <a:t>SDG-13 Alignment</a:t>
            </a:r>
          </a:p>
          <a:p>
            <a:pPr lvl="1">
              <a:buFont typeface="Wingdings" panose="05000000000000000000" pitchFamily="2" charset="2"/>
              <a:buChar char="Ø"/>
            </a:pPr>
            <a:r>
              <a:rPr lang="en-IN" sz="4900" dirty="0"/>
              <a:t>Empowers individuals to make informed decisions for decarbonization</a:t>
            </a:r>
          </a:p>
          <a:p>
            <a:pPr lvl="1">
              <a:buFont typeface="Wingdings" panose="05000000000000000000" pitchFamily="2" charset="2"/>
              <a:buChar char="Ø"/>
            </a:pPr>
            <a:r>
              <a:rPr lang="en-IN" sz="4900" dirty="0"/>
              <a:t>Bridges gap between climate awareness and practical action</a:t>
            </a:r>
          </a:p>
          <a:p>
            <a:pPr marL="114300" indent="0">
              <a:buNone/>
            </a:pPr>
            <a:br>
              <a:rPr lang="en-IN" dirty="0"/>
            </a:br>
            <a:endParaRPr lang="en-IN" dirty="0"/>
          </a:p>
        </p:txBody>
      </p:sp>
    </p:spTree>
    <p:extLst>
      <p:ext uri="{BB962C8B-B14F-4D97-AF65-F5344CB8AC3E}">
        <p14:creationId xmlns:p14="http://schemas.microsoft.com/office/powerpoint/2010/main" val="529285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48605" name="Google Shape;108;p4"/>
          <p:cNvSpPr txBox="1">
            <a:spLocks noGrp="1"/>
          </p:cNvSpPr>
          <p:nvPr>
            <p:ph type="title"/>
          </p:nvPr>
        </p:nvSpPr>
        <p:spPr>
          <a:xfrm>
            <a:off x="457200" y="-95851"/>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Literature Review</a:t>
            </a:r>
          </a:p>
        </p:txBody>
      </p:sp>
      <p:graphicFrame>
        <p:nvGraphicFramePr>
          <p:cNvPr id="4194304" name="Google Shape;109;p4"/>
          <p:cNvGraphicFramePr>
            <a:graphicFrameLocks/>
          </p:cNvGraphicFramePr>
          <p:nvPr>
            <p:extLst>
              <p:ext uri="{D42A27DB-BD31-4B8C-83A1-F6EECF244321}">
                <p14:modId xmlns:p14="http://schemas.microsoft.com/office/powerpoint/2010/main" val="1078278869"/>
              </p:ext>
            </p:extLst>
          </p:nvPr>
        </p:nvGraphicFramePr>
        <p:xfrm>
          <a:off x="484263" y="873497"/>
          <a:ext cx="8202537" cy="4957585"/>
        </p:xfrm>
        <a:graphic>
          <a:graphicData uri="http://schemas.openxmlformats.org/drawingml/2006/table">
            <a:tbl>
              <a:tblPr firstRow="1" bandRow="1">
                <a:noFill/>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1162825">
                <a:tc>
                  <a:txBody>
                    <a:bodyPr/>
                    <a:lstStyle/>
                    <a:p>
                      <a:pPr rtl="0">
                        <a:buNone/>
                      </a:pPr>
                      <a:r>
                        <a:rPr lang="en-IN" sz="1800" b="1" dirty="0">
                          <a:solidFill>
                            <a:schemeClr val="bg1"/>
                          </a:solidFill>
                          <a:effectLst/>
                          <a:latin typeface="Google Sans Text"/>
                        </a:rPr>
                        <a:t>Title of the Paper</a:t>
                      </a:r>
                      <a:endParaRPr lang="en-IN" sz="1800" dirty="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Journal</a:t>
                      </a:r>
                      <a:endParaRPr lang="en-IN" sz="180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DataSet Used</a:t>
                      </a:r>
                      <a:endParaRPr lang="en-IN" sz="1800">
                        <a:solidFill>
                          <a:schemeClr val="bg1"/>
                        </a:solidFill>
                        <a:effectLst/>
                        <a:latin typeface="Google Sans Text"/>
                      </a:endParaRPr>
                    </a:p>
                  </a:txBody>
                  <a:tcPr marT="60960" marB="60960" anchor="ctr"/>
                </a:tc>
                <a:tc>
                  <a:txBody>
                    <a:bodyPr/>
                    <a:lstStyle/>
                    <a:p>
                      <a:pPr rtl="0">
                        <a:buNone/>
                      </a:pPr>
                      <a:r>
                        <a:rPr lang="en-IN" sz="1800" b="1">
                          <a:solidFill>
                            <a:schemeClr val="bg1"/>
                          </a:solidFill>
                          <a:effectLst/>
                          <a:latin typeface="Google Sans Text"/>
                        </a:rPr>
                        <a:t>Contributions</a:t>
                      </a:r>
                      <a:endParaRPr lang="en-IN" sz="1800">
                        <a:solidFill>
                          <a:schemeClr val="bg1"/>
                        </a:solidFill>
                        <a:effectLst/>
                        <a:latin typeface="Google Sans Text"/>
                      </a:endParaRPr>
                    </a:p>
                  </a:txBody>
                  <a:tcPr marT="60960" marB="60960" anchor="ctr"/>
                </a:tc>
                <a:tc>
                  <a:txBody>
                    <a:bodyPr/>
                    <a:lstStyle/>
                    <a:p>
                      <a:pPr rtl="0">
                        <a:buNone/>
                      </a:pPr>
                      <a:r>
                        <a:rPr lang="en-IN" sz="1800" b="1" dirty="0">
                          <a:solidFill>
                            <a:schemeClr val="bg1"/>
                          </a:solidFill>
                          <a:effectLst/>
                          <a:latin typeface="Google Sans Text"/>
                        </a:rPr>
                        <a:t>Limitations</a:t>
                      </a:r>
                      <a:endParaRPr lang="en-IN" sz="1800" dirty="0">
                        <a:solidFill>
                          <a:schemeClr val="bg1"/>
                        </a:solidFill>
                        <a:effectLst/>
                        <a:latin typeface="Google Sans Text"/>
                      </a:endParaRPr>
                    </a:p>
                  </a:txBody>
                  <a:tcPr marT="60960" marB="60960" anchor="ctr"/>
                </a:tc>
                <a:extLst>
                  <a:ext uri="{0D108BD9-81ED-4DB2-BD59-A6C34878D82A}">
                    <a16:rowId xmlns:a16="http://schemas.microsoft.com/office/drawing/2014/main" val="10000"/>
                  </a:ext>
                </a:extLst>
              </a:tr>
              <a:tr h="673700">
                <a:tc>
                  <a:txBody>
                    <a:bodyPr/>
                    <a:lstStyle/>
                    <a:p>
                      <a:pPr algn="ctr" fontAlgn="base" latinLnBrk="0">
                        <a:buNone/>
                      </a:pPr>
                      <a:r>
                        <a:rPr lang="en-IN" sz="1100" b="0" dirty="0">
                          <a:effectLst/>
                        </a:rPr>
                        <a:t>An examination of daily CO₂ emissions prediction through machine learning and deep learning models</a:t>
                      </a:r>
                      <a:r>
                        <a:rPr lang="en-IN" sz="1100" dirty="0">
                          <a:effectLst/>
                        </a:rPr>
                        <a:t> (</a:t>
                      </a:r>
                      <a:r>
                        <a:rPr lang="en-IN" sz="1100" b="1" dirty="0">
                          <a:effectLst/>
                        </a:rPr>
                        <a:t>Ye </a:t>
                      </a:r>
                      <a:r>
                        <a:rPr lang="en-IN" sz="1100" b="0" dirty="0">
                          <a:effectLst/>
                        </a:rPr>
                        <a:t>et al</a:t>
                      </a:r>
                      <a:r>
                        <a:rPr lang="en-IN" sz="1100" dirty="0">
                          <a:effectLst/>
                        </a:rPr>
                        <a:t>.,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Environmental Research Letters (Nature Portfolio)</a:t>
                      </a:r>
                      <a:endParaRPr lang="en-IN" sz="1100" i="1" dirty="0">
                        <a:effectLst/>
                      </a:endParaRPr>
                    </a:p>
                  </a:txBody>
                  <a:tcPr marL="60960" marR="60960" anchor="ctr"/>
                </a:tc>
                <a:tc>
                  <a:txBody>
                    <a:bodyPr/>
                    <a:lstStyle/>
                    <a:p>
                      <a:pPr algn="ctr" fontAlgn="base" latinLnBrk="0">
                        <a:buNone/>
                      </a:pPr>
                      <a:r>
                        <a:rPr lang="en-IN" sz="1100" dirty="0">
                          <a:effectLst/>
                        </a:rPr>
                        <a:t>Daily national CO₂ emissions for major emitting regions (2022–2023)</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Evaluates 14 models (ARMA, RF, </a:t>
                      </a:r>
                      <a:r>
                        <a:rPr lang="en-IN" sz="1100" b="0" i="0" u="none" strike="noStrike" cap="none" dirty="0" err="1">
                          <a:solidFill>
                            <a:schemeClr val="dk1"/>
                          </a:solidFill>
                          <a:effectLst/>
                          <a:latin typeface="Calibri"/>
                          <a:ea typeface="Calibri"/>
                          <a:cs typeface="Calibri"/>
                          <a:sym typeface="Arial"/>
                        </a:rPr>
                        <a:t>XGBoost</a:t>
                      </a:r>
                      <a:r>
                        <a:rPr lang="en-IN" sz="1100" b="0" i="0" u="none" strike="noStrike" cap="none" dirty="0">
                          <a:solidFill>
                            <a:schemeClr val="dk1"/>
                          </a:solidFill>
                          <a:effectLst/>
                          <a:latin typeface="Calibri"/>
                          <a:ea typeface="Calibri"/>
                          <a:cs typeface="Calibri"/>
                          <a:sym typeface="Arial"/>
                        </a:rPr>
                        <a:t>, CNN–RNN hybrids); ensemble ML achieves R² 0.714–0.932 and is recommended as best trade‑off between accuracy and complexity.</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National‑level focus only; does not address household/building‑level predictions or user‑facing tools.</a:t>
                      </a:r>
                      <a:endParaRPr lang="en-IN" sz="1000" dirty="0">
                        <a:effectLst/>
                      </a:endParaRPr>
                    </a:p>
                  </a:txBody>
                  <a:tcPr marL="60960" marR="60960" anchor="ct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Machine learning models for predicting rural residential carbon emissions and optimising spatial forms</a:t>
                      </a:r>
                      <a:r>
                        <a:rPr lang="en-IN" sz="1100" dirty="0">
                          <a:effectLst/>
                        </a:rPr>
                        <a:t> (</a:t>
                      </a:r>
                      <a:r>
                        <a:rPr lang="en-IN" sz="1100" b="1" dirty="0">
                          <a:effectLst/>
                        </a:rPr>
                        <a:t>Liu</a:t>
                      </a:r>
                      <a:r>
                        <a:rPr lang="en-IN" sz="1100" dirty="0">
                          <a:effectLst/>
                        </a:rPr>
                        <a:t> et al.,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Scientific Reports (Nature)</a:t>
                      </a:r>
                    </a:p>
                  </a:txBody>
                  <a:tcPr marL="60960" marR="60960" anchor="ctr"/>
                </a:tc>
                <a:tc>
                  <a:txBody>
                    <a:bodyPr/>
                    <a:lstStyle/>
                    <a:p>
                      <a:pPr algn="ctr" fontAlgn="base" latinLnBrk="0">
                        <a:buNone/>
                      </a:pPr>
                      <a:r>
                        <a:rPr lang="en-IN" sz="1100" dirty="0">
                          <a:effectLst/>
                        </a:rPr>
                        <a:t>Rural residential land-use and carbon-emission spatial features for large regions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ML models to estimate emissions from spatial‑form variables and explores optimisation of rural settlement patterns for emission reduction.</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Requires detailed GIS/spatial‑form data; generalisation to urban or non‑mapped areas is unclear.</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Predicting residential CO₂ emissions: Machine learning and deep learning approaches</a:t>
                      </a:r>
                      <a:r>
                        <a:rPr lang="en-IN" sz="1100" dirty="0">
                          <a:effectLst/>
                        </a:rPr>
                        <a:t> (</a:t>
                      </a:r>
                      <a:r>
                        <a:rPr lang="en-IN" sz="1100" b="1" dirty="0">
                          <a:effectLst/>
                        </a:rPr>
                        <a:t>Khan</a:t>
                      </a:r>
                      <a:r>
                        <a:rPr lang="en-IN" sz="1100" dirty="0">
                          <a:effectLst/>
                        </a:rPr>
                        <a:t> et al.,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Sustainability in Building and the Environment (</a:t>
                      </a:r>
                      <a:r>
                        <a:rPr lang="en-IN" sz="1100" i="1" dirty="0" err="1">
                          <a:effectLst/>
                        </a:rPr>
                        <a:t>Durabi</a:t>
                      </a:r>
                      <a:r>
                        <a:rPr lang="en-IN" sz="1100" i="1" dirty="0">
                          <a:effectLst/>
                        </a:rPr>
                        <a:t>)</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Daily residential CO₂ emissions data for U.S. buildings (2022–2024).</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6 ML Models (DT, RF, Ridge, GB, SVR, </a:t>
                      </a:r>
                      <a:r>
                        <a:rPr lang="en-IN" sz="1100" b="0" i="0" u="none" strike="noStrike" cap="none" dirty="0" err="1">
                          <a:solidFill>
                            <a:schemeClr val="dk1"/>
                          </a:solidFill>
                          <a:effectLst/>
                          <a:latin typeface="Calibri"/>
                          <a:ea typeface="Calibri"/>
                          <a:cs typeface="Calibri"/>
                          <a:sym typeface="Arial"/>
                        </a:rPr>
                        <a:t>XGBoost</a:t>
                      </a:r>
                      <a:r>
                        <a:rPr lang="en-IN" sz="1100" b="0" i="0" u="none" strike="noStrike" cap="none" dirty="0">
                          <a:solidFill>
                            <a:schemeClr val="dk1"/>
                          </a:solidFill>
                          <a:effectLst/>
                          <a:latin typeface="Calibri"/>
                          <a:ea typeface="Calibri"/>
                          <a:cs typeface="Calibri"/>
                          <a:sym typeface="Arial"/>
                        </a:rPr>
                        <a:t> and LSTM); tuned ensembles and LSTM achieve best RMSE/R², outperforming statistical baselines.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a single national dataset and daily aggregates; no interactive tool or per‑household explainability.</a:t>
                      </a:r>
                      <a:endParaRPr lang="en-IN" sz="1000" dirty="0">
                        <a:effectLst/>
                      </a:endParaRPr>
                    </a:p>
                  </a:txBody>
                  <a:tcPr marL="60960" marR="6096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7693ECD-D71E-83D7-A827-7CAEE7447B2A}"/>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6B54EA1B-8115-83A7-B89A-8AC74638CA15}"/>
              </a:ext>
            </a:extLst>
          </p:cNvPr>
          <p:cNvGraphicFramePr>
            <a:graphicFrameLocks/>
          </p:cNvGraphicFramePr>
          <p:nvPr>
            <p:extLst>
              <p:ext uri="{D42A27DB-BD31-4B8C-83A1-F6EECF244321}">
                <p14:modId xmlns:p14="http://schemas.microsoft.com/office/powerpoint/2010/main" val="1358522228"/>
              </p:ext>
            </p:extLst>
          </p:nvPr>
        </p:nvGraphicFramePr>
        <p:xfrm>
          <a:off x="470731" y="692196"/>
          <a:ext cx="8202537" cy="489204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673700">
                <a:tc>
                  <a:txBody>
                    <a:bodyPr/>
                    <a:lstStyle/>
                    <a:p>
                      <a:pPr algn="ctr" fontAlgn="base" latinLnBrk="0">
                        <a:buNone/>
                      </a:pPr>
                      <a:r>
                        <a:rPr lang="en-IN" sz="1100" b="0" dirty="0">
                          <a:solidFill>
                            <a:schemeClr val="tx1"/>
                          </a:solidFill>
                          <a:effectLst/>
                        </a:rPr>
                        <a:t>An interpretable machine learning framework for residential building energy and carbon emissions</a:t>
                      </a:r>
                      <a:r>
                        <a:rPr lang="en-IN" sz="1100" dirty="0">
                          <a:solidFill>
                            <a:schemeClr val="tx1"/>
                          </a:solidFill>
                          <a:effectLst/>
                        </a:rPr>
                        <a:t> (Chen </a:t>
                      </a:r>
                      <a:r>
                        <a:rPr lang="en-IN" sz="1100" b="0" dirty="0">
                          <a:solidFill>
                            <a:schemeClr val="tx1"/>
                          </a:solidFill>
                          <a:effectLst/>
                        </a:rPr>
                        <a:t>et al</a:t>
                      </a:r>
                      <a:r>
                        <a:rPr lang="en-IN" sz="1100" dirty="0">
                          <a:solidFill>
                            <a:schemeClr val="tx1"/>
                          </a:solidFill>
                          <a:effectLst/>
                        </a:rPr>
                        <a:t>., </a:t>
                      </a:r>
                      <a:r>
                        <a:rPr lang="en-IN" sz="1100" b="0" dirty="0">
                          <a:solidFill>
                            <a:schemeClr val="tx1"/>
                          </a:solidFill>
                          <a:effectLst/>
                        </a:rPr>
                        <a:t>2025</a:t>
                      </a:r>
                      <a:r>
                        <a:rPr lang="en-IN" sz="1100" dirty="0">
                          <a:solidFill>
                            <a:schemeClr val="tx1"/>
                          </a:solidFill>
                          <a:effectLst/>
                        </a:rPr>
                        <a:t>)</a:t>
                      </a: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tx1"/>
                          </a:solidFill>
                          <a:effectLst/>
                          <a:latin typeface="Calibri"/>
                          <a:ea typeface="Calibri"/>
                          <a:cs typeface="Calibri"/>
                          <a:sym typeface="Arial"/>
                        </a:rPr>
                        <a:t>Explainable ML framework in Scientific Reports</a:t>
                      </a:r>
                      <a:r>
                        <a:rPr lang="en-IN" sz="1400" b="0" i="1" u="none" strike="noStrike" cap="none" dirty="0">
                          <a:solidFill>
                            <a:schemeClr val="tx1"/>
                          </a:solidFill>
                          <a:effectLst/>
                          <a:latin typeface="Calibri"/>
                          <a:ea typeface="Calibri"/>
                          <a:cs typeface="Calibri"/>
                          <a:sym typeface="Arial"/>
                        </a:rPr>
                        <a:t>.</a:t>
                      </a:r>
                      <a:endParaRPr lang="en-IN" sz="1100" i="1"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dirty="0">
                          <a:solidFill>
                            <a:schemeClr val="tx1"/>
                          </a:solidFill>
                          <a:effectLst/>
                        </a:rPr>
                        <a:t>Residential building energy and carbon-emission data with operational/structural features</a:t>
                      </a: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Proposes tree‑based models plus SHAP/permutation importance to analyse how building characteristics and operation drive emissions.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Focuses on design/retrofit optimisation; requires rich feature sets and is less oriented to simple user questionnaires.</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Machine learning applications for carbon emission estimation: A comprehensive survey</a:t>
                      </a:r>
                      <a:r>
                        <a:rPr lang="en-IN" sz="1100" dirty="0">
                          <a:effectLst/>
                        </a:rPr>
                        <a:t> (</a:t>
                      </a:r>
                      <a:r>
                        <a:rPr lang="en-IN" sz="1100" b="1" dirty="0">
                          <a:effectLst/>
                        </a:rPr>
                        <a:t>Smith &amp; Rodriguez</a:t>
                      </a:r>
                      <a:r>
                        <a:rPr lang="en-IN" sz="1100" dirty="0">
                          <a:effectLst/>
                        </a:rPr>
                        <a:t>, </a:t>
                      </a:r>
                      <a:r>
                        <a:rPr lang="en-IN" sz="1100" b="0" dirty="0">
                          <a:effectLst/>
                        </a:rPr>
                        <a:t>2025</a:t>
                      </a:r>
                      <a:r>
                        <a:rPr lang="en-IN" sz="1100" dirty="0">
                          <a:effectLst/>
                        </a:rPr>
                        <a:t>)</a:t>
                      </a:r>
                    </a:p>
                  </a:txBody>
                  <a:tcPr marL="60960" marR="60960" anchor="ctr"/>
                </a:tc>
                <a:tc>
                  <a:txBody>
                    <a:bodyPr/>
                    <a:lstStyle/>
                    <a:p>
                      <a:pPr algn="ctr" fontAlgn="base" latinLnBrk="0">
                        <a:buNone/>
                      </a:pPr>
                      <a:r>
                        <a:rPr lang="en-IN" sz="1100" i="1" dirty="0">
                          <a:effectLst/>
                        </a:rPr>
                        <a:t>Cleaner Engineering and Technology (Elsevier)</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Multiple published datasets across industrial, transport, building and national emissions (survey article).</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Reviews ML/DL techniques (tree‑based, neural nets, hybrids) for emission estimation; summarises drivers, metrics and performance.</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Survey only; doesn’t implement or evaluate a concrete end‑user tool, mainly highlights gaps like interpretability and actionable models.</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Building energy consumption prediction using deep learning</a:t>
                      </a:r>
                      <a:r>
                        <a:rPr lang="en-IN" sz="1100" dirty="0">
                          <a:effectLst/>
                        </a:rPr>
                        <a:t> (</a:t>
                      </a:r>
                      <a:r>
                        <a:rPr lang="en-IN" sz="1100" b="1" dirty="0">
                          <a:effectLst/>
                        </a:rPr>
                        <a:t>Davis</a:t>
                      </a:r>
                      <a:r>
                        <a:rPr lang="en-IN" sz="1100" dirty="0">
                          <a:effectLst/>
                        </a:rPr>
                        <a:t> 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Applied Energy / technical report</a:t>
                      </a:r>
                      <a:br>
                        <a:rPr lang="en-IN" sz="1100" dirty="0"/>
                      </a:br>
                      <a:endParaRPr lang="en-IN" sz="1100" i="0" dirty="0">
                        <a:effectLst/>
                      </a:endParaRPr>
                    </a:p>
                  </a:txBody>
                  <a:tcPr marL="60960" marR="60960" anchor="ctr"/>
                </a:tc>
                <a:tc>
                  <a:txBody>
                    <a:bodyPr/>
                    <a:lstStyle/>
                    <a:p>
                      <a:pPr algn="ctr" fontAlgn="base" latinLnBrk="0">
                        <a:buNone/>
                      </a:pPr>
                      <a:r>
                        <a:rPr lang="en-IN" sz="1100" dirty="0">
                          <a:effectLst/>
                        </a:rPr>
                        <a:t>Non-domestic building energy-consumption data (annual/sub-annual loads)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MLP ANN, SVM and Decision Tree; ANN gives lowest MAE/RMSE with a clear preprocessing and evaluation pipeline.</a:t>
                      </a:r>
                      <a:br>
                        <a:rPr lang="en-IN" sz="1100" dirty="0"/>
                      </a:br>
                      <a:endParaRPr lang="en-IN" sz="11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Targets specific building types and annual energy use; CO₂ emissions and user‑facing interfaces are not considered.</a:t>
                      </a:r>
                      <a:endParaRPr lang="en-IN" sz="10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dirty="0">
                          <a:effectLst/>
                        </a:rPr>
                        <a:t>Intelligent prediction method of building energy consumption based on deep learning</a:t>
                      </a:r>
                      <a:r>
                        <a:rPr lang="en-IN" sz="1100" dirty="0">
                          <a:effectLst/>
                        </a:rPr>
                        <a:t> (</a:t>
                      </a:r>
                      <a:r>
                        <a:rPr lang="en-IN" sz="1100" b="1" dirty="0">
                          <a:effectLst/>
                        </a:rPr>
                        <a:t>Wang </a:t>
                      </a:r>
                      <a:r>
                        <a:rPr lang="en-IN" sz="1100" dirty="0">
                          <a:effectLst/>
                        </a:rPr>
                        <a:t>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i="1" dirty="0">
                          <a:effectLst/>
                        </a:rPr>
                        <a:t>International Journal of Photoenergy (</a:t>
                      </a:r>
                      <a:r>
                        <a:rPr lang="en-IN" sz="1100" i="1" dirty="0" err="1">
                          <a:effectLst/>
                        </a:rPr>
                        <a:t>Hindawi</a:t>
                      </a:r>
                      <a:r>
                        <a:rPr lang="en-IN" sz="1100" i="1" dirty="0">
                          <a:effectLst/>
                        </a:rPr>
                        <a:t>)</a:t>
                      </a:r>
                      <a:endParaRPr lang="en-IN" sz="1100" dirty="0">
                        <a:effectLst/>
                      </a:endParaRPr>
                    </a:p>
                  </a:txBody>
                  <a:tcPr marL="60960" marR="60960" anchor="ctr"/>
                </a:tc>
                <a:tc>
                  <a:txBody>
                    <a:bodyPr/>
                    <a:lstStyle/>
                    <a:p>
                      <a:pPr algn="ctr" fontAlgn="base" latinLnBrk="0">
                        <a:buNone/>
                      </a:pPr>
                      <a:r>
                        <a:rPr lang="en-IN" sz="1100">
                          <a:effectLst/>
                        </a:rPr>
                        <a:t>Time-series building energy data from university building, Southwest China</a:t>
                      </a:r>
                    </a:p>
                  </a:txBody>
                  <a:tcPr marL="60960" marR="60960" anchor="ctr"/>
                </a:tc>
                <a:tc>
                  <a:txBody>
                    <a:bodyPr/>
                    <a:lstStyle/>
                    <a:p>
                      <a:pPr algn="ctr" fontAlgn="base" latinLnBrk="0">
                        <a:buNone/>
                      </a:pPr>
                      <a:r>
                        <a:rPr lang="en-IN" sz="1100">
                          <a:effectLst/>
                        </a:rPr>
                        <a:t>Proposes improved LSTM (ILSTM) with Adam optimization. Reports lower MAE/RMSE than comparison methods; demonstrates DL effectiveness for full-cycle prediction.</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Single‑building case study; relies on dense sensor data and has limited external validity.</a:t>
                      </a:r>
                      <a:endParaRPr lang="en-IN" sz="1000" dirty="0">
                        <a:effectLst/>
                      </a:endParaRPr>
                    </a:p>
                  </a:txBody>
                  <a:tcPr marL="60960" marR="6096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83172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00DF463-C983-81E1-D2E4-BABD9F9B8654}"/>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9B3F368E-FAB3-1ABE-78C2-FCCC440EF45D}"/>
              </a:ext>
            </a:extLst>
          </p:cNvPr>
          <p:cNvGraphicFramePr>
            <a:graphicFrameLocks/>
          </p:cNvGraphicFramePr>
          <p:nvPr>
            <p:extLst>
              <p:ext uri="{D42A27DB-BD31-4B8C-83A1-F6EECF244321}">
                <p14:modId xmlns:p14="http://schemas.microsoft.com/office/powerpoint/2010/main" val="1933843601"/>
              </p:ext>
            </p:extLst>
          </p:nvPr>
        </p:nvGraphicFramePr>
        <p:xfrm>
          <a:off x="470731" y="692196"/>
          <a:ext cx="8202537" cy="531876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58259">
                  <a:extLst>
                    <a:ext uri="{9D8B030D-6E8A-4147-A177-3AD203B41FA5}">
                      <a16:colId xmlns:a16="http://schemas.microsoft.com/office/drawing/2014/main" val="20003"/>
                    </a:ext>
                  </a:extLst>
                </a:gridCol>
                <a:gridCol w="1627891">
                  <a:extLst>
                    <a:ext uri="{9D8B030D-6E8A-4147-A177-3AD203B41FA5}">
                      <a16:colId xmlns:a16="http://schemas.microsoft.com/office/drawing/2014/main" val="20004"/>
                    </a:ext>
                  </a:extLst>
                </a:gridCol>
              </a:tblGrid>
              <a:tr h="673700">
                <a:tc>
                  <a:txBody>
                    <a:bodyPr/>
                    <a:lstStyle/>
                    <a:p>
                      <a:pPr algn="ctr" fontAlgn="base" latinLnBrk="0">
                        <a:buNone/>
                      </a:pPr>
                      <a:r>
                        <a:rPr lang="en-IN" sz="1100" b="0" dirty="0">
                          <a:solidFill>
                            <a:schemeClr val="tx1"/>
                          </a:solidFill>
                          <a:effectLst/>
                        </a:rPr>
                        <a:t>A deep learning framework for building energy consumption forecasting</a:t>
                      </a:r>
                      <a:r>
                        <a:rPr lang="en-IN" sz="1100" dirty="0">
                          <a:solidFill>
                            <a:schemeClr val="tx1"/>
                          </a:solidFill>
                          <a:effectLst/>
                        </a:rPr>
                        <a:t> (Zhang et al., </a:t>
                      </a:r>
                      <a:r>
                        <a:rPr lang="en-IN" sz="1100" b="0" dirty="0">
                          <a:solidFill>
                            <a:schemeClr val="tx1"/>
                          </a:solidFill>
                          <a:effectLst/>
                        </a:rPr>
                        <a:t>2024</a:t>
                      </a:r>
                      <a:r>
                        <a:rPr lang="en-IN" sz="1100" dirty="0">
                          <a:solidFill>
                            <a:schemeClr val="tx1"/>
                          </a:solidFill>
                          <a:effectLst/>
                        </a:rPr>
                        <a:t>)</a:t>
                      </a:r>
                    </a:p>
                  </a:txBody>
                  <a:tcPr marL="60960" marR="60960" anchor="ctr">
                    <a:solidFill>
                      <a:schemeClr val="bg1">
                        <a:lumMod val="85000"/>
                      </a:schemeClr>
                    </a:solidFill>
                  </a:tcPr>
                </a:tc>
                <a:tc>
                  <a:txBody>
                    <a:bodyPr/>
                    <a:lstStyle/>
                    <a:p>
                      <a:pPr algn="ctr" fontAlgn="base" latinLnBrk="0">
                        <a:buNone/>
                      </a:pPr>
                      <a:r>
                        <a:rPr lang="en-IN" sz="1100" b="0" i="1" dirty="0">
                          <a:solidFill>
                            <a:schemeClr val="tx1"/>
                          </a:solidFill>
                          <a:effectLst/>
                        </a:rPr>
                        <a:t>Renewable &amp; Sustainable Energy Reviews</a:t>
                      </a:r>
                    </a:p>
                  </a:txBody>
                  <a:tcPr marL="60960" marR="60960" anchor="ctr">
                    <a:solidFill>
                      <a:schemeClr val="bg1">
                        <a:lumMod val="85000"/>
                      </a:schemeClr>
                    </a:solidFill>
                  </a:tcPr>
                </a:tc>
                <a:tc>
                  <a:txBody>
                    <a:bodyPr/>
                    <a:lstStyle/>
                    <a:p>
                      <a:pPr algn="ctr" fontAlgn="base" latinLnBrk="0">
                        <a:buNone/>
                      </a:pPr>
                      <a:r>
                        <a:rPr lang="en-IN" sz="1100" b="0">
                          <a:solidFill>
                            <a:schemeClr val="tx1"/>
                          </a:solidFill>
                          <a:effectLst/>
                        </a:rPr>
                        <a:t>Hourly building load and weather data for several commercial buildings</a:t>
                      </a: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Uses CNN–LSTM hybrid for short‑term load forecasting; significantly lower MAE/RMSE than traditional LSTM and SVR.</a:t>
                      </a:r>
                      <a:endParaRPr lang="en-IN" sz="11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CNN–LSTM is GPU‑intensive and requires high‑frequency data, making deployment on low‑resource systems difficult.</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dirty="0">
                          <a:effectLst/>
                        </a:rPr>
                        <a:t>Research on building energy consumption prediction based on machine learning</a:t>
                      </a:r>
                      <a:r>
                        <a:rPr lang="en-IN" sz="1100" dirty="0">
                          <a:effectLst/>
                        </a:rPr>
                        <a:t> (</a:t>
                      </a:r>
                      <a:r>
                        <a:rPr lang="en-IN" sz="1100" b="1" dirty="0">
                          <a:effectLst/>
                        </a:rPr>
                        <a:t>Li</a:t>
                      </a:r>
                      <a:r>
                        <a:rPr lang="en-IN" sz="1100" dirty="0">
                          <a:effectLst/>
                        </a:rPr>
                        <a:t> et al., </a:t>
                      </a:r>
                      <a:r>
                        <a:rPr lang="en-IN" sz="1100" b="0" dirty="0">
                          <a:effectLst/>
                        </a:rPr>
                        <a:t>2024</a:t>
                      </a:r>
                      <a:r>
                        <a:rPr lang="en-IN" sz="1100" dirty="0">
                          <a:effectLst/>
                        </a:rPr>
                        <a:t>)</a:t>
                      </a: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Energy Reports</a:t>
                      </a:r>
                      <a:endParaRPr lang="en-IN" sz="1100" i="1" dirty="0">
                        <a:effectLst/>
                      </a:endParaRPr>
                    </a:p>
                  </a:txBody>
                  <a:tcPr marL="60960" marR="60960" anchor="ctr"/>
                </a:tc>
                <a:tc>
                  <a:txBody>
                    <a:bodyPr/>
                    <a:lstStyle/>
                    <a:p>
                      <a:pPr algn="ctr" fontAlgn="base" latinLnBrk="0">
                        <a:buNone/>
                      </a:pPr>
                      <a:r>
                        <a:rPr lang="en-IN" sz="1100">
                          <a:effectLst/>
                        </a:rPr>
                        <a:t>Building energy records with features like floor area, orientation, HVAC type</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Compares Random Forest, Gradient Boosting and SVM; Random Forest gives best generalisation and shows value of feature engineering and cross‑validation.</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Focuses on energy, not explicit CO₂ emissions; no interactive decision‑support interface for non‑expert users.</a:t>
                      </a:r>
                      <a:endParaRPr lang="en-IN" sz="10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dirty="0">
                          <a:effectLst/>
                        </a:rPr>
                        <a:t>Forecasting CO₂ emission in the US using machine learning methods</a:t>
                      </a:r>
                      <a:r>
                        <a:rPr lang="en-IN" sz="1100" dirty="0">
                          <a:effectLst/>
                        </a:rPr>
                        <a:t> (</a:t>
                      </a:r>
                      <a:r>
                        <a:rPr lang="en-IN" sz="1100" b="1" dirty="0">
                          <a:effectLst/>
                        </a:rPr>
                        <a:t>Ahmed</a:t>
                      </a:r>
                      <a:r>
                        <a:rPr lang="en-IN" sz="1100" dirty="0">
                          <a:effectLst/>
                        </a:rPr>
                        <a:t> et al., </a:t>
                      </a:r>
                      <a:r>
                        <a:rPr lang="en-IN" sz="1100" b="0" dirty="0">
                          <a:effectLst/>
                        </a:rPr>
                        <a:t>2023</a:t>
                      </a:r>
                      <a:r>
                        <a:rPr lang="en-IN" sz="1100" dirty="0">
                          <a:effectLst/>
                        </a:rPr>
                        <a:t>)</a:t>
                      </a:r>
                    </a:p>
                  </a:txBody>
                  <a:tcPr marL="60960" marR="60960" anchor="ctr"/>
                </a:tc>
                <a:tc>
                  <a:txBody>
                    <a:bodyPr/>
                    <a:lstStyle/>
                    <a:p>
                      <a:pPr algn="ctr" fontAlgn="base" latinLnBrk="0">
                        <a:buNone/>
                      </a:pPr>
                      <a:r>
                        <a:rPr lang="en-IN" sz="1100" i="1" dirty="0">
                          <a:effectLst/>
                        </a:rPr>
                        <a:t>Journal of Data Science and Intelligent Systems</a:t>
                      </a:r>
                    </a:p>
                  </a:txBody>
                  <a:tcPr marL="60960" marR="60960" anchor="ctr"/>
                </a:tc>
                <a:tc>
                  <a:txBody>
                    <a:bodyPr/>
                    <a:lstStyle/>
                    <a:p>
                      <a:pPr algn="ctr" fontAlgn="base" latinLnBrk="0">
                        <a:buNone/>
                      </a:pPr>
                      <a:r>
                        <a:rPr lang="en-IN" sz="1100" dirty="0">
                          <a:effectLst/>
                        </a:rPr>
                        <a:t>Historical U.S. CO₂ emissions and macro‑economic indicators</a:t>
                      </a: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regression, SVR, Random Forest and Gradient Boosted Trees to forecast national emissions; ensembles outperform linear models.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Works at macro (national) scale; does not connect predictions to household‑level actions or behaviour change.</a:t>
                      </a:r>
                      <a:endParaRPr lang="en-IN" sz="10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 prediction models and related uncertainties (</a:t>
                      </a:r>
                      <a:r>
                        <a:rPr lang="en-IN" sz="1100" b="1" i="0" u="none" strike="noStrike" cap="none" dirty="0">
                          <a:solidFill>
                            <a:schemeClr val="dk1"/>
                          </a:solidFill>
                          <a:effectLst/>
                          <a:latin typeface="Calibri"/>
                          <a:ea typeface="Calibri"/>
                          <a:cs typeface="Calibri"/>
                          <a:sym typeface="Arial"/>
                        </a:rPr>
                        <a:t>White, J., &amp; Jones, P</a:t>
                      </a:r>
                      <a:r>
                        <a:rPr lang="en-IN" sz="1100" b="0" i="0" u="none" strike="noStrike" cap="none" dirty="0">
                          <a:solidFill>
                            <a:schemeClr val="dk1"/>
                          </a:solidFill>
                          <a:effectLst/>
                          <a:latin typeface="Calibri"/>
                          <a:ea typeface="Calibri"/>
                          <a:cs typeface="Calibri"/>
                          <a:sym typeface="Arial"/>
                        </a:rPr>
                        <a:t>. (2022)</a:t>
                      </a:r>
                      <a:endParaRPr lang="en-IN" sz="11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Buildings (MDPI)</a:t>
                      </a:r>
                      <a:endParaRPr lang="en-IN" sz="11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Overview of data‑driven and physics‑based building energy prediction models.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Discusses model uncertainty, validation practices and classification of prediction approaches.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Focuses more on uncertainty and taxonomy than on specific DL architectures or CO₂ outputs.</a:t>
                      </a:r>
                      <a:endParaRPr lang="en-IN" sz="1000" dirty="0">
                        <a:effectLst/>
                      </a:endParaRPr>
                    </a:p>
                  </a:txBody>
                  <a:tcPr marL="60960" marR="60960" anchor="ctr"/>
                </a:tc>
                <a:extLst>
                  <a:ext uri="{0D108BD9-81ED-4DB2-BD59-A6C34878D82A}">
                    <a16:rowId xmlns:a16="http://schemas.microsoft.com/office/drawing/2014/main" val="2108724871"/>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Energy consumption prediction by using machine learning (</a:t>
                      </a:r>
                      <a:r>
                        <a:rPr lang="en-IN" sz="1100" b="1" i="0" u="none" strike="noStrike" cap="none" dirty="0">
                          <a:solidFill>
                            <a:schemeClr val="dk1"/>
                          </a:solidFill>
                          <a:effectLst/>
                          <a:latin typeface="Calibri"/>
                          <a:ea typeface="Calibri"/>
                          <a:cs typeface="Calibri"/>
                          <a:sym typeface="Arial"/>
                        </a:rPr>
                        <a:t>Shapi </a:t>
                      </a:r>
                      <a:r>
                        <a:rPr lang="en-IN" sz="1100" b="0" i="0" u="none" strike="noStrike" cap="none" dirty="0">
                          <a:solidFill>
                            <a:schemeClr val="dk1"/>
                          </a:solidFill>
                          <a:effectLst/>
                          <a:latin typeface="Calibri"/>
                          <a:ea typeface="Calibri"/>
                          <a:cs typeface="Calibri"/>
                          <a:sym typeface="Arial"/>
                        </a:rPr>
                        <a:t>et al., 2021)</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Energy Reports (Elsevier)</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General energy‑consumption datasets modelled on Azure ML platform.</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Demonstrates practical ML workflows (regression, tree‑based models) for energy prediction with cloud‑based tools.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Not building‑specific and not focused on deep learning; more a generic ML energy case study.</a:t>
                      </a:r>
                      <a:endParaRPr lang="en-IN" sz="1000" dirty="0">
                        <a:effectLst/>
                      </a:endParaRPr>
                    </a:p>
                  </a:txBody>
                  <a:tcPr marL="60960" marR="60960" anchor="ctr"/>
                </a:tc>
                <a:extLst>
                  <a:ext uri="{0D108BD9-81ED-4DB2-BD59-A6C34878D82A}">
                    <a16:rowId xmlns:a16="http://schemas.microsoft.com/office/drawing/2014/main" val="2233617519"/>
                  </a:ext>
                </a:extLst>
              </a:tr>
            </a:tbl>
          </a:graphicData>
        </a:graphic>
      </p:graphicFrame>
    </p:spTree>
    <p:extLst>
      <p:ext uri="{BB962C8B-B14F-4D97-AF65-F5344CB8AC3E}">
        <p14:creationId xmlns:p14="http://schemas.microsoft.com/office/powerpoint/2010/main" val="3598471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6692D8-B31C-784C-169D-9055ED9027F4}"/>
            </a:ext>
          </a:extLst>
        </p:cNvPr>
        <p:cNvGrpSpPr/>
        <p:nvPr/>
      </p:nvGrpSpPr>
      <p:grpSpPr>
        <a:xfrm>
          <a:off x="0" y="0"/>
          <a:ext cx="0" cy="0"/>
          <a:chOff x="0" y="0"/>
          <a:chExt cx="0" cy="0"/>
        </a:xfrm>
      </p:grpSpPr>
      <p:graphicFrame>
        <p:nvGraphicFramePr>
          <p:cNvPr id="4194304" name="Google Shape;109;p4">
            <a:extLst>
              <a:ext uri="{FF2B5EF4-FFF2-40B4-BE49-F238E27FC236}">
                <a16:creationId xmlns:a16="http://schemas.microsoft.com/office/drawing/2014/main" id="{56087A45-0FD0-88BA-4B10-BE531E4B17AA}"/>
              </a:ext>
            </a:extLst>
          </p:cNvPr>
          <p:cNvGraphicFramePr>
            <a:graphicFrameLocks/>
          </p:cNvGraphicFramePr>
          <p:nvPr>
            <p:extLst>
              <p:ext uri="{D42A27DB-BD31-4B8C-83A1-F6EECF244321}">
                <p14:modId xmlns:p14="http://schemas.microsoft.com/office/powerpoint/2010/main" val="2540700428"/>
              </p:ext>
            </p:extLst>
          </p:nvPr>
        </p:nvGraphicFramePr>
        <p:xfrm>
          <a:off x="470731" y="692196"/>
          <a:ext cx="8202537" cy="5821680"/>
        </p:xfrm>
        <a:graphic>
          <a:graphicData uri="http://schemas.openxmlformats.org/drawingml/2006/table">
            <a:tbl>
              <a:tblPr firstRow="1" bandRow="1">
                <a:tableStyleId>{DD6EE30B-C028-4789-B6E4-0BFFCBE8230D}</a:tableStyleId>
              </a:tblPr>
              <a:tblGrid>
                <a:gridCol w="1630237">
                  <a:extLst>
                    <a:ext uri="{9D8B030D-6E8A-4147-A177-3AD203B41FA5}">
                      <a16:colId xmlns:a16="http://schemas.microsoft.com/office/drawing/2014/main" val="20000"/>
                    </a:ext>
                  </a:extLst>
                </a:gridCol>
                <a:gridCol w="1643075">
                  <a:extLst>
                    <a:ext uri="{9D8B030D-6E8A-4147-A177-3AD203B41FA5}">
                      <a16:colId xmlns:a16="http://schemas.microsoft.com/office/drawing/2014/main" val="20001"/>
                    </a:ext>
                  </a:extLst>
                </a:gridCol>
                <a:gridCol w="1643075">
                  <a:extLst>
                    <a:ext uri="{9D8B030D-6E8A-4147-A177-3AD203B41FA5}">
                      <a16:colId xmlns:a16="http://schemas.microsoft.com/office/drawing/2014/main" val="20002"/>
                    </a:ext>
                  </a:extLst>
                </a:gridCol>
                <a:gridCol w="1643075">
                  <a:extLst>
                    <a:ext uri="{9D8B030D-6E8A-4147-A177-3AD203B41FA5}">
                      <a16:colId xmlns:a16="http://schemas.microsoft.com/office/drawing/2014/main" val="20003"/>
                    </a:ext>
                  </a:extLst>
                </a:gridCol>
                <a:gridCol w="1643075">
                  <a:extLst>
                    <a:ext uri="{9D8B030D-6E8A-4147-A177-3AD203B41FA5}">
                      <a16:colId xmlns:a16="http://schemas.microsoft.com/office/drawing/2014/main" val="20004"/>
                    </a:ext>
                  </a:extLst>
                </a:gridCol>
              </a:tblGrid>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 state‑of‑the‑art review on the prediction of building energy consumption (</a:t>
                      </a:r>
                      <a:r>
                        <a:rPr lang="en-IN" sz="1100" b="1" i="0" u="none" strike="noStrike" cap="none" dirty="0">
                          <a:solidFill>
                            <a:schemeClr val="dk1"/>
                          </a:solidFill>
                          <a:effectLst/>
                          <a:latin typeface="Calibri"/>
                          <a:ea typeface="Calibri"/>
                          <a:cs typeface="Calibri"/>
                          <a:sym typeface="Arial"/>
                        </a:rPr>
                        <a:t>Li </a:t>
                      </a:r>
                      <a:r>
                        <a:rPr lang="en-IN" sz="1100" b="0" i="0" u="none" strike="noStrike" cap="none" dirty="0">
                          <a:solidFill>
                            <a:schemeClr val="dk1"/>
                          </a:solidFill>
                          <a:effectLst/>
                          <a:latin typeface="Calibri"/>
                          <a:ea typeface="Calibri"/>
                          <a:cs typeface="Calibri"/>
                          <a:sym typeface="Arial"/>
                        </a:rPr>
                        <a:t>et al., 2020)</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Building Services Engineering Research &amp; Technology.</a:t>
                      </a:r>
                      <a:endParaRPr lang="en-IN" sz="1000" i="1"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Survey of published building energy prediction studies.​</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Summarises traditional and data‑driven methods (regression, ANN, SVM, ensembles), inputs and performance metrics.</a:t>
                      </a:r>
                      <a:endParaRPr lang="en-IN" sz="1000" dirty="0">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Predates the most recent DL/transformer‑style models; limited coverage of interpretability and user‑oriented tools.</a:t>
                      </a:r>
                      <a:endParaRPr lang="en-IN" sz="1000" dirty="0">
                        <a:effectLst/>
                      </a:endParaRPr>
                    </a:p>
                  </a:txBody>
                  <a:tcPr marL="60960" marR="60960" anchor="ctr">
                    <a:solidFill>
                      <a:schemeClr val="bg1">
                        <a:lumMod val="85000"/>
                      </a:schemeClr>
                    </a:solidFill>
                  </a:tcPr>
                </a:tc>
                <a:extLst>
                  <a:ext uri="{0D108BD9-81ED-4DB2-BD59-A6C34878D82A}">
                    <a16:rowId xmlns:a16="http://schemas.microsoft.com/office/drawing/2014/main" val="3678077920"/>
                  </a:ext>
                </a:extLst>
              </a:tr>
              <a:tr h="673700">
                <a:tc>
                  <a:txBody>
                    <a:bodyPr/>
                    <a:lstStyle/>
                    <a:p>
                      <a:pPr algn="ctr" fontAlgn="base" latinLnBrk="0">
                        <a:buNone/>
                      </a:pPr>
                      <a:r>
                        <a:rPr lang="en-IN" sz="1100" b="0" i="0" u="none" strike="noStrike" cap="none" dirty="0" err="1">
                          <a:solidFill>
                            <a:schemeClr val="tx1"/>
                          </a:solidFill>
                          <a:effectLst/>
                          <a:latin typeface="Calibri"/>
                          <a:ea typeface="Calibri"/>
                          <a:cs typeface="Calibri"/>
                          <a:sym typeface="Arial"/>
                        </a:rPr>
                        <a:t>Modeling</a:t>
                      </a:r>
                      <a:r>
                        <a:rPr lang="en-IN" sz="1100" b="0" i="0" u="none" strike="noStrike" cap="none" dirty="0">
                          <a:solidFill>
                            <a:schemeClr val="tx1"/>
                          </a:solidFill>
                          <a:effectLst/>
                          <a:latin typeface="Calibri"/>
                          <a:ea typeface="Calibri"/>
                          <a:cs typeface="Calibri"/>
                          <a:sym typeface="Arial"/>
                        </a:rPr>
                        <a:t> and forecasting building energy consumption: A review (</a:t>
                      </a:r>
                      <a:r>
                        <a:rPr lang="en-IN" sz="1100" b="1" i="0" u="none" strike="noStrike" cap="none" dirty="0">
                          <a:solidFill>
                            <a:schemeClr val="tx1"/>
                          </a:solidFill>
                          <a:effectLst/>
                          <a:latin typeface="Calibri"/>
                          <a:ea typeface="Calibri"/>
                          <a:cs typeface="Calibri"/>
                          <a:sym typeface="Arial"/>
                        </a:rPr>
                        <a:t>Bourdeau </a:t>
                      </a:r>
                      <a:r>
                        <a:rPr lang="en-IN" sz="1100" b="0" i="0" u="none" strike="noStrike" cap="none" dirty="0">
                          <a:solidFill>
                            <a:schemeClr val="tx1"/>
                          </a:solidFill>
                          <a:effectLst/>
                          <a:latin typeface="Calibri"/>
                          <a:ea typeface="Calibri"/>
                          <a:cs typeface="Calibri"/>
                          <a:sym typeface="Arial"/>
                        </a:rPr>
                        <a:t>et al., 2019)</a:t>
                      </a:r>
                      <a:endParaRPr lang="en-IN" sz="110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1" u="none" strike="noStrike" cap="none" dirty="0">
                          <a:solidFill>
                            <a:schemeClr val="tx1"/>
                          </a:solidFill>
                          <a:effectLst/>
                          <a:latin typeface="Calibri"/>
                          <a:ea typeface="Calibri"/>
                          <a:cs typeface="Calibri"/>
                          <a:sym typeface="Arial"/>
                        </a:rPr>
                        <a:t>Sustainable Cities and Society.</a:t>
                      </a:r>
                      <a:endParaRPr lang="en-IN" sz="1000" b="0" i="1"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Survey of building‑scale energy‑consumption modelling studies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Early comprehensive review of ANN, SVM, GP and ensemble approaches for building energy forecasting; highlights data and uncertainty issues.</a:t>
                      </a:r>
                      <a:endParaRPr lang="en-IN" sz="1000" b="0" dirty="0">
                        <a:solidFill>
                          <a:schemeClr val="tx1"/>
                        </a:solidFill>
                        <a:effectLst/>
                      </a:endParaRPr>
                    </a:p>
                  </a:txBody>
                  <a:tcPr marL="60960" marR="60960" anchor="ctr">
                    <a:solidFill>
                      <a:schemeClr val="bg1">
                        <a:lumMod val="85000"/>
                      </a:schemeClr>
                    </a:solidFill>
                  </a:tcPr>
                </a:tc>
                <a:tc>
                  <a:txBody>
                    <a:bodyPr/>
                    <a:lstStyle/>
                    <a:p>
                      <a:pPr algn="ctr" fontAlgn="base" latinLnBrk="0">
                        <a:buNone/>
                      </a:pPr>
                      <a:r>
                        <a:rPr lang="en-IN" sz="1100" b="0" i="0" u="none" strike="noStrike" cap="none" dirty="0">
                          <a:solidFill>
                            <a:schemeClr val="tx1"/>
                          </a:solidFill>
                          <a:effectLst/>
                          <a:latin typeface="Calibri"/>
                          <a:ea typeface="Calibri"/>
                          <a:cs typeface="Calibri"/>
                          <a:sym typeface="Arial"/>
                        </a:rPr>
                        <a:t>Focuses mainly on energy, not explicit CO₂ emissions, and covers few modern deep learning architectures.</a:t>
                      </a:r>
                      <a:endParaRPr lang="en-IN" sz="1000" b="0" dirty="0">
                        <a:solidFill>
                          <a:schemeClr val="tx1"/>
                        </a:solidFill>
                        <a:effectLst/>
                      </a:endParaRPr>
                    </a:p>
                  </a:txBody>
                  <a:tcPr marL="60960" marR="60960" anchor="ctr">
                    <a:solidFill>
                      <a:schemeClr val="bg1">
                        <a:lumMod val="85000"/>
                      </a:schemeClr>
                    </a:solidFill>
                  </a:tcPr>
                </a:tc>
                <a:extLst>
                  <a:ext uri="{0D108BD9-81ED-4DB2-BD59-A6C34878D82A}">
                    <a16:rowId xmlns:a16="http://schemas.microsoft.com/office/drawing/2014/main" val="10001"/>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 Machine Learning Framework for Energy Consumption in Buildings (</a:t>
                      </a:r>
                      <a:r>
                        <a:rPr lang="en-IN" sz="1100" b="1" i="0" u="none" strike="noStrike" cap="none" dirty="0" err="1">
                          <a:solidFill>
                            <a:schemeClr val="dk1"/>
                          </a:solidFill>
                          <a:effectLst/>
                          <a:latin typeface="Calibri"/>
                          <a:ea typeface="Calibri"/>
                          <a:cs typeface="Calibri"/>
                          <a:sym typeface="Arial"/>
                        </a:rPr>
                        <a:t>Madhusudanan</a:t>
                      </a:r>
                      <a:r>
                        <a:rPr lang="en-IN" sz="1100" b="0" i="0" u="none" strike="noStrike" cap="none" dirty="0">
                          <a:solidFill>
                            <a:schemeClr val="dk1"/>
                          </a:solidFill>
                          <a:effectLst/>
                          <a:latin typeface="Calibri"/>
                          <a:ea typeface="Calibri"/>
                          <a:cs typeface="Calibri"/>
                          <a:sym typeface="Arial"/>
                        </a:rPr>
                        <a:t>, 2019)</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Master’s thesis, Clemson University.</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Building‑level energy data with multiple operational features.​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Proposes a full ML pipeline (preprocessing, model selection, evaluation) for building energy prediction.</a:t>
                      </a:r>
                      <a:endParaRPr lang="en-IN" sz="8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Thesis‑level work; scope and datasets are limited compared with large multi‑country or multi‑building studies.</a:t>
                      </a:r>
                      <a:endParaRPr lang="en-IN" sz="800" dirty="0">
                        <a:effectLst/>
                      </a:endParaRPr>
                    </a:p>
                  </a:txBody>
                  <a:tcPr marL="60960" marR="60960" anchor="ctr"/>
                </a:tc>
                <a:extLst>
                  <a:ext uri="{0D108BD9-81ED-4DB2-BD59-A6C34878D82A}">
                    <a16:rowId xmlns:a16="http://schemas.microsoft.com/office/drawing/2014/main" val="10002"/>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Evolutionary Deep Learning‑Based Energy Consumption Prediction for Buildings (</a:t>
                      </a:r>
                      <a:r>
                        <a:rPr lang="en-IN" sz="1100" b="1" i="0" u="none" strike="noStrike" cap="none" dirty="0" err="1">
                          <a:solidFill>
                            <a:schemeClr val="dk1"/>
                          </a:solidFill>
                          <a:effectLst/>
                          <a:latin typeface="Calibri"/>
                          <a:ea typeface="Calibri"/>
                          <a:cs typeface="Calibri"/>
                          <a:sym typeface="Arial"/>
                        </a:rPr>
                        <a:t>Almalaq</a:t>
                      </a:r>
                      <a:r>
                        <a:rPr lang="en-IN" sz="1100" b="0" i="0" u="none" strike="noStrike" cap="none" dirty="0">
                          <a:solidFill>
                            <a:schemeClr val="dk1"/>
                          </a:solidFill>
                          <a:effectLst/>
                          <a:latin typeface="Calibri"/>
                          <a:ea typeface="Calibri"/>
                          <a:cs typeface="Calibri"/>
                          <a:sym typeface="Arial"/>
                        </a:rPr>
                        <a:t> &amp; Edwards, 2018)</a:t>
                      </a:r>
                      <a:endParaRPr lang="en-IN" sz="1000" dirty="0">
                        <a:effectLst/>
                      </a:endParaRPr>
                    </a:p>
                  </a:txBody>
                  <a:tcPr marL="60960" marR="60960" anchor="ctr"/>
                </a:tc>
                <a:tc>
                  <a:txBody>
                    <a:bodyPr/>
                    <a:lstStyle/>
                    <a:p>
                      <a:pPr algn="ctr" fontAlgn="base" latinLnBrk="0">
                        <a:buNone/>
                      </a:pPr>
                      <a:r>
                        <a:rPr lang="en-IN" sz="1100" b="0" i="1" u="none" strike="noStrike" cap="none" dirty="0">
                          <a:solidFill>
                            <a:schemeClr val="dk1"/>
                          </a:solidFill>
                          <a:effectLst/>
                          <a:latin typeface="Calibri"/>
                          <a:ea typeface="Calibri"/>
                          <a:cs typeface="Calibri"/>
                          <a:sym typeface="Arial"/>
                        </a:rPr>
                        <a:t>IEEE Transactions / conference (energy‑informatics context).</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energy‑consumption time‑series data.</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Combines genetic algorithm with LSTM to optimise architecture and hyperparameters for building energy prediction, showing DL can outperform conventional models.</a:t>
                      </a:r>
                      <a:endParaRPr lang="en-IN" sz="8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Early DL implementation; relatively small datasets and little focus on interpretability or deployment constraints.</a:t>
                      </a:r>
                      <a:endParaRPr lang="en-IN" sz="800" dirty="0">
                        <a:effectLst/>
                      </a:endParaRPr>
                    </a:p>
                  </a:txBody>
                  <a:tcPr marL="60960" marR="60960" anchor="ctr"/>
                </a:tc>
                <a:extLst>
                  <a:ext uri="{0D108BD9-81ED-4DB2-BD59-A6C34878D82A}">
                    <a16:rowId xmlns:a16="http://schemas.microsoft.com/office/drawing/2014/main" val="10003"/>
                  </a:ext>
                </a:extLst>
              </a:tr>
              <a:tr h="673700">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Application of Deep Learning Model in Building Energy Consumption Prediction(</a:t>
                      </a:r>
                      <a:r>
                        <a:rPr lang="en-IN" sz="1100" b="1" i="0" u="none" strike="noStrike" cap="none" dirty="0">
                          <a:solidFill>
                            <a:schemeClr val="dk1"/>
                          </a:solidFill>
                          <a:effectLst/>
                          <a:latin typeface="Calibri"/>
                          <a:ea typeface="Calibri"/>
                          <a:cs typeface="Calibri"/>
                          <a:sym typeface="Arial"/>
                        </a:rPr>
                        <a:t>Rahman &amp; Ali</a:t>
                      </a:r>
                      <a:r>
                        <a:rPr lang="en-IN" sz="1100" b="0" i="0" u="none" strike="noStrike" cap="none" dirty="0">
                          <a:solidFill>
                            <a:schemeClr val="dk1"/>
                          </a:solidFill>
                          <a:effectLst/>
                          <a:latin typeface="Calibri"/>
                          <a:ea typeface="Calibri"/>
                          <a:cs typeface="Calibri"/>
                          <a:sym typeface="Arial"/>
                        </a:rPr>
                        <a:t>, 2016)</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Computational Intelligence and Neuroscience (</a:t>
                      </a:r>
                      <a:r>
                        <a:rPr lang="en-IN" sz="1100" b="0" i="0" u="none" strike="noStrike" cap="none" dirty="0" err="1">
                          <a:solidFill>
                            <a:schemeClr val="dk1"/>
                          </a:solidFill>
                          <a:effectLst/>
                          <a:latin typeface="Calibri"/>
                          <a:ea typeface="Calibri"/>
                          <a:cs typeface="Calibri"/>
                          <a:sym typeface="Arial"/>
                        </a:rPr>
                        <a:t>Hindawi</a:t>
                      </a:r>
                      <a:r>
                        <a:rPr lang="en-IN" sz="1100" b="0" i="0" u="none" strike="noStrike" cap="none" dirty="0">
                          <a:solidFill>
                            <a:schemeClr val="dk1"/>
                          </a:solidFill>
                          <a:effectLst/>
                          <a:latin typeface="Calibri"/>
                          <a:ea typeface="Calibri"/>
                          <a:cs typeface="Calibri"/>
                          <a:sym typeface="Arial"/>
                        </a:rPr>
                        <a:t>).</a:t>
                      </a:r>
                      <a:endParaRPr lang="en-IN" sz="1000" i="1"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Building energy‑consumption dataset with multiple influencing factors.</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Applies a deep learning model to predict building energy consumption and compares performance with traditional methods, showing improved accuracy.</a:t>
                      </a:r>
                      <a:endParaRPr lang="en-IN" sz="1000" dirty="0">
                        <a:effectLst/>
                      </a:endParaRPr>
                    </a:p>
                  </a:txBody>
                  <a:tcPr marL="60960" marR="60960" anchor="ctr"/>
                </a:tc>
                <a:tc>
                  <a:txBody>
                    <a:bodyPr/>
                    <a:lstStyle/>
                    <a:p>
                      <a:pPr algn="ctr" fontAlgn="base" latinLnBrk="0">
                        <a:buNone/>
                      </a:pPr>
                      <a:r>
                        <a:rPr lang="en-IN" sz="1100" b="0" i="0" u="none" strike="noStrike" cap="none" dirty="0">
                          <a:solidFill>
                            <a:schemeClr val="dk1"/>
                          </a:solidFill>
                          <a:effectLst/>
                          <a:latin typeface="Calibri"/>
                          <a:ea typeface="Calibri"/>
                          <a:cs typeface="Calibri"/>
                          <a:sym typeface="Arial"/>
                        </a:rPr>
                        <a:t>Uses a specific building dataset and relatively complex DL model; lacks interpretability and SDG framing, and needs more compute than tree‑based ensembles.</a:t>
                      </a:r>
                      <a:endParaRPr lang="en-IN" sz="1000" dirty="0">
                        <a:effectLst/>
                      </a:endParaRPr>
                    </a:p>
                  </a:txBody>
                  <a:tcPr marL="60960" marR="6096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8857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E0F3-D402-CF06-366B-521A82AF402E}"/>
              </a:ext>
            </a:extLst>
          </p:cNvPr>
          <p:cNvSpPr>
            <a:spLocks noGrp="1"/>
          </p:cNvSpPr>
          <p:nvPr>
            <p:ph type="title"/>
          </p:nvPr>
        </p:nvSpPr>
        <p:spPr/>
        <p:txBody>
          <a:bodyPr>
            <a:normAutofit fontScale="90000"/>
          </a:bodyPr>
          <a:lstStyle/>
          <a:p>
            <a:r>
              <a:rPr lang="en-IN" dirty="0"/>
              <a:t>Challenges and Limitations of the existing systems</a:t>
            </a:r>
          </a:p>
        </p:txBody>
      </p:sp>
      <p:graphicFrame>
        <p:nvGraphicFramePr>
          <p:cNvPr id="4" name="Table 3">
            <a:extLst>
              <a:ext uri="{FF2B5EF4-FFF2-40B4-BE49-F238E27FC236}">
                <a16:creationId xmlns:a16="http://schemas.microsoft.com/office/drawing/2014/main" id="{43846973-3CEF-DFAD-D254-4FE4457967AD}"/>
              </a:ext>
            </a:extLst>
          </p:cNvPr>
          <p:cNvGraphicFramePr>
            <a:graphicFrameLocks noGrp="1"/>
          </p:cNvGraphicFramePr>
          <p:nvPr>
            <p:extLst>
              <p:ext uri="{D42A27DB-BD31-4B8C-83A1-F6EECF244321}">
                <p14:modId xmlns:p14="http://schemas.microsoft.com/office/powerpoint/2010/main" val="486059565"/>
              </p:ext>
            </p:extLst>
          </p:nvPr>
        </p:nvGraphicFramePr>
        <p:xfrm>
          <a:off x="457200" y="1615440"/>
          <a:ext cx="8229600" cy="3627120"/>
        </p:xfrm>
        <a:graphic>
          <a:graphicData uri="http://schemas.openxmlformats.org/drawingml/2006/table">
            <a:tbl>
              <a:tblPr/>
              <a:tblGrid>
                <a:gridCol w="2743200">
                  <a:extLst>
                    <a:ext uri="{9D8B030D-6E8A-4147-A177-3AD203B41FA5}">
                      <a16:colId xmlns:a16="http://schemas.microsoft.com/office/drawing/2014/main" val="2110216492"/>
                    </a:ext>
                  </a:extLst>
                </a:gridCol>
                <a:gridCol w="2743200">
                  <a:extLst>
                    <a:ext uri="{9D8B030D-6E8A-4147-A177-3AD203B41FA5}">
                      <a16:colId xmlns:a16="http://schemas.microsoft.com/office/drawing/2014/main" val="490243267"/>
                    </a:ext>
                  </a:extLst>
                </a:gridCol>
                <a:gridCol w="2743200">
                  <a:extLst>
                    <a:ext uri="{9D8B030D-6E8A-4147-A177-3AD203B41FA5}">
                      <a16:colId xmlns:a16="http://schemas.microsoft.com/office/drawing/2014/main" val="2771037756"/>
                    </a:ext>
                  </a:extLst>
                </a:gridCol>
              </a:tblGrid>
              <a:tr h="0">
                <a:tc>
                  <a:txBody>
                    <a:bodyPr/>
                    <a:lstStyle/>
                    <a:p>
                      <a:pPr algn="l">
                        <a:buNone/>
                      </a:pPr>
                      <a:r>
                        <a:rPr lang="en-IN" b="1">
                          <a:effectLst/>
                        </a:rPr>
                        <a:t>Limitation</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dirty="0">
                          <a:effectLst/>
                        </a:rPr>
                        <a:t>Impact</a:t>
                      </a:r>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References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049395250"/>
                  </a:ext>
                </a:extLst>
              </a:tr>
              <a:tr h="0">
                <a:tc>
                  <a:txBody>
                    <a:bodyPr/>
                    <a:lstStyle/>
                    <a:p>
                      <a:pPr algn="l">
                        <a:buNone/>
                      </a:pPr>
                      <a:r>
                        <a:rPr lang="en-IN" b="1">
                          <a:effectLst/>
                        </a:rPr>
                        <a:t>National/City-Level Focus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Does not address household-level predictions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Ye et al., 2025; Ahmed et al., 2023</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80656151"/>
                  </a:ext>
                </a:extLst>
              </a:tr>
              <a:tr h="0">
                <a:tc>
                  <a:txBody>
                    <a:bodyPr/>
                    <a:lstStyle/>
                    <a:p>
                      <a:pPr algn="l">
                        <a:buNone/>
                      </a:pPr>
                      <a:r>
                        <a:rPr lang="en-IN" b="1">
                          <a:effectLst/>
                        </a:rPr>
                        <a:t>Black-Box Models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Lack interpretability for end-users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Khan et al., 2025; Zhang et al., 2024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93591048"/>
                  </a:ext>
                </a:extLst>
              </a:tr>
              <a:tr h="0">
                <a:tc>
                  <a:txBody>
                    <a:bodyPr/>
                    <a:lstStyle/>
                    <a:p>
                      <a:pPr algn="l">
                        <a:buNone/>
                      </a:pPr>
                      <a:r>
                        <a:rPr lang="en-IN" b="1">
                          <a:effectLst/>
                        </a:rPr>
                        <a:t>Complex Data Requirements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Need dense sensor data or GIS spatial features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Liu et al., 2025; Wang et al., 2024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45069035"/>
                  </a:ext>
                </a:extLst>
              </a:tr>
              <a:tr h="0">
                <a:tc>
                  <a:txBody>
                    <a:bodyPr/>
                    <a:lstStyle/>
                    <a:p>
                      <a:pPr algn="l">
                        <a:buNone/>
                      </a:pPr>
                      <a:r>
                        <a:rPr lang="en-IN" b="1">
                          <a:effectLst/>
                        </a:rPr>
                        <a:t>No User-Facing Tools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Research models not deployed as applications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s-ES">
                          <a:effectLst/>
                        </a:rPr>
                        <a:t>Chen et al., 2025; Smith &amp; Rodriguez, 2025</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90451251"/>
                  </a:ext>
                </a:extLst>
              </a:tr>
              <a:tr h="0">
                <a:tc>
                  <a:txBody>
                    <a:bodyPr/>
                    <a:lstStyle/>
                    <a:p>
                      <a:pPr algn="l">
                        <a:buNone/>
                      </a:pPr>
                      <a:r>
                        <a:rPr lang="en-IN" b="1">
                          <a:effectLst/>
                        </a:rPr>
                        <a:t>Energy-Only Prediction</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Focus on energy, not explicit CO₂ emissions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da-DK">
                          <a:effectLst/>
                        </a:rPr>
                        <a:t>Li et al., 2024; Shapi et al., 2021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71661873"/>
                  </a:ext>
                </a:extLst>
              </a:tr>
              <a:tr h="0">
                <a:tc>
                  <a:txBody>
                    <a:bodyPr/>
                    <a:lstStyle/>
                    <a:p>
                      <a:pPr algn="l">
                        <a:buNone/>
                      </a:pPr>
                      <a:r>
                        <a:rPr lang="en-IN" b="1">
                          <a:effectLst/>
                        </a:rPr>
                        <a:t>GPU-Intensive Models</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LSTM/CNN hybrids difficult to deploy on personal devices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fr-FR" dirty="0">
                          <a:effectLst/>
                        </a:rPr>
                        <a:t>Zhang et al., 2024; </a:t>
                      </a:r>
                      <a:r>
                        <a:rPr lang="fr-FR" dirty="0" err="1">
                          <a:effectLst/>
                        </a:rPr>
                        <a:t>Almalaq</a:t>
                      </a:r>
                      <a:r>
                        <a:rPr lang="fr-FR" dirty="0">
                          <a:effectLst/>
                        </a:rPr>
                        <a:t> &amp; Edwards, 2018</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93640609"/>
                  </a:ext>
                </a:extLst>
              </a:tr>
            </a:tbl>
          </a:graphicData>
        </a:graphic>
      </p:graphicFrame>
      <p:sp>
        <p:nvSpPr>
          <p:cNvPr id="6" name="TextBox 5">
            <a:extLst>
              <a:ext uri="{FF2B5EF4-FFF2-40B4-BE49-F238E27FC236}">
                <a16:creationId xmlns:a16="http://schemas.microsoft.com/office/drawing/2014/main" id="{214F0753-35C5-10A0-175B-B07470C75B59}"/>
              </a:ext>
            </a:extLst>
          </p:cNvPr>
          <p:cNvSpPr txBox="1"/>
          <p:nvPr/>
        </p:nvSpPr>
        <p:spPr>
          <a:xfrm>
            <a:off x="457200" y="5440362"/>
            <a:ext cx="7697755" cy="1077218"/>
          </a:xfrm>
          <a:prstGeom prst="rect">
            <a:avLst/>
          </a:prstGeom>
          <a:noFill/>
        </p:spPr>
        <p:txBody>
          <a:bodyPr wrap="square">
            <a:spAutoFit/>
          </a:bodyPr>
          <a:lstStyle/>
          <a:p>
            <a:pPr algn="l"/>
            <a:r>
              <a:rPr lang="en-IN" sz="1600" b="0" i="0" dirty="0">
                <a:effectLst/>
                <a:latin typeface="Calibri" panose="020F0502020204030204" pitchFamily="34" charset="0"/>
                <a:ea typeface="Calibri" panose="020F0502020204030204" pitchFamily="34" charset="0"/>
                <a:cs typeface="Calibri" panose="020F0502020204030204" pitchFamily="34" charset="0"/>
              </a:rPr>
              <a:t>The Core Gap</a:t>
            </a:r>
          </a:p>
          <a:p>
            <a:pPr algn="l"/>
            <a:r>
              <a:rPr lang="en-IN" sz="1600" b="0" i="0" dirty="0">
                <a:effectLst/>
                <a:latin typeface="Calibri" panose="020F0502020204030204" pitchFamily="34" charset="0"/>
                <a:ea typeface="Calibri" panose="020F0502020204030204" pitchFamily="34" charset="0"/>
                <a:cs typeface="Calibri" panose="020F0502020204030204" pitchFamily="34" charset="0"/>
              </a:rPr>
              <a:t>Most ML solutions are either:</a:t>
            </a:r>
          </a:p>
          <a:p>
            <a:pPr marL="285750" indent="-285750" algn="l">
              <a:buFont typeface="Wingdings" panose="05000000000000000000" pitchFamily="2" charset="2"/>
              <a:buChar char="Ø"/>
            </a:pPr>
            <a:r>
              <a:rPr lang="en-IN" sz="1600" b="0" i="0" dirty="0">
                <a:effectLst/>
                <a:latin typeface="Calibri" panose="020F0502020204030204" pitchFamily="34" charset="0"/>
                <a:ea typeface="Calibri" panose="020F0502020204030204" pitchFamily="34" charset="0"/>
                <a:cs typeface="Calibri" panose="020F0502020204030204" pitchFamily="34" charset="0"/>
              </a:rPr>
              <a:t>Too aggregate (national-scale) OR too complex (require expert data)</a:t>
            </a:r>
          </a:p>
          <a:p>
            <a:pPr marL="285750" indent="-285750" algn="l">
              <a:buFont typeface="Wingdings" panose="05000000000000000000" pitchFamily="2" charset="2"/>
              <a:buChar char="Ø"/>
            </a:pPr>
            <a:r>
              <a:rPr lang="en-IN" sz="1600" b="0" i="0" dirty="0">
                <a:effectLst/>
                <a:latin typeface="Calibri" panose="020F0502020204030204" pitchFamily="34" charset="0"/>
                <a:ea typeface="Calibri" panose="020F0502020204030204" pitchFamily="34" charset="0"/>
                <a:cs typeface="Calibri" panose="020F0502020204030204" pitchFamily="34" charset="0"/>
              </a:rPr>
              <a:t>Lack simple, household-friendly, interpretable CO₂ prediction tools</a:t>
            </a:r>
          </a:p>
        </p:txBody>
      </p:sp>
    </p:spTree>
    <p:extLst>
      <p:ext uri="{BB962C8B-B14F-4D97-AF65-F5344CB8AC3E}">
        <p14:creationId xmlns:p14="http://schemas.microsoft.com/office/powerpoint/2010/main" val="238229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048609" name="Google Shape;115;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Objectives</a:t>
            </a:r>
          </a:p>
        </p:txBody>
      </p:sp>
      <p:sp>
        <p:nvSpPr>
          <p:cNvPr id="2" name="Text Placeholder 1">
            <a:extLst>
              <a:ext uri="{FF2B5EF4-FFF2-40B4-BE49-F238E27FC236}">
                <a16:creationId xmlns:a16="http://schemas.microsoft.com/office/drawing/2014/main" id="{779D83E8-3FE5-7895-26B7-EF4CEABC3203}"/>
              </a:ext>
            </a:extLst>
          </p:cNvPr>
          <p:cNvSpPr>
            <a:spLocks noGrp="1" noChangeArrowheads="1"/>
          </p:cNvSpPr>
          <p:nvPr>
            <p:ph type="body" idx="1"/>
          </p:nvPr>
        </p:nvSpPr>
        <p:spPr bwMode="auto">
          <a:xfrm>
            <a:off x="520263" y="1745933"/>
            <a:ext cx="8166537"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b="1" dirty="0"/>
              <a:t>To Develop a Comparative ML Framework: </a:t>
            </a:r>
            <a:r>
              <a:rPr lang="en-IN" sz="1600" dirty="0"/>
              <a:t>To implement and compare multiple regression and ensemble models (Linear Regression, Random Forest, Gradient Boosting, XGBoost, MLP) for accurate household-level CO₂ and energy prediction using easily obtainable features.</a:t>
            </a:r>
          </a:p>
          <a:p>
            <a:r>
              <a:rPr lang="en-IN" sz="1600" b="1" dirty="0"/>
              <a:t>To Provide Interpretable Insights: </a:t>
            </a:r>
            <a:r>
              <a:rPr lang="en-IN" sz="1600" dirty="0"/>
              <a:t>To use feature-importance analysis and SHAP-based explanations to identify emission drivers and enable users to understand which factors most impact their carbon footprint.</a:t>
            </a:r>
          </a:p>
          <a:p>
            <a:r>
              <a:rPr lang="en-IN" sz="1600" b="1" dirty="0"/>
              <a:t>To Deploy a User-Facing Decision-Support Tool: </a:t>
            </a:r>
            <a:r>
              <a:rPr lang="en-IN" sz="1600" dirty="0"/>
              <a:t>To integrate the best-performing model into a simple web dashboard (Streamlit) where users can input their data, receive predictions, and view actionable SDG-13-aligned recommendations for emission reduction.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8BEB3-390C-D6D5-2340-C217292FB7CD}"/>
              </a:ext>
            </a:extLst>
          </p:cNvPr>
          <p:cNvSpPr>
            <a:spLocks noGrp="1"/>
          </p:cNvSpPr>
          <p:nvPr>
            <p:ph type="title"/>
          </p:nvPr>
        </p:nvSpPr>
        <p:spPr/>
        <p:txBody>
          <a:bodyPr>
            <a:normAutofit/>
          </a:bodyPr>
          <a:lstStyle/>
          <a:p>
            <a:r>
              <a:rPr lang="en-IN" dirty="0"/>
              <a:t>Innovation idea of the project</a:t>
            </a:r>
          </a:p>
        </p:txBody>
      </p:sp>
      <p:sp>
        <p:nvSpPr>
          <p:cNvPr id="3" name="Text Placeholder 2">
            <a:extLst>
              <a:ext uri="{FF2B5EF4-FFF2-40B4-BE49-F238E27FC236}">
                <a16:creationId xmlns:a16="http://schemas.microsoft.com/office/drawing/2014/main" id="{4CC91C85-F8BB-5BA1-1072-799EB4A2E746}"/>
              </a:ext>
            </a:extLst>
          </p:cNvPr>
          <p:cNvSpPr>
            <a:spLocks noGrp="1"/>
          </p:cNvSpPr>
          <p:nvPr>
            <p:ph type="body" idx="1"/>
          </p:nvPr>
        </p:nvSpPr>
        <p:spPr>
          <a:xfrm>
            <a:off x="289249" y="1287624"/>
            <a:ext cx="8528179" cy="5295738"/>
          </a:xfrm>
        </p:spPr>
        <p:txBody>
          <a:bodyPr>
            <a:normAutofit fontScale="47500" lnSpcReduction="20000"/>
          </a:bodyPr>
          <a:lstStyle/>
          <a:p>
            <a:pPr marL="114300" indent="0">
              <a:buNone/>
            </a:pPr>
            <a:r>
              <a:rPr lang="en-IN" sz="3400" dirty="0"/>
              <a:t>What Makes This Project Unique</a:t>
            </a:r>
          </a:p>
          <a:p>
            <a:pPr marL="114300" indent="0">
              <a:buNone/>
            </a:pPr>
            <a:r>
              <a:rPr lang="en-IN" sz="3400" b="1" dirty="0"/>
              <a:t>1. Household-Level Focus</a:t>
            </a:r>
          </a:p>
          <a:p>
            <a:pPr lvl="1">
              <a:buFont typeface="Wingdings" panose="05000000000000000000" pitchFamily="2" charset="2"/>
              <a:buChar char="Ø"/>
            </a:pPr>
            <a:r>
              <a:rPr lang="en-IN" sz="3400" dirty="0"/>
              <a:t>Targets individual homes, not cities or national aggregates</a:t>
            </a:r>
          </a:p>
          <a:p>
            <a:pPr lvl="1">
              <a:buFont typeface="Wingdings" panose="05000000000000000000" pitchFamily="2" charset="2"/>
              <a:buChar char="Ø"/>
            </a:pPr>
            <a:r>
              <a:rPr lang="en-IN" sz="3400" dirty="0"/>
              <a:t>Uses easily obtainable features: floor area, appliance usage, fuel type</a:t>
            </a:r>
          </a:p>
          <a:p>
            <a:pPr marL="114300" indent="0">
              <a:buNone/>
            </a:pPr>
            <a:r>
              <a:rPr lang="en-IN" sz="3400" b="1" dirty="0"/>
              <a:t>2. Interpretable Machine Learning</a:t>
            </a:r>
          </a:p>
          <a:p>
            <a:pPr lvl="1">
              <a:buFont typeface="Wingdings" panose="05000000000000000000" pitchFamily="2" charset="2"/>
              <a:buChar char="Ø"/>
            </a:pPr>
            <a:r>
              <a:rPr lang="en-IN" sz="3400" dirty="0"/>
              <a:t>Not just predictions—explains WHY emissions are high</a:t>
            </a:r>
          </a:p>
          <a:p>
            <a:pPr lvl="1">
              <a:buFont typeface="Wingdings" panose="05000000000000000000" pitchFamily="2" charset="2"/>
              <a:buChar char="Ø"/>
            </a:pPr>
            <a:r>
              <a:rPr lang="en-IN" sz="3400" dirty="0"/>
              <a:t>Feature importance + SHAP analysis show key drivers</a:t>
            </a:r>
          </a:p>
          <a:p>
            <a:pPr lvl="1">
              <a:buFont typeface="Wingdings" panose="05000000000000000000" pitchFamily="2" charset="2"/>
              <a:buChar char="Ø"/>
            </a:pPr>
            <a:r>
              <a:rPr lang="en-IN" sz="3400" dirty="0"/>
              <a:t>Enables users to understand their carbon footprint</a:t>
            </a:r>
          </a:p>
          <a:p>
            <a:pPr marL="114300" indent="0">
              <a:buNone/>
            </a:pPr>
            <a:r>
              <a:rPr lang="en-IN" sz="3400" b="1" dirty="0"/>
              <a:t>3. Lightweight &amp; Accessible</a:t>
            </a:r>
          </a:p>
          <a:p>
            <a:pPr lvl="1">
              <a:buFont typeface="Wingdings" panose="05000000000000000000" pitchFamily="2" charset="2"/>
              <a:buChar char="Ø"/>
            </a:pPr>
            <a:r>
              <a:rPr lang="en-IN" sz="3400" dirty="0"/>
              <a:t>Tree-based ensembles (Random Forest, XGBoost) + Linear Regression</a:t>
            </a:r>
          </a:p>
          <a:p>
            <a:pPr lvl="1">
              <a:buFont typeface="Wingdings" panose="05000000000000000000" pitchFamily="2" charset="2"/>
              <a:buChar char="Ø"/>
            </a:pPr>
            <a:r>
              <a:rPr lang="en-IN" sz="3400" dirty="0"/>
              <a:t>Trainable on personal PC without GPU</a:t>
            </a:r>
          </a:p>
          <a:p>
            <a:pPr lvl="1">
              <a:buFont typeface="Wingdings" panose="05000000000000000000" pitchFamily="2" charset="2"/>
              <a:buChar char="Ø"/>
            </a:pPr>
            <a:r>
              <a:rPr lang="en-IN" sz="3400" dirty="0"/>
              <a:t>Fast predictions suitable for web deployment</a:t>
            </a:r>
          </a:p>
          <a:p>
            <a:pPr marL="114300" indent="0">
              <a:buNone/>
            </a:pPr>
            <a:r>
              <a:rPr lang="en-IN" sz="3400" b="1" dirty="0"/>
              <a:t>4. User-Facing Decision-Support Tool</a:t>
            </a:r>
          </a:p>
          <a:p>
            <a:pPr lvl="1">
              <a:buFont typeface="Wingdings" panose="05000000000000000000" pitchFamily="2" charset="2"/>
              <a:buChar char="Ø"/>
            </a:pPr>
            <a:r>
              <a:rPr lang="en-IN" sz="3400" dirty="0"/>
              <a:t>Streamlit web dashboard for non-technical users</a:t>
            </a:r>
          </a:p>
          <a:p>
            <a:pPr lvl="1">
              <a:buFont typeface="Wingdings" panose="05000000000000000000" pitchFamily="2" charset="2"/>
              <a:buChar char="Ø"/>
            </a:pPr>
            <a:r>
              <a:rPr lang="en-IN" sz="3400" dirty="0"/>
              <a:t>Input your data → Get CO₂ prediction + actionable recommendations</a:t>
            </a:r>
          </a:p>
          <a:p>
            <a:pPr lvl="1">
              <a:buFont typeface="Wingdings" panose="05000000000000000000" pitchFamily="2" charset="2"/>
              <a:buChar char="Ø"/>
            </a:pPr>
            <a:r>
              <a:rPr lang="en-IN" sz="3400" dirty="0"/>
              <a:t>"What-if" scenarios: e.g., </a:t>
            </a:r>
            <a:r>
              <a:rPr lang="en-IN" sz="3400" i="1" dirty="0"/>
              <a:t>"What if I reduce AC hours by 2?"</a:t>
            </a:r>
            <a:endParaRPr lang="en-IN" sz="3400" dirty="0"/>
          </a:p>
          <a:p>
            <a:pPr marL="114300" indent="0">
              <a:buNone/>
            </a:pPr>
            <a:r>
              <a:rPr lang="en-IN" sz="3400" b="1" dirty="0"/>
              <a:t>5. SDG-13 Climate Action Integration</a:t>
            </a:r>
          </a:p>
          <a:p>
            <a:pPr lvl="1">
              <a:buFont typeface="Wingdings" panose="05000000000000000000" pitchFamily="2" charset="2"/>
              <a:buChar char="Ø"/>
            </a:pPr>
            <a:r>
              <a:rPr lang="en-IN" sz="3400" dirty="0"/>
              <a:t>Translates ML research into practical climate action</a:t>
            </a:r>
          </a:p>
          <a:p>
            <a:pPr lvl="1">
              <a:buFont typeface="Wingdings" panose="05000000000000000000" pitchFamily="2" charset="2"/>
              <a:buChar char="Ø"/>
            </a:pPr>
            <a:r>
              <a:rPr lang="en-IN" sz="3400" dirty="0"/>
              <a:t>Empowers individuals with data-driven emission reduction strategies</a:t>
            </a:r>
          </a:p>
          <a:p>
            <a:endParaRPr lang="en-IN" dirty="0"/>
          </a:p>
        </p:txBody>
      </p:sp>
    </p:spTree>
    <p:extLst>
      <p:ext uri="{BB962C8B-B14F-4D97-AF65-F5344CB8AC3E}">
        <p14:creationId xmlns:p14="http://schemas.microsoft.com/office/powerpoint/2010/main" val="1077261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3CA6-F4C4-2076-5349-BDB8435DE7C7}"/>
              </a:ext>
            </a:extLst>
          </p:cNvPr>
          <p:cNvSpPr>
            <a:spLocks noGrp="1"/>
          </p:cNvSpPr>
          <p:nvPr>
            <p:ph type="title"/>
          </p:nvPr>
        </p:nvSpPr>
        <p:spPr/>
        <p:txBody>
          <a:bodyPr>
            <a:normAutofit/>
          </a:bodyPr>
          <a:lstStyle/>
          <a:p>
            <a:r>
              <a:rPr lang="en-IN" dirty="0"/>
              <a:t>Scope and application</a:t>
            </a:r>
          </a:p>
        </p:txBody>
      </p:sp>
      <p:sp>
        <p:nvSpPr>
          <p:cNvPr id="3" name="Text Placeholder 2">
            <a:extLst>
              <a:ext uri="{FF2B5EF4-FFF2-40B4-BE49-F238E27FC236}">
                <a16:creationId xmlns:a16="http://schemas.microsoft.com/office/drawing/2014/main" id="{CA842310-7121-56AD-3004-1EBB50F93DDE}"/>
              </a:ext>
            </a:extLst>
          </p:cNvPr>
          <p:cNvSpPr>
            <a:spLocks noGrp="1"/>
          </p:cNvSpPr>
          <p:nvPr>
            <p:ph type="body" idx="1"/>
          </p:nvPr>
        </p:nvSpPr>
        <p:spPr/>
        <p:txBody>
          <a:bodyPr>
            <a:normAutofit fontScale="85000" lnSpcReduction="20000"/>
          </a:bodyPr>
          <a:lstStyle/>
          <a:p>
            <a:pPr marL="114300" indent="0">
              <a:buNone/>
            </a:pPr>
            <a:r>
              <a:rPr lang="en-IN" sz="2300" dirty="0"/>
              <a:t>Scope:</a:t>
            </a:r>
          </a:p>
          <a:p>
            <a:pPr marL="628650" indent="-514350">
              <a:buFont typeface="+mj-lt"/>
              <a:buAutoNum type="arabicPeriod"/>
            </a:pPr>
            <a:r>
              <a:rPr lang="en-IN" sz="2300" b="1" dirty="0"/>
              <a:t>Geographic Scope</a:t>
            </a:r>
          </a:p>
          <a:p>
            <a:pPr lvl="1">
              <a:buFont typeface="Wingdings" panose="05000000000000000000" pitchFamily="2" charset="2"/>
              <a:buChar char="Ø"/>
            </a:pPr>
            <a:r>
              <a:rPr lang="en-IN" sz="2300" dirty="0"/>
              <a:t>Initially: Urban residential buildings in India</a:t>
            </a:r>
          </a:p>
          <a:p>
            <a:pPr lvl="1">
              <a:buFont typeface="Wingdings" panose="05000000000000000000" pitchFamily="2" charset="2"/>
              <a:buChar char="Ø"/>
            </a:pPr>
            <a:r>
              <a:rPr lang="en-IN" sz="2300" dirty="0"/>
              <a:t>Extendable to: Any region with similar climate zones (hot, moderate, cool)</a:t>
            </a:r>
          </a:p>
          <a:p>
            <a:pPr marL="628650" indent="-514350">
              <a:buFont typeface="+mj-lt"/>
              <a:buAutoNum type="arabicPeriod"/>
            </a:pPr>
            <a:r>
              <a:rPr lang="en-IN" sz="2300" b="1" dirty="0"/>
              <a:t>Target Users</a:t>
            </a:r>
          </a:p>
          <a:p>
            <a:pPr lvl="1">
              <a:buFont typeface="Wingdings" panose="05000000000000000000" pitchFamily="2" charset="2"/>
              <a:buChar char="Ø"/>
            </a:pPr>
            <a:r>
              <a:rPr lang="en-IN" sz="2300" dirty="0"/>
              <a:t>Homeowners and renters wanting to understand their carbon footprint</a:t>
            </a:r>
          </a:p>
          <a:p>
            <a:pPr lvl="1">
              <a:buFont typeface="Wingdings" panose="05000000000000000000" pitchFamily="2" charset="2"/>
              <a:buChar char="Ø"/>
            </a:pPr>
            <a:r>
              <a:rPr lang="en-IN" sz="2300" dirty="0"/>
              <a:t>Building managers optimizing energy efficiency</a:t>
            </a:r>
          </a:p>
          <a:p>
            <a:pPr lvl="1">
              <a:buFont typeface="Wingdings" panose="05000000000000000000" pitchFamily="2" charset="2"/>
              <a:buChar char="Ø"/>
            </a:pPr>
            <a:r>
              <a:rPr lang="en-IN" sz="2300" dirty="0"/>
              <a:t>Policy makers designing residential emission reduction programs</a:t>
            </a:r>
          </a:p>
          <a:p>
            <a:pPr marL="628650" indent="-514350">
              <a:buFont typeface="+mj-lt"/>
              <a:buAutoNum type="arabicPeriod"/>
            </a:pPr>
            <a:r>
              <a:rPr lang="en-IN" sz="2300" b="1" dirty="0"/>
              <a:t>Technical Scope</a:t>
            </a:r>
          </a:p>
          <a:p>
            <a:pPr lvl="1">
              <a:buFont typeface="Wingdings" panose="05000000000000000000" pitchFamily="2" charset="2"/>
              <a:buChar char="Ø"/>
            </a:pPr>
            <a:r>
              <a:rPr lang="en-IN" sz="2300" dirty="0"/>
              <a:t>Phase I (Current): Dataset creation, model comparison, initial deployment</a:t>
            </a:r>
          </a:p>
          <a:p>
            <a:pPr lvl="1">
              <a:buFont typeface="Wingdings" panose="05000000000000000000" pitchFamily="2" charset="2"/>
              <a:buChar char="Ø"/>
            </a:pPr>
            <a:r>
              <a:rPr lang="en-IN" sz="2300" dirty="0"/>
              <a:t>Phase II (Future): Time-series forecasting, IoT integration, mobile app</a:t>
            </a:r>
          </a:p>
          <a:p>
            <a:endParaRPr lang="en-IN" dirty="0"/>
          </a:p>
        </p:txBody>
      </p:sp>
    </p:spTree>
    <p:extLst>
      <p:ext uri="{BB962C8B-B14F-4D97-AF65-F5344CB8AC3E}">
        <p14:creationId xmlns:p14="http://schemas.microsoft.com/office/powerpoint/2010/main" val="1807955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A86353-B57A-EE8C-2CF4-0D21B5E3B990}"/>
              </a:ext>
            </a:extLst>
          </p:cNvPr>
          <p:cNvSpPr>
            <a:spLocks noGrp="1"/>
          </p:cNvSpPr>
          <p:nvPr>
            <p:ph type="body" idx="1"/>
          </p:nvPr>
        </p:nvSpPr>
        <p:spPr>
          <a:xfrm>
            <a:off x="447869" y="317242"/>
            <a:ext cx="8238931" cy="5808922"/>
          </a:xfrm>
        </p:spPr>
        <p:txBody>
          <a:bodyPr>
            <a:normAutofit/>
          </a:bodyPr>
          <a:lstStyle/>
          <a:p>
            <a:pPr marL="114300" indent="0">
              <a:buNone/>
            </a:pPr>
            <a:r>
              <a:rPr lang="en-IN" sz="1600" dirty="0"/>
              <a:t>Applications:</a:t>
            </a:r>
          </a:p>
          <a:p>
            <a:pPr marL="114300" indent="0">
              <a:buNone/>
            </a:pPr>
            <a:r>
              <a:rPr lang="en-IN" sz="1600" b="1" dirty="0"/>
              <a:t>1. Individual Carbon Footprint Tracking</a:t>
            </a:r>
          </a:p>
          <a:p>
            <a:pPr lvl="1">
              <a:buFont typeface="Wingdings" panose="05000000000000000000" pitchFamily="2" charset="2"/>
              <a:buChar char="Ø"/>
            </a:pPr>
            <a:r>
              <a:rPr lang="en-IN" sz="1600" dirty="0"/>
              <a:t>Households estimate monthly CO₂ emissions from simple inputs</a:t>
            </a:r>
          </a:p>
          <a:p>
            <a:pPr lvl="1">
              <a:buFont typeface="Wingdings" panose="05000000000000000000" pitchFamily="2" charset="2"/>
              <a:buChar char="Ø"/>
            </a:pPr>
            <a:r>
              <a:rPr lang="en-IN" sz="1600" dirty="0"/>
              <a:t>Compare against regional averages</a:t>
            </a:r>
          </a:p>
          <a:p>
            <a:pPr marL="114300" indent="0">
              <a:buNone/>
            </a:pPr>
            <a:r>
              <a:rPr lang="en-IN" sz="1600" b="1" dirty="0"/>
              <a:t>2. Energy Efficiency Planning</a:t>
            </a:r>
          </a:p>
          <a:p>
            <a:pPr lvl="1">
              <a:buFont typeface="Wingdings" panose="05000000000000000000" pitchFamily="2" charset="2"/>
              <a:buChar char="Ø"/>
            </a:pPr>
            <a:r>
              <a:rPr lang="en-IN" sz="1600" dirty="0"/>
              <a:t>Identify high-impact factors (e.g., AC usage, building type)</a:t>
            </a:r>
          </a:p>
          <a:p>
            <a:pPr lvl="1">
              <a:buFont typeface="Wingdings" panose="05000000000000000000" pitchFamily="2" charset="2"/>
              <a:buChar char="Ø"/>
            </a:pPr>
            <a:r>
              <a:rPr lang="en-IN" sz="1600" dirty="0"/>
              <a:t>Prioritize interventions (insulation, appliance upgrades)</a:t>
            </a:r>
          </a:p>
          <a:p>
            <a:pPr marL="114300" indent="0">
              <a:buNone/>
            </a:pPr>
            <a:r>
              <a:rPr lang="en-IN" sz="1600" b="1" dirty="0"/>
              <a:t>3. </a:t>
            </a:r>
            <a:r>
              <a:rPr lang="en-IN" sz="1600" b="1" dirty="0" err="1"/>
              <a:t>Behavioral</a:t>
            </a:r>
            <a:r>
              <a:rPr lang="en-IN" sz="1600" b="1" dirty="0"/>
              <a:t> Nudging</a:t>
            </a:r>
          </a:p>
          <a:p>
            <a:pPr lvl="1">
              <a:buFont typeface="Wingdings" panose="05000000000000000000" pitchFamily="2" charset="2"/>
              <a:buChar char="Ø"/>
            </a:pPr>
            <a:r>
              <a:rPr lang="en-IN" sz="1600" dirty="0"/>
              <a:t>"What-if" scenarios motivate emission reduction actions</a:t>
            </a:r>
          </a:p>
          <a:p>
            <a:pPr lvl="1">
              <a:buFont typeface="Wingdings" panose="05000000000000000000" pitchFamily="2" charset="2"/>
              <a:buChar char="Ø"/>
            </a:pPr>
            <a:r>
              <a:rPr lang="en-IN" sz="1600" dirty="0"/>
              <a:t>Example: </a:t>
            </a:r>
            <a:r>
              <a:rPr lang="en-IN" sz="1600" i="1" dirty="0"/>
              <a:t>"Switching to efficient appliances saves 120 kg CO₂/year"</a:t>
            </a:r>
            <a:endParaRPr lang="en-IN" sz="1600" dirty="0"/>
          </a:p>
          <a:p>
            <a:pPr marL="114300" indent="0">
              <a:buNone/>
            </a:pPr>
            <a:r>
              <a:rPr lang="en-IN" sz="1600" b="1" dirty="0"/>
              <a:t>4. Policy Support</a:t>
            </a:r>
          </a:p>
          <a:p>
            <a:pPr lvl="1">
              <a:buFont typeface="Wingdings" panose="05000000000000000000" pitchFamily="2" charset="2"/>
              <a:buChar char="Ø"/>
            </a:pPr>
            <a:r>
              <a:rPr lang="en-IN" sz="1600" dirty="0"/>
              <a:t>Governments use aggregated data for residential emission baselines</a:t>
            </a:r>
          </a:p>
          <a:p>
            <a:pPr lvl="1">
              <a:buFont typeface="Wingdings" panose="05000000000000000000" pitchFamily="2" charset="2"/>
              <a:buChar char="Ø"/>
            </a:pPr>
            <a:r>
              <a:rPr lang="en-IN" sz="1600" dirty="0"/>
              <a:t>Design targeted subsidy programs (e.g., AC efficiency rebates)</a:t>
            </a:r>
          </a:p>
          <a:p>
            <a:pPr marL="114300" indent="0">
              <a:buNone/>
            </a:pPr>
            <a:r>
              <a:rPr lang="en-IN" sz="1600" b="1" dirty="0"/>
              <a:t>5. Educational Tool</a:t>
            </a:r>
          </a:p>
          <a:p>
            <a:pPr lvl="1">
              <a:buFont typeface="Wingdings" panose="05000000000000000000" pitchFamily="2" charset="2"/>
              <a:buChar char="Ø"/>
            </a:pPr>
            <a:r>
              <a:rPr lang="en-IN" sz="1600" dirty="0"/>
              <a:t>Schools and NGOs use dashboard for climate awareness workshops</a:t>
            </a:r>
          </a:p>
          <a:p>
            <a:pPr lvl="1">
              <a:buFont typeface="Wingdings" panose="05000000000000000000" pitchFamily="2" charset="2"/>
              <a:buChar char="Ø"/>
            </a:pPr>
            <a:r>
              <a:rPr lang="en-IN" sz="1600" dirty="0"/>
              <a:t>Visual, data-driven learning about carbon footprint</a:t>
            </a:r>
          </a:p>
          <a:p>
            <a:endParaRPr lang="en-IN" sz="1600" dirty="0"/>
          </a:p>
        </p:txBody>
      </p:sp>
    </p:spTree>
    <p:extLst>
      <p:ext uri="{BB962C8B-B14F-4D97-AF65-F5344CB8AC3E}">
        <p14:creationId xmlns:p14="http://schemas.microsoft.com/office/powerpoint/2010/main" val="503117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1743C-FD89-B82C-1BF0-4028B4D8A78F}"/>
              </a:ext>
            </a:extLst>
          </p:cNvPr>
          <p:cNvSpPr>
            <a:spLocks noGrp="1"/>
          </p:cNvSpPr>
          <p:nvPr>
            <p:ph type="title"/>
          </p:nvPr>
        </p:nvSpPr>
        <p:spPr>
          <a:xfrm>
            <a:off x="597159" y="209324"/>
            <a:ext cx="8229600" cy="1143000"/>
          </a:xfrm>
        </p:spPr>
        <p:txBody>
          <a:bodyPr/>
          <a:lstStyle/>
          <a:p>
            <a:r>
              <a:rPr lang="en-IN" dirty="0"/>
              <a:t>Architecture </a:t>
            </a:r>
          </a:p>
        </p:txBody>
      </p:sp>
      <p:pic>
        <p:nvPicPr>
          <p:cNvPr id="7" name="Picture 6">
            <a:extLst>
              <a:ext uri="{FF2B5EF4-FFF2-40B4-BE49-F238E27FC236}">
                <a16:creationId xmlns:a16="http://schemas.microsoft.com/office/drawing/2014/main" id="{0FFB7B23-F346-663D-D08D-82BF6D0A6220}"/>
              </a:ext>
            </a:extLst>
          </p:cNvPr>
          <p:cNvPicPr>
            <a:picLocks noChangeAspect="1"/>
          </p:cNvPicPr>
          <p:nvPr/>
        </p:nvPicPr>
        <p:blipFill>
          <a:blip r:embed="rId2"/>
          <a:stretch>
            <a:fillRect/>
          </a:stretch>
        </p:blipFill>
        <p:spPr>
          <a:xfrm>
            <a:off x="597159" y="1131643"/>
            <a:ext cx="3462099" cy="5561045"/>
          </a:xfrm>
          <a:prstGeom prst="rect">
            <a:avLst/>
          </a:prstGeom>
        </p:spPr>
      </p:pic>
      <p:pic>
        <p:nvPicPr>
          <p:cNvPr id="9" name="Picture 8">
            <a:extLst>
              <a:ext uri="{FF2B5EF4-FFF2-40B4-BE49-F238E27FC236}">
                <a16:creationId xmlns:a16="http://schemas.microsoft.com/office/drawing/2014/main" id="{C9B612F9-784C-0195-55EB-6E9FBD27090C}"/>
              </a:ext>
            </a:extLst>
          </p:cNvPr>
          <p:cNvPicPr>
            <a:picLocks noChangeAspect="1"/>
          </p:cNvPicPr>
          <p:nvPr/>
        </p:nvPicPr>
        <p:blipFill>
          <a:blip r:embed="rId3"/>
          <a:stretch>
            <a:fillRect/>
          </a:stretch>
        </p:blipFill>
        <p:spPr>
          <a:xfrm>
            <a:off x="5150058" y="1175656"/>
            <a:ext cx="3424685" cy="5473020"/>
          </a:xfrm>
          <a:prstGeom prst="rect">
            <a:avLst/>
          </a:prstGeom>
        </p:spPr>
      </p:pic>
      <p:cxnSp>
        <p:nvCxnSpPr>
          <p:cNvPr id="19" name="Straight Connector 18">
            <a:extLst>
              <a:ext uri="{FF2B5EF4-FFF2-40B4-BE49-F238E27FC236}">
                <a16:creationId xmlns:a16="http://schemas.microsoft.com/office/drawing/2014/main" id="{3B7CEEB5-7E80-62D9-9661-97947A925AF0}"/>
              </a:ext>
            </a:extLst>
          </p:cNvPr>
          <p:cNvCxnSpPr/>
          <p:nvPr/>
        </p:nvCxnSpPr>
        <p:spPr>
          <a:xfrm>
            <a:off x="2127380" y="6648676"/>
            <a:ext cx="2304661"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B3F391F-9600-12A3-A8EC-156645D05391}"/>
              </a:ext>
            </a:extLst>
          </p:cNvPr>
          <p:cNvCxnSpPr>
            <a:cxnSpLocks/>
          </p:cNvCxnSpPr>
          <p:nvPr/>
        </p:nvCxnSpPr>
        <p:spPr>
          <a:xfrm>
            <a:off x="4432041" y="1175656"/>
            <a:ext cx="0" cy="547302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BB8B64C-A02E-3F5F-6B78-443D18FAEFD3}"/>
              </a:ext>
            </a:extLst>
          </p:cNvPr>
          <p:cNvCxnSpPr>
            <a:cxnSpLocks/>
          </p:cNvCxnSpPr>
          <p:nvPr/>
        </p:nvCxnSpPr>
        <p:spPr>
          <a:xfrm>
            <a:off x="4432041" y="1175656"/>
            <a:ext cx="227666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7562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4E3897-7335-9150-F372-86A0EC4BF648}"/>
              </a:ext>
            </a:extLst>
          </p:cNvPr>
          <p:cNvPicPr>
            <a:picLocks noChangeAspect="1"/>
          </p:cNvPicPr>
          <p:nvPr/>
        </p:nvPicPr>
        <p:blipFill>
          <a:blip r:embed="rId2"/>
          <a:stretch>
            <a:fillRect/>
          </a:stretch>
        </p:blipFill>
        <p:spPr>
          <a:xfrm>
            <a:off x="2847486" y="420361"/>
            <a:ext cx="3449027" cy="6017277"/>
          </a:xfrm>
          <a:prstGeom prst="rect">
            <a:avLst/>
          </a:prstGeom>
        </p:spPr>
      </p:pic>
    </p:spTree>
    <p:extLst>
      <p:ext uri="{BB962C8B-B14F-4D97-AF65-F5344CB8AC3E}">
        <p14:creationId xmlns:p14="http://schemas.microsoft.com/office/powerpoint/2010/main" val="2864637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A5180-D3DA-DCF3-E623-ECE4B3CCAB78}"/>
              </a:ext>
            </a:extLst>
          </p:cNvPr>
          <p:cNvSpPr>
            <a:spLocks noGrp="1"/>
          </p:cNvSpPr>
          <p:nvPr>
            <p:ph type="title"/>
          </p:nvPr>
        </p:nvSpPr>
        <p:spPr/>
        <p:txBody>
          <a:bodyPr>
            <a:normAutofit fontScale="90000"/>
          </a:bodyPr>
          <a:lstStyle/>
          <a:p>
            <a:r>
              <a:rPr lang="en-IN" dirty="0"/>
              <a:t>Proposed Modules and their algorithm Description</a:t>
            </a:r>
          </a:p>
        </p:txBody>
      </p:sp>
      <p:sp>
        <p:nvSpPr>
          <p:cNvPr id="3" name="Text Placeholder 2">
            <a:extLst>
              <a:ext uri="{FF2B5EF4-FFF2-40B4-BE49-F238E27FC236}">
                <a16:creationId xmlns:a16="http://schemas.microsoft.com/office/drawing/2014/main" id="{4CAB0460-DE34-958C-E3FE-CBF0F4193B5F}"/>
              </a:ext>
            </a:extLst>
          </p:cNvPr>
          <p:cNvSpPr>
            <a:spLocks noGrp="1"/>
          </p:cNvSpPr>
          <p:nvPr>
            <p:ph type="body" idx="1"/>
          </p:nvPr>
        </p:nvSpPr>
        <p:spPr/>
        <p:txBody>
          <a:bodyPr>
            <a:normAutofit/>
          </a:bodyPr>
          <a:lstStyle/>
          <a:p>
            <a:pPr marL="114300" indent="0">
              <a:buNone/>
            </a:pPr>
            <a:r>
              <a:rPr lang="en-IN" sz="1600" b="1" dirty="0"/>
              <a:t>Module 1: Data Collection &amp; Preprocessing</a:t>
            </a:r>
          </a:p>
          <a:p>
            <a:pPr marL="114300" indent="0">
              <a:buNone/>
            </a:pPr>
            <a:endParaRPr lang="en-IN" sz="1600" dirty="0"/>
          </a:p>
          <a:p>
            <a:pPr marL="114300" indent="0">
              <a:buNone/>
            </a:pPr>
            <a:r>
              <a:rPr lang="en-IN" sz="1600" dirty="0"/>
              <a:t>Algorithm:</a:t>
            </a:r>
          </a:p>
          <a:p>
            <a:pPr marL="628650" indent="-514350">
              <a:buFont typeface="+mj-lt"/>
              <a:buAutoNum type="arabicPeriod"/>
            </a:pPr>
            <a:r>
              <a:rPr lang="en-IN" sz="1600" dirty="0"/>
              <a:t>Load synthetic dataset (2000 samples, 8 features)</a:t>
            </a:r>
          </a:p>
          <a:p>
            <a:pPr marL="628650" indent="-514350">
              <a:buFont typeface="+mj-lt"/>
              <a:buAutoNum type="arabicPeriod"/>
            </a:pPr>
            <a:r>
              <a:rPr lang="en-IN" sz="1600" dirty="0"/>
              <a:t>Check for missing values → Impute if needed</a:t>
            </a:r>
          </a:p>
          <a:p>
            <a:pPr marL="628650" indent="-514350">
              <a:buFont typeface="+mj-lt"/>
              <a:buAutoNum type="arabicPeriod"/>
            </a:pPr>
            <a:r>
              <a:rPr lang="en-IN" sz="1600" dirty="0"/>
              <a:t>Categorical encoding:</a:t>
            </a:r>
          </a:p>
          <a:p>
            <a:pPr lvl="1">
              <a:buFont typeface="Wingdings" panose="05000000000000000000" pitchFamily="2" charset="2"/>
              <a:buChar char="Ø"/>
            </a:pPr>
            <a:r>
              <a:rPr lang="en-IN" sz="1600" dirty="0" err="1"/>
              <a:t>building_type</a:t>
            </a:r>
            <a:r>
              <a:rPr lang="en-IN" sz="1600" dirty="0"/>
              <a:t> → One-hot encoding (apartment, independent)</a:t>
            </a:r>
          </a:p>
          <a:p>
            <a:pPr lvl="1">
              <a:buFont typeface="Wingdings" panose="05000000000000000000" pitchFamily="2" charset="2"/>
              <a:buChar char="Ø"/>
            </a:pPr>
            <a:r>
              <a:rPr lang="en-IN" sz="1600" dirty="0" err="1"/>
              <a:t>climate_zone</a:t>
            </a:r>
            <a:r>
              <a:rPr lang="en-IN" sz="1600" dirty="0"/>
              <a:t> → One-hot encoding (hot, moderate, cool)</a:t>
            </a:r>
          </a:p>
          <a:p>
            <a:pPr marL="628650" indent="-514350">
              <a:buFont typeface="+mj-lt"/>
              <a:buAutoNum type="arabicPeriod"/>
            </a:pPr>
            <a:r>
              <a:rPr lang="en-IN" sz="1600" dirty="0"/>
              <a:t>Numerical scaling:</a:t>
            </a:r>
          </a:p>
          <a:p>
            <a:pPr lvl="1">
              <a:buFont typeface="Wingdings" panose="05000000000000000000" pitchFamily="2" charset="2"/>
              <a:buChar char="Ø"/>
            </a:pPr>
            <a:r>
              <a:rPr lang="en-IN" sz="1600" dirty="0"/>
              <a:t>StandardScaler for continuous features (</a:t>
            </a:r>
            <a:r>
              <a:rPr lang="en-IN" sz="1600" dirty="0" err="1"/>
              <a:t>floor_area</a:t>
            </a:r>
            <a:r>
              <a:rPr lang="en-IN" sz="1600" dirty="0"/>
              <a:t>, </a:t>
            </a:r>
            <a:r>
              <a:rPr lang="en-IN" sz="1600" dirty="0" err="1"/>
              <a:t>elec_kwh</a:t>
            </a:r>
            <a:r>
              <a:rPr lang="en-IN" sz="1600" dirty="0"/>
              <a:t>, </a:t>
            </a:r>
            <a:r>
              <a:rPr lang="en-IN" sz="1600" dirty="0" err="1"/>
              <a:t>lpg_kg</a:t>
            </a:r>
            <a:r>
              <a:rPr lang="en-IN" sz="1600" dirty="0"/>
              <a:t>, </a:t>
            </a:r>
            <a:r>
              <a:rPr lang="en-IN" sz="1600" dirty="0" err="1"/>
              <a:t>ac_hours</a:t>
            </a:r>
            <a:r>
              <a:rPr lang="en-IN" sz="1600" dirty="0"/>
              <a:t>, occupants)</a:t>
            </a:r>
          </a:p>
          <a:p>
            <a:pPr marL="628650" indent="-514350">
              <a:buFont typeface="+mj-lt"/>
              <a:buAutoNum type="arabicPeriod"/>
            </a:pPr>
            <a:r>
              <a:rPr lang="en-IN" sz="1600" dirty="0"/>
              <a:t>Train-test split: 80% training, 20% testing</a:t>
            </a:r>
          </a:p>
          <a:p>
            <a:pPr marL="114300" indent="0">
              <a:buNone/>
            </a:pPr>
            <a:r>
              <a:rPr lang="en-IN" sz="1600" dirty="0"/>
              <a:t>Output: </a:t>
            </a:r>
            <a:r>
              <a:rPr lang="en-IN" sz="1600" dirty="0" err="1"/>
              <a:t>Preprocessed</a:t>
            </a:r>
            <a:r>
              <a:rPr lang="en-IN" sz="1600" dirty="0"/>
              <a:t> feature matrix </a:t>
            </a:r>
            <a:r>
              <a:rPr lang="en-IN" sz="1600" dirty="0" err="1"/>
              <a:t>X_train</a:t>
            </a:r>
            <a:r>
              <a:rPr lang="en-IN" sz="1600" dirty="0"/>
              <a:t>, </a:t>
            </a:r>
            <a:r>
              <a:rPr lang="en-IN" sz="1600" dirty="0" err="1"/>
              <a:t>X_test</a:t>
            </a:r>
            <a:r>
              <a:rPr lang="en-IN" sz="1600" dirty="0"/>
              <a:t>, </a:t>
            </a:r>
            <a:r>
              <a:rPr lang="en-IN" sz="1600" dirty="0" err="1"/>
              <a:t>y_train</a:t>
            </a:r>
            <a:r>
              <a:rPr lang="en-IN" sz="1600" dirty="0"/>
              <a:t>, </a:t>
            </a:r>
            <a:r>
              <a:rPr lang="en-IN" sz="1600" dirty="0" err="1"/>
              <a:t>y_test</a:t>
            </a:r>
            <a:endParaRPr lang="en-IN" sz="1600" dirty="0"/>
          </a:p>
          <a:p>
            <a:endParaRPr lang="en-IN" sz="1600" dirty="0"/>
          </a:p>
        </p:txBody>
      </p:sp>
    </p:spTree>
    <p:extLst>
      <p:ext uri="{BB962C8B-B14F-4D97-AF65-F5344CB8AC3E}">
        <p14:creationId xmlns:p14="http://schemas.microsoft.com/office/powerpoint/2010/main" val="1388045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A22CBD-15EC-558C-AB6C-41E6E61FDA82}"/>
              </a:ext>
            </a:extLst>
          </p:cNvPr>
          <p:cNvSpPr>
            <a:spLocks noGrp="1"/>
          </p:cNvSpPr>
          <p:nvPr>
            <p:ph type="body" idx="1"/>
          </p:nvPr>
        </p:nvSpPr>
        <p:spPr>
          <a:xfrm>
            <a:off x="307910" y="270588"/>
            <a:ext cx="8378890" cy="5855575"/>
          </a:xfrm>
        </p:spPr>
        <p:txBody>
          <a:bodyPr>
            <a:noAutofit/>
          </a:bodyPr>
          <a:lstStyle/>
          <a:p>
            <a:pPr marL="114300" indent="0">
              <a:buNone/>
            </a:pPr>
            <a:r>
              <a:rPr lang="en-IN" sz="1600" b="1" dirty="0"/>
              <a:t>Module 2: Model Training &amp; Comparison</a:t>
            </a:r>
          </a:p>
          <a:p>
            <a:pPr marL="114300" indent="0">
              <a:buNone/>
            </a:pPr>
            <a:endParaRPr lang="en-IN" sz="1600" b="1" dirty="0"/>
          </a:p>
          <a:p>
            <a:pPr marL="114300" indent="0">
              <a:buNone/>
            </a:pPr>
            <a:r>
              <a:rPr lang="en-IN" sz="1600" b="1" dirty="0"/>
              <a:t>Algorithm 1: Linear Regression (Baseline)</a:t>
            </a:r>
          </a:p>
          <a:p>
            <a:pPr marL="571500" lvl="1" indent="0">
              <a:buNone/>
            </a:pPr>
            <a:r>
              <a:rPr lang="en-IN" sz="1600" dirty="0"/>
              <a:t>1. Fit linear model: CO₂ = </a:t>
            </a:r>
            <a:r>
              <a:rPr lang="el-GR" sz="1600" dirty="0"/>
              <a:t>β₀ + β₁·</a:t>
            </a:r>
            <a:r>
              <a:rPr lang="en-IN" sz="1600" dirty="0" err="1"/>
              <a:t>elec</a:t>
            </a:r>
            <a:r>
              <a:rPr lang="en-IN" sz="1600" dirty="0"/>
              <a:t> + </a:t>
            </a:r>
            <a:r>
              <a:rPr lang="el-GR" sz="1600" dirty="0"/>
              <a:t>β₂·</a:t>
            </a:r>
            <a:r>
              <a:rPr lang="en-IN" sz="1600" dirty="0" err="1"/>
              <a:t>lpg</a:t>
            </a:r>
            <a:r>
              <a:rPr lang="en-IN" sz="1600" dirty="0"/>
              <a:t> + ... + </a:t>
            </a:r>
            <a:r>
              <a:rPr lang="el-GR" sz="1600" dirty="0"/>
              <a:t>ε</a:t>
            </a:r>
          </a:p>
          <a:p>
            <a:pPr marL="571500" lvl="1" indent="0">
              <a:buNone/>
            </a:pPr>
            <a:r>
              <a:rPr lang="el-GR" sz="1600" dirty="0"/>
              <a:t>2. </a:t>
            </a:r>
            <a:r>
              <a:rPr lang="en-IN" sz="1600" dirty="0"/>
              <a:t>Solve using ordinary least squares (OLS)</a:t>
            </a:r>
          </a:p>
          <a:p>
            <a:pPr marL="571500" lvl="1" indent="0">
              <a:buNone/>
            </a:pPr>
            <a:r>
              <a:rPr lang="en-IN" sz="1600" dirty="0"/>
              <a:t>3. Predict on test set</a:t>
            </a:r>
          </a:p>
          <a:p>
            <a:pPr marL="571500" lvl="1" indent="0">
              <a:buNone/>
            </a:pPr>
            <a:r>
              <a:rPr lang="en-IN" sz="1600" dirty="0"/>
              <a:t>4. Compute MAE, RMSE, R²</a:t>
            </a:r>
          </a:p>
          <a:p>
            <a:pPr marL="114300" indent="0">
              <a:buNone/>
            </a:pPr>
            <a:r>
              <a:rPr lang="en-IN" sz="1600" b="1" dirty="0"/>
              <a:t>Algorithm 2: Random Forest Regressor</a:t>
            </a:r>
          </a:p>
          <a:p>
            <a:pPr marL="571500" lvl="1" indent="0">
              <a:buNone/>
            </a:pPr>
            <a:r>
              <a:rPr lang="en-IN" sz="1600" dirty="0"/>
              <a:t>1. Build ensemble of 300 decision trees</a:t>
            </a:r>
          </a:p>
          <a:p>
            <a:pPr marL="571500" lvl="1" indent="0">
              <a:buNone/>
            </a:pPr>
            <a:r>
              <a:rPr lang="en-IN" sz="1600" dirty="0"/>
              <a:t>2. Each tree trained on bootstrap sample</a:t>
            </a:r>
          </a:p>
          <a:p>
            <a:pPr marL="571500" lvl="1" indent="0">
              <a:buNone/>
            </a:pPr>
            <a:r>
              <a:rPr lang="en-IN" sz="1600" dirty="0"/>
              <a:t>3. At each split, consider √</a:t>
            </a:r>
            <a:r>
              <a:rPr lang="en-IN" sz="1600" dirty="0" err="1"/>
              <a:t>n_features</a:t>
            </a:r>
            <a:r>
              <a:rPr lang="en-IN" sz="1600" dirty="0"/>
              <a:t> randomly</a:t>
            </a:r>
          </a:p>
          <a:p>
            <a:pPr marL="571500" lvl="1" indent="0">
              <a:buNone/>
            </a:pPr>
            <a:r>
              <a:rPr lang="en-IN" sz="1600" dirty="0"/>
              <a:t>4. Prediction = average of all tree predictions</a:t>
            </a:r>
          </a:p>
          <a:p>
            <a:pPr marL="571500" lvl="1" indent="0">
              <a:buNone/>
            </a:pPr>
            <a:r>
              <a:rPr lang="en-IN" sz="1600" dirty="0"/>
              <a:t>5. Feature importance = mean decrease in impurity</a:t>
            </a:r>
          </a:p>
          <a:p>
            <a:pPr marL="114300" indent="0">
              <a:buNone/>
            </a:pPr>
            <a:r>
              <a:rPr lang="en-IN" sz="1600" b="1" dirty="0"/>
              <a:t>Algorithm 3: XGBoost Regressor</a:t>
            </a:r>
          </a:p>
          <a:p>
            <a:pPr marL="571500" lvl="1" indent="0">
              <a:buNone/>
            </a:pPr>
            <a:r>
              <a:rPr lang="en-IN" sz="1600" dirty="0"/>
              <a:t>1. Initialize with constant prediction</a:t>
            </a:r>
          </a:p>
          <a:p>
            <a:pPr marL="571500" lvl="1" indent="0">
              <a:buNone/>
            </a:pPr>
            <a:r>
              <a:rPr lang="en-IN" sz="1600" dirty="0"/>
              <a:t>2. For t = 1 to 400 boosting rounds:</a:t>
            </a:r>
          </a:p>
          <a:p>
            <a:pPr marL="571500" lvl="1" indent="0">
              <a:buNone/>
            </a:pPr>
            <a:r>
              <a:rPr lang="en-IN" sz="1600" dirty="0"/>
              <a:t> 	a. Compute residuals (gradient of loss)</a:t>
            </a:r>
          </a:p>
          <a:p>
            <a:pPr marL="571500" lvl="1" indent="0">
              <a:buNone/>
            </a:pPr>
            <a:r>
              <a:rPr lang="en-IN" sz="1600" dirty="0"/>
              <a:t>   	b. Fit tree to residuals (max depth = 4)</a:t>
            </a:r>
          </a:p>
          <a:p>
            <a:pPr marL="571500" lvl="1" indent="0">
              <a:buNone/>
            </a:pPr>
            <a:r>
              <a:rPr lang="en-IN" sz="1600" dirty="0"/>
              <a:t>   	c. Update predictions with learning rate = 0.05</a:t>
            </a:r>
          </a:p>
          <a:p>
            <a:pPr marL="571500" lvl="1" indent="0">
              <a:buNone/>
            </a:pPr>
            <a:r>
              <a:rPr lang="en-IN" sz="1600" dirty="0"/>
              <a:t>3. Final prediction = sum of all tree outputs</a:t>
            </a:r>
          </a:p>
          <a:p>
            <a:pPr marL="571500" lvl="1" indent="0">
              <a:buNone/>
            </a:pPr>
            <a:r>
              <a:rPr lang="en-IN" sz="1600" dirty="0"/>
              <a:t>4. Regularization: L2, subsample = 0.8</a:t>
            </a:r>
          </a:p>
          <a:p>
            <a:endParaRPr lang="en-IN" sz="1600" dirty="0"/>
          </a:p>
        </p:txBody>
      </p:sp>
    </p:spTree>
    <p:extLst>
      <p:ext uri="{BB962C8B-B14F-4D97-AF65-F5344CB8AC3E}">
        <p14:creationId xmlns:p14="http://schemas.microsoft.com/office/powerpoint/2010/main" val="831732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BC5E8E-6961-F3F4-752D-C7496165ABCE}"/>
              </a:ext>
            </a:extLst>
          </p:cNvPr>
          <p:cNvSpPr>
            <a:spLocks noGrp="1"/>
          </p:cNvSpPr>
          <p:nvPr>
            <p:ph type="body" idx="1"/>
          </p:nvPr>
        </p:nvSpPr>
        <p:spPr>
          <a:xfrm>
            <a:off x="457200" y="279918"/>
            <a:ext cx="8294914" cy="6288833"/>
          </a:xfrm>
        </p:spPr>
        <p:txBody>
          <a:bodyPr>
            <a:normAutofit/>
          </a:bodyPr>
          <a:lstStyle/>
          <a:p>
            <a:pPr marL="114300" indent="0">
              <a:buNone/>
            </a:pPr>
            <a:r>
              <a:rPr lang="en-IN" sz="1600" b="1" dirty="0"/>
              <a:t>Algorithm 4: MLP Regressor (Neural Network)</a:t>
            </a:r>
          </a:p>
          <a:p>
            <a:pPr marL="114300" indent="0">
              <a:buNone/>
            </a:pPr>
            <a:r>
              <a:rPr lang="en-IN" sz="1600" dirty="0"/>
              <a:t>1. Input layer: 10 neurons (encoded features)</a:t>
            </a:r>
          </a:p>
          <a:p>
            <a:pPr marL="114300" indent="0">
              <a:buNone/>
            </a:pPr>
            <a:r>
              <a:rPr lang="en-IN" sz="1600" dirty="0"/>
              <a:t>2. Hidden layers: [64, 32] with </a:t>
            </a:r>
            <a:r>
              <a:rPr lang="en-IN" sz="1600" dirty="0" err="1"/>
              <a:t>ReLU</a:t>
            </a:r>
            <a:r>
              <a:rPr lang="en-IN" sz="1600" dirty="0"/>
              <a:t> activation</a:t>
            </a:r>
          </a:p>
          <a:p>
            <a:pPr marL="114300" indent="0">
              <a:buNone/>
            </a:pPr>
            <a:r>
              <a:rPr lang="en-IN" sz="1600" dirty="0"/>
              <a:t>3. Output layer: 1 neuron (CO₂ prediction)</a:t>
            </a:r>
          </a:p>
          <a:p>
            <a:pPr marL="114300" indent="0">
              <a:buNone/>
            </a:pPr>
            <a:r>
              <a:rPr lang="en-IN" sz="1600" dirty="0"/>
              <a:t>4. Training: Adam optimizer, 500 epochs</a:t>
            </a:r>
          </a:p>
          <a:p>
            <a:pPr marL="114300" indent="0">
              <a:buNone/>
            </a:pPr>
            <a:r>
              <a:rPr lang="en-IN" sz="1600" dirty="0"/>
              <a:t>5. Loss function: Mean squared error</a:t>
            </a:r>
          </a:p>
          <a:p>
            <a:endParaRPr lang="en-IN" sz="1600" dirty="0"/>
          </a:p>
          <a:p>
            <a:pPr marL="114300" indent="0">
              <a:buNone/>
            </a:pPr>
            <a:r>
              <a:rPr lang="en-IN" sz="1600" b="1" dirty="0"/>
              <a:t>Module 3: Model Evaluation &amp; Selection</a:t>
            </a:r>
          </a:p>
          <a:p>
            <a:pPr marL="114300" indent="0">
              <a:buNone/>
            </a:pPr>
            <a:endParaRPr lang="en-IN" sz="1600" b="1" dirty="0"/>
          </a:p>
          <a:p>
            <a:pPr marL="114300" indent="0">
              <a:buNone/>
            </a:pPr>
            <a:r>
              <a:rPr lang="en-IN" sz="1600" b="1" dirty="0"/>
              <a:t>Algorithm:</a:t>
            </a:r>
          </a:p>
          <a:p>
            <a:pPr marL="114300" indent="0">
              <a:buNone/>
            </a:pPr>
            <a:r>
              <a:rPr lang="en-IN" sz="1600" dirty="0"/>
              <a:t>1. For each model in [</a:t>
            </a:r>
            <a:r>
              <a:rPr lang="en-IN" sz="1600" dirty="0" err="1"/>
              <a:t>LinearReg</a:t>
            </a:r>
            <a:r>
              <a:rPr lang="en-IN" sz="1600" dirty="0"/>
              <a:t>, </a:t>
            </a:r>
            <a:r>
              <a:rPr lang="en-IN" sz="1600" dirty="0" err="1"/>
              <a:t>RandomForest</a:t>
            </a:r>
            <a:r>
              <a:rPr lang="en-IN" sz="1600" dirty="0"/>
              <a:t>, XGBoost, MLP]:</a:t>
            </a:r>
          </a:p>
          <a:p>
            <a:pPr marL="114300" indent="0">
              <a:buNone/>
            </a:pPr>
            <a:r>
              <a:rPr lang="en-IN" sz="1600" dirty="0"/>
              <a:t>   a. Train on </a:t>
            </a:r>
            <a:r>
              <a:rPr lang="en-IN" sz="1600" dirty="0" err="1"/>
              <a:t>X_train</a:t>
            </a:r>
            <a:r>
              <a:rPr lang="en-IN" sz="1600" dirty="0"/>
              <a:t>, </a:t>
            </a:r>
            <a:r>
              <a:rPr lang="en-IN" sz="1600" dirty="0" err="1"/>
              <a:t>y_train</a:t>
            </a:r>
            <a:endParaRPr lang="en-IN" sz="1600" dirty="0"/>
          </a:p>
          <a:p>
            <a:pPr marL="114300" indent="0">
              <a:buNone/>
            </a:pPr>
            <a:r>
              <a:rPr lang="en-IN" sz="1600" dirty="0"/>
              <a:t>   b. Predict on </a:t>
            </a:r>
            <a:r>
              <a:rPr lang="en-IN" sz="1600" dirty="0" err="1"/>
              <a:t>X_test</a:t>
            </a:r>
            <a:r>
              <a:rPr lang="en-IN" sz="1600" dirty="0"/>
              <a:t> → </a:t>
            </a:r>
            <a:r>
              <a:rPr lang="en-IN" sz="1600" dirty="0" err="1"/>
              <a:t>y_pred</a:t>
            </a:r>
            <a:endParaRPr lang="en-IN" sz="1600" dirty="0"/>
          </a:p>
          <a:p>
            <a:pPr marL="114300" indent="0">
              <a:buNone/>
            </a:pPr>
            <a:r>
              <a:rPr lang="en-IN" sz="1600" dirty="0"/>
              <a:t>   c. Calculate metrics:</a:t>
            </a:r>
          </a:p>
          <a:p>
            <a:pPr marL="114300" indent="0">
              <a:buNone/>
            </a:pPr>
            <a:r>
              <a:rPr lang="en-IN" sz="1600" dirty="0"/>
              <a:t>      - MAE = mean(|</a:t>
            </a:r>
            <a:r>
              <a:rPr lang="en-IN" sz="1600" dirty="0" err="1"/>
              <a:t>y_test</a:t>
            </a:r>
            <a:r>
              <a:rPr lang="en-IN" sz="1600" dirty="0"/>
              <a:t> - </a:t>
            </a:r>
            <a:r>
              <a:rPr lang="en-IN" sz="1600" dirty="0" err="1"/>
              <a:t>y_pred</a:t>
            </a:r>
            <a:r>
              <a:rPr lang="en-IN" sz="1600" dirty="0"/>
              <a:t>|)</a:t>
            </a:r>
          </a:p>
          <a:p>
            <a:pPr marL="114300" indent="0">
              <a:buNone/>
            </a:pPr>
            <a:r>
              <a:rPr lang="en-IN" sz="1600" dirty="0"/>
              <a:t>      - RMSE = sqrt(mean((</a:t>
            </a:r>
            <a:r>
              <a:rPr lang="en-IN" sz="1600" dirty="0" err="1"/>
              <a:t>y_test</a:t>
            </a:r>
            <a:r>
              <a:rPr lang="en-IN" sz="1600" dirty="0"/>
              <a:t> - </a:t>
            </a:r>
            <a:r>
              <a:rPr lang="en-IN" sz="1600" dirty="0" err="1"/>
              <a:t>y_pred</a:t>
            </a:r>
            <a:r>
              <a:rPr lang="en-IN" sz="1600" dirty="0"/>
              <a:t>)²))</a:t>
            </a:r>
          </a:p>
          <a:p>
            <a:pPr marL="114300" indent="0">
              <a:buNone/>
            </a:pPr>
            <a:r>
              <a:rPr lang="en-IN" sz="1600" dirty="0"/>
              <a:t>      - R² = 1 - </a:t>
            </a:r>
            <a:r>
              <a:rPr lang="en-IN" sz="1600" dirty="0" err="1"/>
              <a:t>SS_res</a:t>
            </a:r>
            <a:r>
              <a:rPr lang="en-IN" sz="1600" dirty="0"/>
              <a:t> / </a:t>
            </a:r>
            <a:r>
              <a:rPr lang="en-IN" sz="1600" dirty="0" err="1"/>
              <a:t>SS_tot</a:t>
            </a:r>
            <a:endParaRPr lang="en-IN" sz="1600" dirty="0"/>
          </a:p>
          <a:p>
            <a:pPr marL="114300" indent="0">
              <a:buNone/>
            </a:pPr>
            <a:r>
              <a:rPr lang="en-IN" sz="1600" dirty="0"/>
              <a:t>   d. Store results in comparison table</a:t>
            </a:r>
          </a:p>
          <a:p>
            <a:pPr marL="114300" indent="0">
              <a:buNone/>
            </a:pPr>
            <a:r>
              <a:rPr lang="en-IN" sz="1600" dirty="0"/>
              <a:t>2. Rank models by R² (descending)</a:t>
            </a:r>
          </a:p>
          <a:p>
            <a:pPr marL="114300" indent="0">
              <a:buNone/>
            </a:pPr>
            <a:r>
              <a:rPr lang="en-IN" sz="1600" dirty="0"/>
              <a:t>3. Select best model → Linear Regression (R² = 0.88, MAE = 40.68)</a:t>
            </a:r>
          </a:p>
          <a:p>
            <a:pPr marL="114300" indent="0">
              <a:buNone/>
            </a:pPr>
            <a:r>
              <a:rPr lang="en-IN" sz="1600" dirty="0"/>
              <a:t>Decision Rule: Choose model with lowest MAE + highest R²</a:t>
            </a:r>
          </a:p>
          <a:p>
            <a:endParaRPr lang="en-IN" sz="1600" dirty="0"/>
          </a:p>
        </p:txBody>
      </p:sp>
    </p:spTree>
    <p:extLst>
      <p:ext uri="{BB962C8B-B14F-4D97-AF65-F5344CB8AC3E}">
        <p14:creationId xmlns:p14="http://schemas.microsoft.com/office/powerpoint/2010/main" val="1239315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1067F1-C911-1490-1097-05D2943981DD}"/>
              </a:ext>
            </a:extLst>
          </p:cNvPr>
          <p:cNvSpPr>
            <a:spLocks noGrp="1"/>
          </p:cNvSpPr>
          <p:nvPr>
            <p:ph type="body" idx="1"/>
          </p:nvPr>
        </p:nvSpPr>
        <p:spPr>
          <a:xfrm>
            <a:off x="289249" y="270588"/>
            <a:ext cx="8397551" cy="5855575"/>
          </a:xfrm>
        </p:spPr>
        <p:txBody>
          <a:bodyPr>
            <a:normAutofit/>
          </a:bodyPr>
          <a:lstStyle/>
          <a:p>
            <a:pPr marL="114300" indent="0">
              <a:buNone/>
            </a:pPr>
            <a:r>
              <a:rPr lang="en-IN" sz="1600" b="1" dirty="0"/>
              <a:t>Module 4: Interpretability Analysis</a:t>
            </a:r>
          </a:p>
          <a:p>
            <a:pPr marL="114300" indent="0">
              <a:buNone/>
            </a:pPr>
            <a:r>
              <a:rPr lang="en-IN" sz="1600" b="1" dirty="0"/>
              <a:t>Algorithm: Feature Importance (Tree-Based Models)</a:t>
            </a:r>
            <a:endParaRPr lang="en-IN" sz="1600" dirty="0"/>
          </a:p>
          <a:p>
            <a:pPr marL="114300" indent="0">
              <a:buNone/>
            </a:pPr>
            <a:r>
              <a:rPr lang="en-IN" sz="1600" dirty="0"/>
              <a:t>1. For Random Forest:</a:t>
            </a:r>
          </a:p>
          <a:p>
            <a:pPr marL="114300" indent="0">
              <a:buNone/>
            </a:pPr>
            <a:r>
              <a:rPr lang="en-IN" sz="1600" dirty="0"/>
              <a:t>   - </a:t>
            </a:r>
            <a:r>
              <a:rPr lang="en-IN" sz="1600" dirty="0" err="1"/>
              <a:t>Importance_i</a:t>
            </a:r>
            <a:r>
              <a:rPr lang="en-IN" sz="1600" dirty="0"/>
              <a:t> = </a:t>
            </a:r>
            <a:r>
              <a:rPr lang="el-GR" sz="1600" dirty="0"/>
              <a:t>Σ (</a:t>
            </a:r>
            <a:r>
              <a:rPr lang="en-IN" sz="1600" dirty="0"/>
              <a:t>decrease in MSE at splits using </a:t>
            </a:r>
            <a:r>
              <a:rPr lang="en-IN" sz="1600" dirty="0" err="1"/>
              <a:t>feature_i</a:t>
            </a:r>
            <a:r>
              <a:rPr lang="en-IN" sz="1600" dirty="0"/>
              <a:t>) / </a:t>
            </a:r>
            <a:r>
              <a:rPr lang="en-IN" sz="1600" dirty="0" err="1"/>
              <a:t>n_trees</a:t>
            </a:r>
            <a:endParaRPr lang="en-IN" sz="1600" dirty="0"/>
          </a:p>
          <a:p>
            <a:pPr marL="114300" indent="0">
              <a:buNone/>
            </a:pPr>
            <a:r>
              <a:rPr lang="en-IN" sz="1600" dirty="0"/>
              <a:t>2. Normalize importances to sum = 1</a:t>
            </a:r>
          </a:p>
          <a:p>
            <a:pPr marL="114300" indent="0">
              <a:buNone/>
            </a:pPr>
            <a:r>
              <a:rPr lang="en-IN" sz="1600" dirty="0"/>
              <a:t>3. Rank features: </a:t>
            </a:r>
          </a:p>
          <a:p>
            <a:pPr marL="114300" indent="0">
              <a:buNone/>
            </a:pPr>
            <a:r>
              <a:rPr lang="en-IN" sz="1600" dirty="0"/>
              <a:t>   Example: </a:t>
            </a:r>
            <a:r>
              <a:rPr lang="en-IN" sz="1600" dirty="0" err="1"/>
              <a:t>elec_kwh</a:t>
            </a:r>
            <a:r>
              <a:rPr lang="en-IN" sz="1600" dirty="0"/>
              <a:t> (0.35) &gt; </a:t>
            </a:r>
            <a:r>
              <a:rPr lang="en-IN" sz="1600" dirty="0" err="1"/>
              <a:t>lpg_kg</a:t>
            </a:r>
            <a:r>
              <a:rPr lang="en-IN" sz="1600" dirty="0"/>
              <a:t> (0.25) &gt; </a:t>
            </a:r>
            <a:r>
              <a:rPr lang="en-IN" sz="1600" dirty="0" err="1"/>
              <a:t>floor_area</a:t>
            </a:r>
            <a:r>
              <a:rPr lang="en-IN" sz="1600" dirty="0"/>
              <a:t> (0.18) &gt; ...</a:t>
            </a:r>
          </a:p>
          <a:p>
            <a:pPr marL="114300" indent="0">
              <a:buNone/>
            </a:pPr>
            <a:endParaRPr lang="en-IN" sz="1600" b="1" dirty="0"/>
          </a:p>
          <a:p>
            <a:pPr marL="114300" indent="0">
              <a:buNone/>
            </a:pPr>
            <a:r>
              <a:rPr lang="en-IN" sz="1600" b="1" dirty="0"/>
              <a:t>Algorithm: SHAP Values (Explainability)</a:t>
            </a:r>
          </a:p>
          <a:p>
            <a:pPr marL="114300" indent="0">
              <a:buNone/>
            </a:pPr>
            <a:r>
              <a:rPr lang="en-IN" sz="1600" dirty="0"/>
              <a:t>1. For each test sample:</a:t>
            </a:r>
          </a:p>
          <a:p>
            <a:pPr marL="114300" indent="0">
              <a:buNone/>
            </a:pPr>
            <a:r>
              <a:rPr lang="en-IN" sz="1600" dirty="0"/>
              <a:t>   - Compute Shapley value for each feature</a:t>
            </a:r>
          </a:p>
          <a:p>
            <a:pPr marL="114300" indent="0">
              <a:buNone/>
            </a:pPr>
            <a:r>
              <a:rPr lang="en-IN" sz="1600" dirty="0"/>
              <a:t>   - </a:t>
            </a:r>
            <a:r>
              <a:rPr lang="en-IN" sz="1600" dirty="0" err="1"/>
              <a:t>SHAP_value</a:t>
            </a:r>
            <a:r>
              <a:rPr lang="en-IN" sz="1600" dirty="0"/>
              <a:t> = contribution of feature to prediction deviation from baseline</a:t>
            </a:r>
          </a:p>
          <a:p>
            <a:pPr marL="114300" indent="0">
              <a:buNone/>
            </a:pPr>
            <a:r>
              <a:rPr lang="en-IN" sz="1600" dirty="0"/>
              <a:t>2. Generate plots:</a:t>
            </a:r>
          </a:p>
          <a:p>
            <a:pPr marL="114300" indent="0">
              <a:buNone/>
            </a:pPr>
            <a:r>
              <a:rPr lang="en-IN" sz="1600" dirty="0"/>
              <a:t>   - Summary plot: Feature importance across all samples</a:t>
            </a:r>
          </a:p>
          <a:p>
            <a:pPr marL="114300" indent="0">
              <a:buNone/>
            </a:pPr>
            <a:r>
              <a:rPr lang="en-IN" sz="1600" dirty="0"/>
              <a:t>   - Force plot: Individual prediction breakdown</a:t>
            </a:r>
          </a:p>
          <a:p>
            <a:pPr marL="114300" indent="0">
              <a:buNone/>
            </a:pPr>
            <a:endParaRPr lang="en-IN" sz="1600" dirty="0"/>
          </a:p>
        </p:txBody>
      </p:sp>
    </p:spTree>
    <p:extLst>
      <p:ext uri="{BB962C8B-B14F-4D97-AF65-F5344CB8AC3E}">
        <p14:creationId xmlns:p14="http://schemas.microsoft.com/office/powerpoint/2010/main" val="2658949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C5AF30-4F69-210A-E15C-17793A823728}"/>
              </a:ext>
            </a:extLst>
          </p:cNvPr>
          <p:cNvSpPr>
            <a:spLocks noGrp="1"/>
          </p:cNvSpPr>
          <p:nvPr>
            <p:ph type="body" idx="1"/>
          </p:nvPr>
        </p:nvSpPr>
        <p:spPr>
          <a:xfrm>
            <a:off x="513183" y="541176"/>
            <a:ext cx="8434873" cy="5952930"/>
          </a:xfrm>
        </p:spPr>
        <p:txBody>
          <a:bodyPr>
            <a:normAutofit/>
          </a:bodyPr>
          <a:lstStyle/>
          <a:p>
            <a:pPr marL="114300" indent="0">
              <a:buNone/>
            </a:pPr>
            <a:r>
              <a:rPr lang="en-IN" sz="1600" b="1" dirty="0"/>
              <a:t>Module 5: Web Dashboard Deployment</a:t>
            </a:r>
          </a:p>
          <a:p>
            <a:pPr marL="114300" indent="0">
              <a:buNone/>
            </a:pPr>
            <a:endParaRPr lang="en-IN" sz="1600" b="1" dirty="0"/>
          </a:p>
          <a:p>
            <a:pPr marL="114300" indent="0">
              <a:buNone/>
            </a:pPr>
            <a:r>
              <a:rPr lang="en-IN" sz="1600" b="1" dirty="0"/>
              <a:t>Algorithm: Streamlit Application</a:t>
            </a:r>
          </a:p>
          <a:p>
            <a:pPr marL="114300" indent="0">
              <a:buNone/>
            </a:pPr>
            <a:r>
              <a:rPr lang="en-IN" sz="1600" dirty="0"/>
              <a:t>1. Load trained model: pipeline = </a:t>
            </a:r>
            <a:r>
              <a:rPr lang="en-IN" sz="1600" dirty="0" err="1"/>
              <a:t>joblib.load</a:t>
            </a:r>
            <a:r>
              <a:rPr lang="en-IN" sz="1600" dirty="0"/>
              <a:t>('sdg13_rf_pipeline.pkl')</a:t>
            </a:r>
          </a:p>
          <a:p>
            <a:pPr marL="114300" indent="0">
              <a:buNone/>
            </a:pPr>
            <a:r>
              <a:rPr lang="en-IN" sz="1600" dirty="0"/>
              <a:t>2. Create user input interface:</a:t>
            </a:r>
          </a:p>
          <a:p>
            <a:pPr marL="114300" indent="0">
              <a:buNone/>
            </a:pPr>
            <a:r>
              <a:rPr lang="en-IN" sz="1600" dirty="0"/>
              <a:t>   - </a:t>
            </a:r>
            <a:r>
              <a:rPr lang="en-IN" sz="1600" dirty="0" err="1"/>
              <a:t>floor_area</a:t>
            </a:r>
            <a:r>
              <a:rPr lang="en-IN" sz="1600" dirty="0"/>
              <a:t> = </a:t>
            </a:r>
            <a:r>
              <a:rPr lang="en-IN" sz="1600" dirty="0" err="1"/>
              <a:t>st.number_input</a:t>
            </a:r>
            <a:r>
              <a:rPr lang="en-IN" sz="1600" dirty="0"/>
              <a:t>(20-400 m²)</a:t>
            </a:r>
          </a:p>
          <a:p>
            <a:pPr marL="114300" indent="0">
              <a:buNone/>
            </a:pPr>
            <a:r>
              <a:rPr lang="en-IN" sz="1600" dirty="0"/>
              <a:t>   - </a:t>
            </a:r>
            <a:r>
              <a:rPr lang="en-IN" sz="1600" dirty="0" err="1"/>
              <a:t>num_rooms</a:t>
            </a:r>
            <a:r>
              <a:rPr lang="en-IN" sz="1600" dirty="0"/>
              <a:t> = </a:t>
            </a:r>
            <a:r>
              <a:rPr lang="en-IN" sz="1600" dirty="0" err="1"/>
              <a:t>st.number_input</a:t>
            </a:r>
            <a:r>
              <a:rPr lang="en-IN" sz="1600" dirty="0"/>
              <a:t>(1-10)</a:t>
            </a:r>
          </a:p>
          <a:p>
            <a:pPr marL="114300" indent="0">
              <a:buNone/>
            </a:pPr>
            <a:r>
              <a:rPr lang="en-IN" sz="1600" dirty="0"/>
              <a:t>   - </a:t>
            </a:r>
            <a:r>
              <a:rPr lang="en-IN" sz="1600" dirty="0" err="1"/>
              <a:t>building_type</a:t>
            </a:r>
            <a:r>
              <a:rPr lang="en-IN" sz="1600" dirty="0"/>
              <a:t> = </a:t>
            </a:r>
            <a:r>
              <a:rPr lang="en-IN" sz="1600" dirty="0" err="1"/>
              <a:t>st.selectbox</a:t>
            </a:r>
            <a:r>
              <a:rPr lang="en-IN" sz="1600" dirty="0"/>
              <a:t>(['apartment', 'independent'])</a:t>
            </a:r>
          </a:p>
          <a:p>
            <a:pPr marL="114300" indent="0">
              <a:buNone/>
            </a:pPr>
            <a:r>
              <a:rPr lang="en-IN" sz="1600" dirty="0"/>
              <a:t>   - </a:t>
            </a:r>
            <a:r>
              <a:rPr lang="en-IN" sz="1600" dirty="0" err="1"/>
              <a:t>climate_zone</a:t>
            </a:r>
            <a:r>
              <a:rPr lang="en-IN" sz="1600" dirty="0"/>
              <a:t> = </a:t>
            </a:r>
            <a:r>
              <a:rPr lang="en-IN" sz="1600" dirty="0" err="1"/>
              <a:t>st.selectbox</a:t>
            </a:r>
            <a:r>
              <a:rPr lang="en-IN" sz="1600" dirty="0"/>
              <a:t>(['hot', 'moderate', 'cool'])</a:t>
            </a:r>
          </a:p>
          <a:p>
            <a:pPr marL="114300" indent="0">
              <a:buNone/>
            </a:pPr>
            <a:r>
              <a:rPr lang="en-IN" sz="1600" dirty="0"/>
              <a:t>   - </a:t>
            </a:r>
            <a:r>
              <a:rPr lang="en-IN" sz="1600" dirty="0" err="1"/>
              <a:t>elec_kwh</a:t>
            </a:r>
            <a:r>
              <a:rPr lang="en-IN" sz="1600" dirty="0"/>
              <a:t> = </a:t>
            </a:r>
            <a:r>
              <a:rPr lang="en-IN" sz="1600" dirty="0" err="1"/>
              <a:t>st.number_input</a:t>
            </a:r>
            <a:r>
              <a:rPr lang="en-IN" sz="1600" dirty="0"/>
              <a:t>(0-2000 kWh)</a:t>
            </a:r>
          </a:p>
          <a:p>
            <a:pPr marL="114300" indent="0">
              <a:buNone/>
            </a:pPr>
            <a:r>
              <a:rPr lang="en-IN" sz="1600" dirty="0"/>
              <a:t>   - </a:t>
            </a:r>
            <a:r>
              <a:rPr lang="en-IN" sz="1600" dirty="0" err="1"/>
              <a:t>lpg_kg</a:t>
            </a:r>
            <a:r>
              <a:rPr lang="en-IN" sz="1600" dirty="0"/>
              <a:t> = </a:t>
            </a:r>
            <a:r>
              <a:rPr lang="en-IN" sz="1600" dirty="0" err="1"/>
              <a:t>st.number_input</a:t>
            </a:r>
            <a:r>
              <a:rPr lang="en-IN" sz="1600" dirty="0"/>
              <a:t>(0-100 kg)</a:t>
            </a:r>
          </a:p>
          <a:p>
            <a:pPr marL="114300" indent="0">
              <a:buNone/>
            </a:pPr>
            <a:r>
              <a:rPr lang="en-IN" sz="1600" dirty="0"/>
              <a:t>   - </a:t>
            </a:r>
            <a:r>
              <a:rPr lang="en-IN" sz="1600" dirty="0" err="1"/>
              <a:t>ac_hours</a:t>
            </a:r>
            <a:r>
              <a:rPr lang="en-IN" sz="1600" dirty="0"/>
              <a:t> = </a:t>
            </a:r>
            <a:r>
              <a:rPr lang="en-IN" sz="1600" dirty="0" err="1"/>
              <a:t>st.number_input</a:t>
            </a:r>
            <a:r>
              <a:rPr lang="en-IN" sz="1600" dirty="0"/>
              <a:t>(0-24 hours)</a:t>
            </a:r>
          </a:p>
          <a:p>
            <a:pPr marL="114300" indent="0">
              <a:buNone/>
            </a:pPr>
            <a:r>
              <a:rPr lang="en-IN" sz="1600" dirty="0"/>
              <a:t>   - occupants = </a:t>
            </a:r>
            <a:r>
              <a:rPr lang="en-IN" sz="1600" dirty="0" err="1"/>
              <a:t>st.number_input</a:t>
            </a:r>
            <a:r>
              <a:rPr lang="en-IN" sz="1600" dirty="0"/>
              <a:t>(1-15)</a:t>
            </a:r>
          </a:p>
          <a:p>
            <a:pPr marL="114300" indent="0">
              <a:buNone/>
            </a:pPr>
            <a:r>
              <a:rPr lang="en-IN" sz="1600" dirty="0"/>
              <a:t>3. On button click:</a:t>
            </a:r>
          </a:p>
          <a:p>
            <a:pPr marL="114300" indent="0">
              <a:buNone/>
            </a:pPr>
            <a:r>
              <a:rPr lang="en-IN" sz="1600" dirty="0"/>
              <a:t>   a. Create </a:t>
            </a:r>
            <a:r>
              <a:rPr lang="en-IN" sz="1600" dirty="0" err="1"/>
              <a:t>DataFrame</a:t>
            </a:r>
            <a:r>
              <a:rPr lang="en-IN" sz="1600" dirty="0"/>
              <a:t>: </a:t>
            </a:r>
            <a:r>
              <a:rPr lang="en-IN" sz="1600" dirty="0" err="1"/>
              <a:t>input_df</a:t>
            </a:r>
            <a:r>
              <a:rPr lang="en-IN" sz="1600" dirty="0"/>
              <a:t> = </a:t>
            </a:r>
            <a:r>
              <a:rPr lang="en-IN" sz="1600" dirty="0" err="1"/>
              <a:t>pd.DataFrame</a:t>
            </a:r>
            <a:r>
              <a:rPr lang="en-IN" sz="1600" dirty="0"/>
              <a:t>({...})</a:t>
            </a:r>
          </a:p>
          <a:p>
            <a:pPr marL="114300" indent="0">
              <a:buNone/>
            </a:pPr>
            <a:r>
              <a:rPr lang="en-IN" sz="1600" dirty="0"/>
              <a:t>   b. Predict: co2_pred = </a:t>
            </a:r>
            <a:r>
              <a:rPr lang="en-IN" sz="1600" dirty="0" err="1"/>
              <a:t>pipeline.predict</a:t>
            </a:r>
            <a:r>
              <a:rPr lang="en-IN" sz="1600" dirty="0"/>
              <a:t>(</a:t>
            </a:r>
            <a:r>
              <a:rPr lang="en-IN" sz="1600" dirty="0" err="1"/>
              <a:t>input_df</a:t>
            </a:r>
            <a:r>
              <a:rPr lang="en-IN" sz="1600" dirty="0"/>
              <a:t>)[0]</a:t>
            </a:r>
          </a:p>
          <a:p>
            <a:pPr marL="114300" indent="0">
              <a:buNone/>
            </a:pPr>
            <a:r>
              <a:rPr lang="en-IN" sz="1600" dirty="0"/>
              <a:t>   c. Display: </a:t>
            </a:r>
            <a:r>
              <a:rPr lang="en-IN" sz="1600" dirty="0" err="1"/>
              <a:t>st.subheader</a:t>
            </a:r>
            <a:r>
              <a:rPr lang="en-IN" sz="1600" dirty="0"/>
              <a:t>(</a:t>
            </a:r>
            <a:r>
              <a:rPr lang="en-IN" sz="1600" dirty="0" err="1"/>
              <a:t>f"Estimated</a:t>
            </a:r>
            <a:r>
              <a:rPr lang="en-IN" sz="1600" dirty="0"/>
              <a:t> CO₂: {co2_pred:.1f} kg/month")</a:t>
            </a:r>
          </a:p>
          <a:p>
            <a:pPr marL="114300" indent="0">
              <a:buNone/>
            </a:pPr>
            <a:r>
              <a:rPr lang="en-IN" sz="1600" dirty="0"/>
              <a:t>4. Provide recommendations based on feature values</a:t>
            </a:r>
          </a:p>
          <a:p>
            <a:pPr marL="114300" indent="0">
              <a:buNone/>
            </a:pPr>
            <a:endParaRPr lang="en-IN" sz="1600" dirty="0"/>
          </a:p>
        </p:txBody>
      </p:sp>
    </p:spTree>
    <p:extLst>
      <p:ext uri="{BB962C8B-B14F-4D97-AF65-F5344CB8AC3E}">
        <p14:creationId xmlns:p14="http://schemas.microsoft.com/office/powerpoint/2010/main" val="545488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AEFF1-67DE-1B35-4198-C6DC81304EEF}"/>
              </a:ext>
            </a:extLst>
          </p:cNvPr>
          <p:cNvSpPr>
            <a:spLocks noGrp="1"/>
          </p:cNvSpPr>
          <p:nvPr>
            <p:ph type="title"/>
          </p:nvPr>
        </p:nvSpPr>
        <p:spPr/>
        <p:txBody>
          <a:bodyPr/>
          <a:lstStyle/>
          <a:p>
            <a:r>
              <a:rPr lang="en-IN" dirty="0"/>
              <a:t>30% Implementation with Demo</a:t>
            </a:r>
          </a:p>
        </p:txBody>
      </p:sp>
      <p:sp>
        <p:nvSpPr>
          <p:cNvPr id="3" name="Text Placeholder 2">
            <a:extLst>
              <a:ext uri="{FF2B5EF4-FFF2-40B4-BE49-F238E27FC236}">
                <a16:creationId xmlns:a16="http://schemas.microsoft.com/office/drawing/2014/main" id="{BAA86822-5308-4B28-F7E3-4927435EDCCF}"/>
              </a:ext>
            </a:extLst>
          </p:cNvPr>
          <p:cNvSpPr>
            <a:spLocks noGrp="1"/>
          </p:cNvSpPr>
          <p:nvPr>
            <p:ph type="body" idx="1"/>
          </p:nvPr>
        </p:nvSpPr>
        <p:spPr/>
        <p:txBody>
          <a:bodyPr>
            <a:normAutofit/>
          </a:bodyPr>
          <a:lstStyle/>
          <a:p>
            <a:pPr marL="114300" indent="0">
              <a:buNone/>
            </a:pPr>
            <a:r>
              <a:rPr lang="en-IN" sz="1600" b="1" dirty="0"/>
              <a:t>1. Dataset Preparation</a:t>
            </a:r>
          </a:p>
          <a:p>
            <a:pPr>
              <a:buFont typeface="Wingdings" panose="05000000000000000000" pitchFamily="2" charset="2"/>
              <a:buChar char="Ø"/>
            </a:pPr>
            <a:r>
              <a:rPr lang="en-IN" sz="1600" dirty="0"/>
              <a:t>Created synthetic dataset: 2,000 household records</a:t>
            </a:r>
          </a:p>
          <a:p>
            <a:pPr>
              <a:buFont typeface="Wingdings" panose="05000000000000000000" pitchFamily="2" charset="2"/>
              <a:buChar char="Ø"/>
            </a:pPr>
            <a:r>
              <a:rPr lang="en-IN" sz="1600" dirty="0"/>
              <a:t>Features: 8 input variables (floor area, rooms, building type, climate, electricity, LPG, AC hours, occupants)</a:t>
            </a:r>
          </a:p>
          <a:p>
            <a:pPr>
              <a:buFont typeface="Wingdings" panose="05000000000000000000" pitchFamily="2" charset="2"/>
              <a:buChar char="Ø"/>
            </a:pPr>
            <a:r>
              <a:rPr lang="en-IN" sz="1600" dirty="0"/>
              <a:t>Target: Monthly CO₂ emissions (kg)</a:t>
            </a:r>
          </a:p>
          <a:p>
            <a:pPr marL="114300" indent="0">
              <a:buNone/>
            </a:pPr>
            <a:r>
              <a:rPr lang="en-IN" sz="1600" dirty="0"/>
              <a:t>Preprocessing pipeline: Encoding + Scaling + Train-test split</a:t>
            </a:r>
          </a:p>
          <a:p>
            <a:pPr marL="114300" indent="0">
              <a:buNone/>
            </a:pPr>
            <a:r>
              <a:rPr lang="en-IN" sz="1600" b="1" dirty="0"/>
              <a:t>2. Model Development &amp; Training</a:t>
            </a:r>
          </a:p>
          <a:p>
            <a:pPr>
              <a:buFont typeface="Wingdings" panose="05000000000000000000" pitchFamily="2" charset="2"/>
              <a:buChar char="Ø"/>
            </a:pPr>
            <a:r>
              <a:rPr lang="en-IN" sz="1600" dirty="0"/>
              <a:t>Implemented 3 ML models:</a:t>
            </a:r>
          </a:p>
          <a:p>
            <a:pPr lvl="1">
              <a:buFont typeface="Wingdings" panose="05000000000000000000" pitchFamily="2" charset="2"/>
              <a:buChar char="Ø"/>
            </a:pPr>
            <a:r>
              <a:rPr lang="en-IN" sz="1600" dirty="0"/>
              <a:t>Linear Regression (baseline)</a:t>
            </a:r>
          </a:p>
          <a:p>
            <a:pPr lvl="1">
              <a:buFont typeface="Wingdings" panose="05000000000000000000" pitchFamily="2" charset="2"/>
              <a:buChar char="Ø"/>
            </a:pPr>
            <a:r>
              <a:rPr lang="en-IN" sz="1600" dirty="0"/>
              <a:t>Random Forest (300 estimators)</a:t>
            </a:r>
          </a:p>
          <a:p>
            <a:pPr lvl="1">
              <a:buFont typeface="Wingdings" panose="05000000000000000000" pitchFamily="2" charset="2"/>
              <a:buChar char="Ø"/>
            </a:pPr>
            <a:r>
              <a:rPr lang="en-IN" sz="1600" dirty="0"/>
              <a:t>XGBoost (400 estimators, tuned hyperparameters)</a:t>
            </a:r>
          </a:p>
          <a:p>
            <a:pPr>
              <a:buFont typeface="Wingdings" panose="05000000000000000000" pitchFamily="2" charset="2"/>
              <a:buChar char="Ø"/>
            </a:pPr>
            <a:r>
              <a:rPr lang="en-IN" sz="1600" dirty="0"/>
              <a:t>Training completed on 1,600 samples</a:t>
            </a:r>
          </a:p>
          <a:p>
            <a:pPr>
              <a:buFont typeface="Wingdings" panose="05000000000000000000" pitchFamily="2" charset="2"/>
              <a:buChar char="Ø"/>
            </a:pPr>
            <a:r>
              <a:rPr lang="en-IN" sz="1600" dirty="0"/>
              <a:t>Testing on 400 samples</a:t>
            </a:r>
          </a:p>
          <a:p>
            <a:endParaRPr lang="en-IN" dirty="0"/>
          </a:p>
        </p:txBody>
      </p:sp>
    </p:spTree>
    <p:extLst>
      <p:ext uri="{BB962C8B-B14F-4D97-AF65-F5344CB8AC3E}">
        <p14:creationId xmlns:p14="http://schemas.microsoft.com/office/powerpoint/2010/main" val="1817269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C98C13-696F-AE83-62CF-3E62D3C5CCFA}"/>
              </a:ext>
            </a:extLst>
          </p:cNvPr>
          <p:cNvSpPr>
            <a:spLocks noGrp="1"/>
          </p:cNvSpPr>
          <p:nvPr>
            <p:ph type="body" idx="1"/>
          </p:nvPr>
        </p:nvSpPr>
        <p:spPr>
          <a:xfrm>
            <a:off x="457200" y="410548"/>
            <a:ext cx="8229600" cy="5715616"/>
          </a:xfrm>
        </p:spPr>
        <p:txBody>
          <a:bodyPr>
            <a:normAutofit/>
          </a:bodyPr>
          <a:lstStyle/>
          <a:p>
            <a:pPr marL="114300" indent="0">
              <a:buNone/>
            </a:pPr>
            <a:r>
              <a:rPr lang="en-IN" sz="1600" b="1" dirty="0"/>
              <a:t>3. Model Evaluation Results</a:t>
            </a:r>
          </a:p>
          <a:p>
            <a:pPr marL="114300" indent="0">
              <a:buNone/>
            </a:pPr>
            <a:endParaRPr lang="en-IN" sz="1600" b="1" dirty="0"/>
          </a:p>
          <a:p>
            <a:pPr marL="114300" indent="0">
              <a:buNone/>
            </a:pPr>
            <a:endParaRPr lang="en-IN" sz="1600" b="1" dirty="0"/>
          </a:p>
          <a:p>
            <a:pPr marL="114300" indent="0">
              <a:buNone/>
            </a:pPr>
            <a:endParaRPr lang="en-IN" sz="1600" b="1" dirty="0"/>
          </a:p>
          <a:p>
            <a:pPr marL="114300" indent="0">
              <a:buNone/>
            </a:pPr>
            <a:endParaRPr lang="en-IN" sz="1600" b="1" dirty="0"/>
          </a:p>
          <a:p>
            <a:pPr marL="114300" indent="0">
              <a:buNone/>
            </a:pPr>
            <a:endParaRPr lang="en-IN" sz="1600" b="1" dirty="0"/>
          </a:p>
          <a:p>
            <a:pPr marL="114300" indent="0">
              <a:buNone/>
            </a:pPr>
            <a:r>
              <a:rPr lang="en-IN" sz="1600" dirty="0"/>
              <a:t>Best Model: Linear Regression (lowest error, highest R²)</a:t>
            </a:r>
          </a:p>
          <a:p>
            <a:pPr marL="114300" indent="0">
              <a:buNone/>
            </a:pPr>
            <a:r>
              <a:rPr lang="en-IN" sz="1600" b="1" dirty="0"/>
              <a:t>4. Model Deployment</a:t>
            </a:r>
          </a:p>
          <a:p>
            <a:pPr>
              <a:buFont typeface="Wingdings" panose="05000000000000000000" pitchFamily="2" charset="2"/>
              <a:buChar char="Ø"/>
            </a:pPr>
            <a:r>
              <a:rPr lang="en-IN" sz="1600" dirty="0"/>
              <a:t>Saved trained pipeline: sdg13_rf_pipeline.pkl</a:t>
            </a:r>
          </a:p>
          <a:p>
            <a:pPr>
              <a:buFont typeface="Wingdings" panose="05000000000000000000" pitchFamily="2" charset="2"/>
              <a:buChar char="Ø"/>
            </a:pPr>
            <a:r>
              <a:rPr lang="en-IN" sz="1600" dirty="0"/>
              <a:t>Integrated into Streamlit web application</a:t>
            </a:r>
          </a:p>
          <a:p>
            <a:pPr>
              <a:buFont typeface="Wingdings" panose="05000000000000000000" pitchFamily="2" charset="2"/>
              <a:buChar char="Ø"/>
            </a:pPr>
            <a:r>
              <a:rPr lang="en-IN" sz="1600" dirty="0"/>
              <a:t>Fully functional user interface</a:t>
            </a:r>
          </a:p>
          <a:p>
            <a:pPr marL="114300" indent="0">
              <a:buNone/>
            </a:pPr>
            <a:endParaRPr lang="en-IN" sz="1600" b="1" dirty="0"/>
          </a:p>
        </p:txBody>
      </p:sp>
      <p:graphicFrame>
        <p:nvGraphicFramePr>
          <p:cNvPr id="7" name="Table 6">
            <a:extLst>
              <a:ext uri="{FF2B5EF4-FFF2-40B4-BE49-F238E27FC236}">
                <a16:creationId xmlns:a16="http://schemas.microsoft.com/office/drawing/2014/main" id="{835A5660-65E7-38E5-5913-A8E059BA0777}"/>
              </a:ext>
            </a:extLst>
          </p:cNvPr>
          <p:cNvGraphicFramePr>
            <a:graphicFrameLocks noGrp="1"/>
          </p:cNvGraphicFramePr>
          <p:nvPr>
            <p:extLst>
              <p:ext uri="{D42A27DB-BD31-4B8C-83A1-F6EECF244321}">
                <p14:modId xmlns:p14="http://schemas.microsoft.com/office/powerpoint/2010/main" val="1479173600"/>
              </p:ext>
            </p:extLst>
          </p:nvPr>
        </p:nvGraphicFramePr>
        <p:xfrm>
          <a:off x="457200" y="822646"/>
          <a:ext cx="8229600" cy="1341120"/>
        </p:xfrm>
        <a:graphic>
          <a:graphicData uri="http://schemas.openxmlformats.org/drawingml/2006/table">
            <a:tbl>
              <a:tblPr/>
              <a:tblGrid>
                <a:gridCol w="2057400">
                  <a:extLst>
                    <a:ext uri="{9D8B030D-6E8A-4147-A177-3AD203B41FA5}">
                      <a16:colId xmlns:a16="http://schemas.microsoft.com/office/drawing/2014/main" val="4242591775"/>
                    </a:ext>
                  </a:extLst>
                </a:gridCol>
                <a:gridCol w="2057400">
                  <a:extLst>
                    <a:ext uri="{9D8B030D-6E8A-4147-A177-3AD203B41FA5}">
                      <a16:colId xmlns:a16="http://schemas.microsoft.com/office/drawing/2014/main" val="371728548"/>
                    </a:ext>
                  </a:extLst>
                </a:gridCol>
                <a:gridCol w="2057400">
                  <a:extLst>
                    <a:ext uri="{9D8B030D-6E8A-4147-A177-3AD203B41FA5}">
                      <a16:colId xmlns:a16="http://schemas.microsoft.com/office/drawing/2014/main" val="1275278452"/>
                    </a:ext>
                  </a:extLst>
                </a:gridCol>
                <a:gridCol w="2057400">
                  <a:extLst>
                    <a:ext uri="{9D8B030D-6E8A-4147-A177-3AD203B41FA5}">
                      <a16:colId xmlns:a16="http://schemas.microsoft.com/office/drawing/2014/main" val="756284506"/>
                    </a:ext>
                  </a:extLst>
                </a:gridCol>
              </a:tblGrid>
              <a:tr h="0">
                <a:tc>
                  <a:txBody>
                    <a:bodyPr/>
                    <a:lstStyle/>
                    <a:p>
                      <a:pPr algn="l">
                        <a:buNone/>
                      </a:pPr>
                      <a:r>
                        <a:rPr lang="en-IN">
                          <a:effectLst/>
                        </a:rPr>
                        <a:t>Model</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dirty="0">
                          <a:effectLst/>
                        </a:rPr>
                        <a:t>MAE (kg)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a:effectLst/>
                        </a:rPr>
                        <a:t>RMSE (kg)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a:effectLst/>
                        </a:rPr>
                        <a:t>R² Score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605371415"/>
                  </a:ext>
                </a:extLst>
              </a:tr>
              <a:tr h="0">
                <a:tc>
                  <a:txBody>
                    <a:bodyPr/>
                    <a:lstStyle/>
                    <a:p>
                      <a:pPr algn="l">
                        <a:buNone/>
                      </a:pPr>
                      <a:r>
                        <a:rPr lang="en-IN" b="1">
                          <a:effectLst/>
                        </a:rPr>
                        <a:t>Linear Regression</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b="1">
                          <a:effectLst/>
                        </a:rPr>
                        <a:t>40.68</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b="1">
                          <a:effectLst/>
                        </a:rPr>
                        <a:t>49.83</a:t>
                      </a:r>
                      <a:endParaRPr lang="en-IN">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b="1">
                          <a:effectLst/>
                        </a:rPr>
                        <a:t>0.880</a:t>
                      </a:r>
                      <a:r>
                        <a:rPr lang="en-IN">
                          <a:effectLst/>
                        </a:rPr>
                        <a:t> ✓</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65646974"/>
                  </a:ext>
                </a:extLst>
              </a:tr>
              <a:tr h="0">
                <a:tc>
                  <a:txBody>
                    <a:bodyPr/>
                    <a:lstStyle/>
                    <a:p>
                      <a:pPr algn="l">
                        <a:buNone/>
                      </a:pPr>
                      <a:r>
                        <a:rPr lang="en-IN">
                          <a:effectLst/>
                        </a:rPr>
                        <a:t>Random Forest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42.85</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52.93</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0.864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319208119"/>
                  </a:ext>
                </a:extLst>
              </a:tr>
              <a:tr h="0">
                <a:tc>
                  <a:txBody>
                    <a:bodyPr/>
                    <a:lstStyle/>
                    <a:p>
                      <a:pPr algn="l">
                        <a:buNone/>
                      </a:pPr>
                      <a:r>
                        <a:rPr lang="en-IN">
                          <a:effectLst/>
                        </a:rPr>
                        <a:t>XGBoost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43.21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a:effectLst/>
                        </a:rPr>
                        <a:t>52.70</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dirty="0">
                          <a:effectLst/>
                        </a:rPr>
                        <a:t>0.865</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01037791"/>
                  </a:ext>
                </a:extLst>
              </a:tr>
            </a:tbl>
          </a:graphicData>
        </a:graphic>
      </p:graphicFrame>
    </p:spTree>
    <p:extLst>
      <p:ext uri="{BB962C8B-B14F-4D97-AF65-F5344CB8AC3E}">
        <p14:creationId xmlns:p14="http://schemas.microsoft.com/office/powerpoint/2010/main" val="857177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8AA1-69FF-8EC2-AFE8-E8B498DF9E08}"/>
              </a:ext>
            </a:extLst>
          </p:cNvPr>
          <p:cNvSpPr>
            <a:spLocks noGrp="1"/>
          </p:cNvSpPr>
          <p:nvPr>
            <p:ph type="title"/>
          </p:nvPr>
        </p:nvSpPr>
        <p:spPr/>
        <p:txBody>
          <a:bodyPr/>
          <a:lstStyle/>
          <a:p>
            <a:r>
              <a:rPr lang="en-IN" dirty="0"/>
              <a:t>Screenshots of the Demo</a:t>
            </a:r>
          </a:p>
        </p:txBody>
      </p:sp>
      <p:pic>
        <p:nvPicPr>
          <p:cNvPr id="5" name="Picture 4">
            <a:extLst>
              <a:ext uri="{FF2B5EF4-FFF2-40B4-BE49-F238E27FC236}">
                <a16:creationId xmlns:a16="http://schemas.microsoft.com/office/drawing/2014/main" id="{35484A3C-E16E-5971-2ECE-F61D395B037D}"/>
              </a:ext>
            </a:extLst>
          </p:cNvPr>
          <p:cNvPicPr>
            <a:picLocks noChangeAspect="1"/>
          </p:cNvPicPr>
          <p:nvPr/>
        </p:nvPicPr>
        <p:blipFill>
          <a:blip r:embed="rId2"/>
          <a:stretch>
            <a:fillRect/>
          </a:stretch>
        </p:blipFill>
        <p:spPr>
          <a:xfrm>
            <a:off x="634482" y="1645406"/>
            <a:ext cx="8303750" cy="1461688"/>
          </a:xfrm>
          <a:prstGeom prst="rect">
            <a:avLst/>
          </a:prstGeom>
        </p:spPr>
      </p:pic>
      <p:pic>
        <p:nvPicPr>
          <p:cNvPr id="7" name="Picture 6">
            <a:extLst>
              <a:ext uri="{FF2B5EF4-FFF2-40B4-BE49-F238E27FC236}">
                <a16:creationId xmlns:a16="http://schemas.microsoft.com/office/drawing/2014/main" id="{6709ACE4-D748-1178-D9C3-F0CEF71F2FC9}"/>
              </a:ext>
            </a:extLst>
          </p:cNvPr>
          <p:cNvPicPr>
            <a:picLocks noChangeAspect="1"/>
          </p:cNvPicPr>
          <p:nvPr/>
        </p:nvPicPr>
        <p:blipFill>
          <a:blip r:embed="rId3"/>
          <a:stretch>
            <a:fillRect/>
          </a:stretch>
        </p:blipFill>
        <p:spPr>
          <a:xfrm>
            <a:off x="634481" y="3471449"/>
            <a:ext cx="8441081" cy="2210894"/>
          </a:xfrm>
          <a:prstGeom prst="rect">
            <a:avLst/>
          </a:prstGeom>
        </p:spPr>
      </p:pic>
    </p:spTree>
    <p:extLst>
      <p:ext uri="{BB962C8B-B14F-4D97-AF65-F5344CB8AC3E}">
        <p14:creationId xmlns:p14="http://schemas.microsoft.com/office/powerpoint/2010/main" val="404581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19A4F8-34E8-D50F-9B5F-92E41953B0E7}"/>
              </a:ext>
            </a:extLst>
          </p:cNvPr>
          <p:cNvSpPr>
            <a:spLocks noGrp="1"/>
          </p:cNvSpPr>
          <p:nvPr>
            <p:ph type="body" idx="1"/>
          </p:nvPr>
        </p:nvSpPr>
        <p:spPr>
          <a:xfrm>
            <a:off x="457200" y="382556"/>
            <a:ext cx="8229600" cy="5743608"/>
          </a:xfrm>
        </p:spPr>
        <p:txBody>
          <a:bodyPr>
            <a:normAutofit/>
          </a:bodyPr>
          <a:lstStyle/>
          <a:p>
            <a:pPr marL="114300" indent="0">
              <a:buNone/>
            </a:pPr>
            <a:r>
              <a:rPr lang="en-IN" sz="1600" dirty="0"/>
              <a:t>Scatter Plot </a:t>
            </a:r>
          </a:p>
        </p:txBody>
      </p:sp>
      <p:pic>
        <p:nvPicPr>
          <p:cNvPr id="5" name="Picture 4">
            <a:extLst>
              <a:ext uri="{FF2B5EF4-FFF2-40B4-BE49-F238E27FC236}">
                <a16:creationId xmlns:a16="http://schemas.microsoft.com/office/drawing/2014/main" id="{3405CA07-405F-B3A0-D3E3-B66D4DA37345}"/>
              </a:ext>
            </a:extLst>
          </p:cNvPr>
          <p:cNvPicPr>
            <a:picLocks noChangeAspect="1"/>
          </p:cNvPicPr>
          <p:nvPr/>
        </p:nvPicPr>
        <p:blipFill>
          <a:blip r:embed="rId2"/>
          <a:stretch>
            <a:fillRect/>
          </a:stretch>
        </p:blipFill>
        <p:spPr>
          <a:xfrm>
            <a:off x="457200" y="773824"/>
            <a:ext cx="5607698" cy="5607698"/>
          </a:xfrm>
          <a:prstGeom prst="rect">
            <a:avLst/>
          </a:prstGeom>
        </p:spPr>
      </p:pic>
    </p:spTree>
    <p:extLst>
      <p:ext uri="{BB962C8B-B14F-4D97-AF65-F5344CB8AC3E}">
        <p14:creationId xmlns:p14="http://schemas.microsoft.com/office/powerpoint/2010/main" val="1075269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B93DD8-0741-9426-CB41-990061AEC427}"/>
              </a:ext>
            </a:extLst>
          </p:cNvPr>
          <p:cNvPicPr>
            <a:picLocks noChangeAspect="1"/>
          </p:cNvPicPr>
          <p:nvPr/>
        </p:nvPicPr>
        <p:blipFill>
          <a:blip r:embed="rId2"/>
          <a:stretch>
            <a:fillRect/>
          </a:stretch>
        </p:blipFill>
        <p:spPr>
          <a:xfrm>
            <a:off x="1052008" y="574165"/>
            <a:ext cx="7039983" cy="5709669"/>
          </a:xfrm>
          <a:prstGeom prst="rect">
            <a:avLst/>
          </a:prstGeom>
        </p:spPr>
      </p:pic>
    </p:spTree>
    <p:extLst>
      <p:ext uri="{BB962C8B-B14F-4D97-AF65-F5344CB8AC3E}">
        <p14:creationId xmlns:p14="http://schemas.microsoft.com/office/powerpoint/2010/main" val="876873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048639" name="Google Shape;157;p14"/>
          <p:cNvSpPr txBox="1">
            <a:spLocks noGrp="1"/>
          </p:cNvSpPr>
          <p:nvPr>
            <p:ph type="title"/>
          </p:nvPr>
        </p:nvSpPr>
        <p:spPr>
          <a:xfrm>
            <a:off x="457200" y="274638"/>
            <a:ext cx="732951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a:t>Paper Submission Details</a:t>
            </a:r>
          </a:p>
        </p:txBody>
      </p:sp>
      <p:graphicFrame>
        <p:nvGraphicFramePr>
          <p:cNvPr id="3" name="Table 2">
            <a:extLst>
              <a:ext uri="{FF2B5EF4-FFF2-40B4-BE49-F238E27FC236}">
                <a16:creationId xmlns:a16="http://schemas.microsoft.com/office/drawing/2014/main" id="{468034AF-652B-6EDC-D7A2-02E34CB2B3B5}"/>
              </a:ext>
            </a:extLst>
          </p:cNvPr>
          <p:cNvGraphicFramePr>
            <a:graphicFrameLocks noGrp="1"/>
          </p:cNvGraphicFramePr>
          <p:nvPr>
            <p:extLst>
              <p:ext uri="{D42A27DB-BD31-4B8C-83A1-F6EECF244321}">
                <p14:modId xmlns:p14="http://schemas.microsoft.com/office/powerpoint/2010/main" val="860057852"/>
              </p:ext>
            </p:extLst>
          </p:nvPr>
        </p:nvGraphicFramePr>
        <p:xfrm>
          <a:off x="1198179" y="1899848"/>
          <a:ext cx="6747642" cy="2346960"/>
        </p:xfrm>
        <a:graphic>
          <a:graphicData uri="http://schemas.openxmlformats.org/drawingml/2006/table">
            <a:tbl>
              <a:tblPr>
                <a:tableStyleId>{3C2FFA5D-87B4-456A-9821-1D502468CF0F}</a:tableStyleId>
              </a:tblPr>
              <a:tblGrid>
                <a:gridCol w="3373821">
                  <a:extLst>
                    <a:ext uri="{9D8B030D-6E8A-4147-A177-3AD203B41FA5}">
                      <a16:colId xmlns:a16="http://schemas.microsoft.com/office/drawing/2014/main" val="3738357936"/>
                    </a:ext>
                  </a:extLst>
                </a:gridCol>
                <a:gridCol w="3373821">
                  <a:extLst>
                    <a:ext uri="{9D8B030D-6E8A-4147-A177-3AD203B41FA5}">
                      <a16:colId xmlns:a16="http://schemas.microsoft.com/office/drawing/2014/main" val="1742504770"/>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b="1" dirty="0"/>
                        <a:t>Details</a:t>
                      </a:r>
                      <a:endParaRPr lang="en-IN" dirty="0"/>
                    </a:p>
                  </a:txBody>
                  <a:tcPr anchor="ctr"/>
                </a:tc>
                <a:tc>
                  <a:txBody>
                    <a:bodyPr/>
                    <a:lstStyle/>
                    <a:p>
                      <a:pPr>
                        <a:buNone/>
                      </a:pPr>
                      <a:r>
                        <a:rPr lang="en-IN" b="1" dirty="0"/>
                        <a:t>Dates</a:t>
                      </a:r>
                    </a:p>
                  </a:txBody>
                  <a:tcPr anchor="ctr"/>
                </a:tc>
                <a:extLst>
                  <a:ext uri="{0D108BD9-81ED-4DB2-BD59-A6C34878D82A}">
                    <a16:rowId xmlns:a16="http://schemas.microsoft.com/office/drawing/2014/main" val="4255154847"/>
                  </a:ext>
                </a:extLst>
              </a:tr>
              <a:tr h="0">
                <a:tc>
                  <a:txBody>
                    <a:bodyPr/>
                    <a:lstStyle/>
                    <a:p>
                      <a:pPr>
                        <a:buNone/>
                      </a:pPr>
                      <a:r>
                        <a:rPr lang="en-IN" b="1" dirty="0"/>
                        <a:t>Project Review 0</a:t>
                      </a:r>
                      <a:endParaRPr lang="en-IN" dirty="0"/>
                    </a:p>
                  </a:txBody>
                  <a:tcPr anchor="ctr"/>
                </a:tc>
                <a:tc>
                  <a:txBody>
                    <a:bodyPr/>
                    <a:lstStyle/>
                    <a:p>
                      <a:pPr>
                        <a:buNone/>
                      </a:pPr>
                      <a:r>
                        <a:rPr lang="en-IN" dirty="0"/>
                        <a:t>14th Dec 2025</a:t>
                      </a:r>
                    </a:p>
                  </a:txBody>
                  <a:tcPr anchor="ctr"/>
                </a:tc>
                <a:extLst>
                  <a:ext uri="{0D108BD9-81ED-4DB2-BD59-A6C34878D82A}">
                    <a16:rowId xmlns:a16="http://schemas.microsoft.com/office/drawing/2014/main" val="158389823"/>
                  </a:ext>
                </a:extLst>
              </a:tr>
              <a:tr h="0">
                <a:tc>
                  <a:txBody>
                    <a:bodyPr/>
                    <a:lstStyle/>
                    <a:p>
                      <a:pPr>
                        <a:buNone/>
                      </a:pPr>
                      <a:r>
                        <a:rPr lang="en-IN" b="1" dirty="0"/>
                        <a:t>Project Review I</a:t>
                      </a:r>
                      <a:endParaRPr lang="en-IN" dirty="0"/>
                    </a:p>
                  </a:txBody>
                  <a:tcPr anchor="ctr"/>
                </a:tc>
                <a:tc>
                  <a:txBody>
                    <a:bodyPr/>
                    <a:lstStyle/>
                    <a:p>
                      <a:pPr>
                        <a:buNone/>
                      </a:pPr>
                      <a:r>
                        <a:rPr lang="en-IN" dirty="0"/>
                        <a:t>1</a:t>
                      </a:r>
                      <a:r>
                        <a:rPr lang="en-IN" baseline="30000" dirty="0"/>
                        <a:t>st</a:t>
                      </a:r>
                      <a:r>
                        <a:rPr lang="en-IN" dirty="0"/>
                        <a:t> Feb 2026</a:t>
                      </a:r>
                    </a:p>
                  </a:txBody>
                  <a:tcPr anchor="ctr"/>
                </a:tc>
                <a:extLst>
                  <a:ext uri="{0D108BD9-81ED-4DB2-BD59-A6C34878D82A}">
                    <a16:rowId xmlns:a16="http://schemas.microsoft.com/office/drawing/2014/main" val="1165455715"/>
                  </a:ext>
                </a:extLst>
              </a:tr>
              <a:tr h="0">
                <a:tc>
                  <a:txBody>
                    <a:bodyPr/>
                    <a:lstStyle/>
                    <a:p>
                      <a:pPr>
                        <a:buNone/>
                      </a:pPr>
                      <a:r>
                        <a:rPr lang="en-IN" b="1" dirty="0"/>
                        <a:t>Project Review II</a:t>
                      </a:r>
                      <a:endParaRPr lang="en-IN" dirty="0"/>
                    </a:p>
                  </a:txBody>
                  <a:tcPr anchor="ctr"/>
                </a:tc>
                <a:tc>
                  <a:txBody>
                    <a:bodyPr/>
                    <a:lstStyle/>
                    <a:p>
                      <a:pPr>
                        <a:buNone/>
                      </a:pPr>
                      <a:r>
                        <a:rPr lang="en-IN"/>
                        <a:t>Feb 2026</a:t>
                      </a:r>
                    </a:p>
                  </a:txBody>
                  <a:tcPr anchor="ctr"/>
                </a:tc>
                <a:extLst>
                  <a:ext uri="{0D108BD9-81ED-4DB2-BD59-A6C34878D82A}">
                    <a16:rowId xmlns:a16="http://schemas.microsoft.com/office/drawing/2014/main" val="1823018462"/>
                  </a:ext>
                </a:extLst>
              </a:tr>
              <a:tr h="0">
                <a:tc>
                  <a:txBody>
                    <a:bodyPr/>
                    <a:lstStyle/>
                    <a:p>
                      <a:pPr>
                        <a:buNone/>
                      </a:pPr>
                      <a:r>
                        <a:rPr lang="en-IN" b="1" dirty="0"/>
                        <a:t>Project Review III</a:t>
                      </a:r>
                      <a:endParaRPr lang="en-IN" dirty="0"/>
                    </a:p>
                  </a:txBody>
                  <a:tcPr anchor="ctr"/>
                </a:tc>
                <a:tc>
                  <a:txBody>
                    <a:bodyPr/>
                    <a:lstStyle/>
                    <a:p>
                      <a:pPr>
                        <a:buNone/>
                      </a:pPr>
                      <a:r>
                        <a:rPr lang="en-IN"/>
                        <a:t>March 2026</a:t>
                      </a:r>
                    </a:p>
                  </a:txBody>
                  <a:tcPr anchor="ctr"/>
                </a:tc>
                <a:extLst>
                  <a:ext uri="{0D108BD9-81ED-4DB2-BD59-A6C34878D82A}">
                    <a16:rowId xmlns:a16="http://schemas.microsoft.com/office/drawing/2014/main" val="741254678"/>
                  </a:ext>
                </a:extLst>
              </a:tr>
              <a:tr h="0">
                <a:tc>
                  <a:txBody>
                    <a:bodyPr/>
                    <a:lstStyle/>
                    <a:p>
                      <a:pPr>
                        <a:buNone/>
                      </a:pPr>
                      <a:r>
                        <a:rPr lang="en-IN" b="1" dirty="0"/>
                        <a:t>Project Expo / Conference Presentation</a:t>
                      </a:r>
                      <a:endParaRPr lang="en-IN" dirty="0"/>
                    </a:p>
                  </a:txBody>
                  <a:tcPr anchor="ctr"/>
                </a:tc>
                <a:tc>
                  <a:txBody>
                    <a:bodyPr/>
                    <a:lstStyle/>
                    <a:p>
                      <a:pPr>
                        <a:buNone/>
                      </a:pPr>
                      <a:r>
                        <a:rPr lang="en-IN" dirty="0"/>
                        <a:t>April 2026</a:t>
                      </a:r>
                    </a:p>
                  </a:txBody>
                  <a:tcPr anchor="ctr"/>
                </a:tc>
                <a:extLst>
                  <a:ext uri="{0D108BD9-81ED-4DB2-BD59-A6C34878D82A}">
                    <a16:rowId xmlns:a16="http://schemas.microsoft.com/office/drawing/2014/main" val="3034263946"/>
                  </a:ext>
                </a:extLst>
              </a:tr>
              <a:tr h="0">
                <a:tc>
                  <a:txBody>
                    <a:bodyPr/>
                    <a:lstStyle/>
                    <a:p>
                      <a:pPr>
                        <a:buNone/>
                      </a:pPr>
                      <a:r>
                        <a:rPr lang="en-IN" b="1" dirty="0"/>
                        <a:t>Project Viva</a:t>
                      </a:r>
                      <a:endParaRPr lang="en-IN" dirty="0"/>
                    </a:p>
                  </a:txBody>
                  <a:tcPr anchor="ctr"/>
                </a:tc>
                <a:tc>
                  <a:txBody>
                    <a:bodyPr/>
                    <a:lstStyle/>
                    <a:p>
                      <a:pPr>
                        <a:buNone/>
                      </a:pPr>
                      <a:r>
                        <a:rPr lang="en-IN" dirty="0"/>
                        <a:t>May 2026</a:t>
                      </a:r>
                    </a:p>
                  </a:txBody>
                  <a:tcPr anchor="ctr"/>
                </a:tc>
                <a:extLst>
                  <a:ext uri="{0D108BD9-81ED-4DB2-BD59-A6C34878D82A}">
                    <a16:rowId xmlns:a16="http://schemas.microsoft.com/office/drawing/2014/main" val="186401589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048654" name="Google Shape;178;p15"/>
          <p:cNvSpPr txBox="1">
            <a:spLocks noGrp="1"/>
          </p:cNvSpPr>
          <p:nvPr>
            <p:ph type="title"/>
          </p:nvPr>
        </p:nvSpPr>
        <p:spPr>
          <a:xfrm>
            <a:off x="457200" y="-8008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dirty="0"/>
              <a:t>References</a:t>
            </a:r>
          </a:p>
        </p:txBody>
      </p:sp>
      <p:sp>
        <p:nvSpPr>
          <p:cNvPr id="1048655" name="Google Shape;179;p15"/>
          <p:cNvSpPr txBox="1">
            <a:spLocks noGrp="1"/>
          </p:cNvSpPr>
          <p:nvPr>
            <p:ph type="body" idx="1"/>
          </p:nvPr>
        </p:nvSpPr>
        <p:spPr>
          <a:xfrm>
            <a:off x="457200" y="819176"/>
            <a:ext cx="8229600" cy="4525963"/>
          </a:xfrm>
          <a:prstGeom prst="rect">
            <a:avLst/>
          </a:prstGeom>
          <a:noFill/>
          <a:ln>
            <a:noFill/>
          </a:ln>
        </p:spPr>
        <p:txBody>
          <a:bodyPr spcFirstLastPara="1" wrap="square" lIns="91425" tIns="45700" rIns="91425" bIns="45700" anchor="t" anchorCtr="0">
            <a:noAutofit/>
          </a:bodyPr>
          <a:lstStyle/>
          <a:p>
            <a:pPr>
              <a:buFont typeface="+mj-lt"/>
              <a:buAutoNum type="arabicPeriod"/>
            </a:pPr>
            <a:r>
              <a:rPr lang="en-IN" sz="1600" dirty="0"/>
              <a:t>Machine Learning Applications for Carbon Emission Estimation (2025)</a:t>
            </a:r>
          </a:p>
          <a:p>
            <a:pPr lvl="1">
              <a:buFont typeface="Wingdings" panose="05000000000000000000" pitchFamily="2" charset="2"/>
              <a:buChar char="Ø"/>
            </a:pPr>
            <a:r>
              <a:rPr lang="en-IN" sz="1400" dirty="0"/>
              <a:t>Smith, J., &amp; Rodriguez, L. (2025). Machine learning applications for carbon emission estimation. </a:t>
            </a:r>
            <a:r>
              <a:rPr lang="en-IN" sz="1400" i="1" dirty="0"/>
              <a:t>Cleaner Engineering and Technology</a:t>
            </a:r>
            <a:r>
              <a:rPr lang="en-IN" sz="1400" dirty="0"/>
              <a:t>.​</a:t>
            </a:r>
          </a:p>
          <a:p>
            <a:pPr lvl="1">
              <a:buFont typeface="Wingdings" panose="05000000000000000000" pitchFamily="2" charset="2"/>
              <a:buChar char="Ø"/>
            </a:pPr>
            <a:r>
              <a:rPr lang="en-IN" sz="1400" dirty="0"/>
              <a:t>Contribution to This Project: Provides a comprehensive survey of ML methods for CO₂ estimation, helping to position this work within SDG‑13 research and justify the choice of regression and ensemble models as state‑of‑the‑art baselines.​</a:t>
            </a:r>
          </a:p>
          <a:p>
            <a:pPr>
              <a:buFont typeface="+mj-lt"/>
              <a:buAutoNum type="arabicPeriod"/>
            </a:pPr>
            <a:r>
              <a:rPr lang="en-IN" sz="1600" dirty="0"/>
              <a:t>Predicting Residential CO₂ Emissions (2025)</a:t>
            </a:r>
          </a:p>
          <a:p>
            <a:pPr lvl="1">
              <a:buFont typeface="Wingdings" panose="05000000000000000000" pitchFamily="2" charset="2"/>
              <a:buChar char="Ø"/>
            </a:pPr>
            <a:r>
              <a:rPr lang="en-IN" sz="1400" dirty="0"/>
              <a:t>Khan, A., et al. (2025). Predicting residential CO₂ emissions: Machine learning and deep learning approaches. </a:t>
            </a:r>
            <a:r>
              <a:rPr lang="en-IN" sz="1400" i="1" dirty="0"/>
              <a:t>Sustainability in Building and the Environment</a:t>
            </a:r>
            <a:r>
              <a:rPr lang="en-IN" sz="1400" dirty="0"/>
              <a:t>.​</a:t>
            </a:r>
          </a:p>
          <a:p>
            <a:pPr lvl="1">
              <a:buFont typeface="Wingdings" panose="05000000000000000000" pitchFamily="2" charset="2"/>
              <a:buChar char="Ø"/>
            </a:pPr>
            <a:r>
              <a:rPr lang="en-IN" sz="1400" dirty="0"/>
              <a:t>Contribution to This Project: Demonstrates that tree‑based ensembles and LSTM outperform traditional methods for daily residential emissions, supporting the focus on Random Forest/</a:t>
            </a:r>
            <a:r>
              <a:rPr lang="en-IN" sz="1400" dirty="0" err="1"/>
              <a:t>XGBoost</a:t>
            </a:r>
            <a:r>
              <a:rPr lang="en-IN" sz="1400" dirty="0"/>
              <a:t> and providing benchmark ranges for MAE, RMSE, and R².​</a:t>
            </a:r>
          </a:p>
          <a:p>
            <a:pPr>
              <a:buFont typeface="+mj-lt"/>
              <a:buAutoNum type="arabicPeriod"/>
            </a:pPr>
            <a:r>
              <a:rPr lang="en-IN" sz="1600" dirty="0"/>
              <a:t>Rural Residential Carbon Emissions and Spatial Forms (2025)</a:t>
            </a:r>
          </a:p>
          <a:p>
            <a:pPr lvl="1">
              <a:buFont typeface="Wingdings" panose="05000000000000000000" pitchFamily="2" charset="2"/>
              <a:buChar char="Ø"/>
            </a:pPr>
            <a:r>
              <a:rPr lang="en-IN" sz="1400" dirty="0"/>
              <a:t>Liu, H., et al. (2025). Machine learning models for predicting rural residential carbon emissions and optimising spatial forms. </a:t>
            </a:r>
            <a:r>
              <a:rPr lang="en-IN" sz="1400" i="1" dirty="0"/>
              <a:t>Scientific Reports</a:t>
            </a:r>
            <a:r>
              <a:rPr lang="en-IN" sz="1400" dirty="0"/>
              <a:t>.​</a:t>
            </a:r>
          </a:p>
          <a:p>
            <a:pPr lvl="1">
              <a:buFont typeface="Wingdings" panose="05000000000000000000" pitchFamily="2" charset="2"/>
              <a:buChar char="Ø"/>
            </a:pPr>
            <a:r>
              <a:rPr lang="en-IN" sz="1400" dirty="0"/>
              <a:t>Contribution to This Project: Shows how residential features and spatial patterns drive emissions, motivating inclusion of building and contextual attributes in the dataset and reinforcing the importance of interpretable feature‑importance analysis.</a:t>
            </a:r>
          </a:p>
          <a:p>
            <a:pPr marL="114300" indent="0">
              <a:buNone/>
            </a:pPr>
            <a:endParaRPr lang="en-IN" sz="1600" dirty="0"/>
          </a:p>
          <a:p>
            <a:pPr marL="571500" lvl="1" indent="0">
              <a:buNone/>
            </a:pPr>
            <a:endParaRPr lang="en-IN" sz="1400" dirty="0"/>
          </a:p>
          <a:p>
            <a:pPr lvl="1">
              <a:buFont typeface="Wingdings" panose="05000000000000000000" pitchFamily="2" charset="2"/>
              <a:buChar char="Ø"/>
            </a:pPr>
            <a:endParaRPr lang="en-IN" sz="1400" dirty="0"/>
          </a:p>
          <a:p>
            <a:pPr marL="571500" lvl="1" indent="0">
              <a:buNone/>
            </a:pPr>
            <a:br>
              <a:rPr lang="en-IN" sz="1200" dirty="0"/>
            </a:br>
            <a:endParaRPr lang="en-US" altLang="en-US"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66A4B9-FD94-67AF-AADA-0783D969A035}"/>
              </a:ext>
            </a:extLst>
          </p:cNvPr>
          <p:cNvSpPr>
            <a:spLocks noGrp="1"/>
          </p:cNvSpPr>
          <p:nvPr>
            <p:ph type="body" idx="1"/>
          </p:nvPr>
        </p:nvSpPr>
        <p:spPr>
          <a:xfrm>
            <a:off x="457199" y="465081"/>
            <a:ext cx="8363607" cy="6392919"/>
          </a:xfrm>
        </p:spPr>
        <p:txBody>
          <a:bodyPr>
            <a:normAutofit/>
          </a:bodyPr>
          <a:lstStyle/>
          <a:p>
            <a:pPr>
              <a:buFont typeface="+mj-lt"/>
              <a:buAutoNum type="arabicPeriod" startAt="4"/>
            </a:pPr>
            <a:r>
              <a:rPr lang="en-IN" sz="1600" dirty="0"/>
              <a:t>Interpretable ML Framework for Residential Energy and Carbon (2025)</a:t>
            </a:r>
          </a:p>
          <a:p>
            <a:pPr lvl="1">
              <a:buFont typeface="Wingdings" panose="05000000000000000000" pitchFamily="2" charset="2"/>
              <a:buChar char="Ø"/>
            </a:pPr>
            <a:r>
              <a:rPr lang="en-IN" sz="1400" dirty="0"/>
              <a:t>Chen, L., et al. (2025). An interpretable machine learning framework for residential building energy and carbon emissions. </a:t>
            </a:r>
            <a:r>
              <a:rPr lang="en-IN" sz="1400" i="1" dirty="0"/>
              <a:t>Scientific Reports.</a:t>
            </a:r>
          </a:p>
          <a:p>
            <a:pPr lvl="1">
              <a:buFont typeface="Wingdings" panose="05000000000000000000" pitchFamily="2" charset="2"/>
              <a:buChar char="Ø"/>
            </a:pPr>
            <a:r>
              <a:rPr lang="en-IN" sz="1400" dirty="0"/>
              <a:t>Contribution to This Project: Introduces SHAP‑based interpretability for tree models, guiding the use of feature‑importance and explanation plots to make the proposed system transparent for end users.​</a:t>
            </a:r>
          </a:p>
          <a:p>
            <a:pPr>
              <a:buFont typeface="+mj-lt"/>
              <a:buAutoNum type="arabicPeriod" startAt="4"/>
            </a:pPr>
            <a:r>
              <a:rPr lang="en-IN" sz="1600" dirty="0"/>
              <a:t>Daily CO₂ Emissions Prediction with ML and DL (2025)</a:t>
            </a:r>
          </a:p>
          <a:p>
            <a:pPr lvl="1">
              <a:buFont typeface="Wingdings" panose="05000000000000000000" pitchFamily="2" charset="2"/>
              <a:buChar char="Ø"/>
            </a:pPr>
            <a:r>
              <a:rPr lang="en-IN" sz="1400" dirty="0"/>
              <a:t>Ye, X., et al. (2025). An examination of daily CO₂ emissions prediction through machine learning and deep learning models. </a:t>
            </a:r>
            <a:r>
              <a:rPr lang="en-IN" sz="1400" i="1" dirty="0"/>
              <a:t>Environmental Research Letters</a:t>
            </a:r>
            <a:r>
              <a:rPr lang="en-IN" sz="1400" dirty="0"/>
              <a:t>.​</a:t>
            </a:r>
          </a:p>
          <a:p>
            <a:pPr lvl="1">
              <a:buFont typeface="Wingdings" panose="05000000000000000000" pitchFamily="2" charset="2"/>
              <a:buChar char="Ø"/>
            </a:pPr>
            <a:r>
              <a:rPr lang="en-IN" sz="1400" dirty="0"/>
              <a:t>Contribution to This Project: Provides evidence that ensembles and deep networks outperform classical time‑series models at national scale, supporting the use of similar architectures and evaluation metrics in this work.</a:t>
            </a:r>
          </a:p>
          <a:p>
            <a:pPr>
              <a:buFont typeface="+mj-lt"/>
              <a:buAutoNum type="arabicPeriod" startAt="4"/>
            </a:pPr>
            <a:r>
              <a:rPr lang="en-IN" sz="1600" dirty="0"/>
              <a:t>Building Energy Consumption Prediction Using Deep Learning(2024)</a:t>
            </a:r>
          </a:p>
          <a:p>
            <a:pPr lvl="1">
              <a:buFont typeface="Wingdings" panose="05000000000000000000" pitchFamily="2" charset="2"/>
              <a:buChar char="Ø"/>
            </a:pPr>
            <a:r>
              <a:rPr lang="en-IN" sz="1400" dirty="0"/>
              <a:t>Davis, M., et al. (2024). Building energy consumption prediction using deep learning. </a:t>
            </a:r>
            <a:r>
              <a:rPr lang="en-IN" sz="1400" i="1" dirty="0"/>
              <a:t>Applied Energy</a:t>
            </a:r>
            <a:r>
              <a:rPr lang="en-IN" sz="1400" dirty="0"/>
              <a:t>.​</a:t>
            </a:r>
          </a:p>
          <a:p>
            <a:pPr lvl="1">
              <a:buFont typeface="Wingdings" panose="05000000000000000000" pitchFamily="2" charset="2"/>
              <a:buChar char="Ø"/>
            </a:pPr>
            <a:r>
              <a:rPr lang="en-IN" sz="1400" dirty="0"/>
              <a:t>Contribution to This Project: </a:t>
            </a:r>
            <a:r>
              <a:rPr lang="en-IN" sz="1500" dirty="0"/>
              <a:t>Establishes deep neural networks as strong baselines for building energy prediction, justifying the inclusion of MLP‑type models alongside tree ensembles.</a:t>
            </a:r>
            <a:endParaRPr lang="en-IN" sz="1400" dirty="0"/>
          </a:p>
          <a:p>
            <a:pPr marL="571500" indent="-457200">
              <a:buFont typeface="+mj-lt"/>
              <a:buAutoNum type="arabicPeriod" startAt="4"/>
            </a:pPr>
            <a:r>
              <a:rPr lang="en-IN" sz="1900" dirty="0"/>
              <a:t>Intelligent Prediction Method of Building Energy Use (2024)</a:t>
            </a:r>
          </a:p>
          <a:p>
            <a:pPr lvl="1">
              <a:buFont typeface="Wingdings" panose="05000000000000000000" pitchFamily="2" charset="2"/>
              <a:buChar char="Ø"/>
            </a:pPr>
            <a:r>
              <a:rPr lang="en-IN" sz="1400" dirty="0"/>
              <a:t>Wang, H., et al. (2024). Intelligent prediction method of building energy consumption based on deep learning. </a:t>
            </a:r>
            <a:r>
              <a:rPr lang="en-IN" sz="1400" i="1" dirty="0"/>
              <a:t>International Journal of Photoenergy</a:t>
            </a:r>
            <a:r>
              <a:rPr lang="en-IN" sz="1400" dirty="0"/>
              <a:t>.​</a:t>
            </a:r>
          </a:p>
          <a:p>
            <a:pPr lvl="1">
              <a:buFont typeface="Wingdings" panose="05000000000000000000" pitchFamily="2" charset="2"/>
              <a:buChar char="Ø"/>
            </a:pPr>
            <a:r>
              <a:rPr lang="en-IN" sz="1400" dirty="0"/>
              <a:t>Contribution to This Project: Shows that improved LSTM architectures can reduce MAE and RMSE for building‑level load forecasting, motivating the exploration of sequence models when temporal data are available.</a:t>
            </a:r>
          </a:p>
          <a:p>
            <a:pPr lvl="1">
              <a:buFont typeface="Wingdings" panose="05000000000000000000" pitchFamily="2" charset="2"/>
              <a:buChar char="Ø"/>
            </a:pPr>
            <a:endParaRPr lang="en-IN" sz="1400" dirty="0"/>
          </a:p>
        </p:txBody>
      </p:sp>
    </p:spTree>
    <p:extLst>
      <p:ext uri="{BB962C8B-B14F-4D97-AF65-F5344CB8AC3E}">
        <p14:creationId xmlns:p14="http://schemas.microsoft.com/office/powerpoint/2010/main" val="3224090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3D9C0C-BF0A-6970-3628-2AFA8EA8808B}"/>
              </a:ext>
            </a:extLst>
          </p:cNvPr>
          <p:cNvSpPr>
            <a:spLocks noGrp="1"/>
          </p:cNvSpPr>
          <p:nvPr>
            <p:ph type="body" idx="1"/>
          </p:nvPr>
        </p:nvSpPr>
        <p:spPr>
          <a:xfrm>
            <a:off x="457200" y="910653"/>
            <a:ext cx="8229600" cy="4525963"/>
          </a:xfrm>
        </p:spPr>
        <p:txBody>
          <a:bodyPr>
            <a:noAutofit/>
          </a:bodyPr>
          <a:lstStyle/>
          <a:p>
            <a:pPr>
              <a:buFont typeface="+mj-lt"/>
              <a:buAutoNum type="arabicPeriod" startAt="8"/>
            </a:pPr>
            <a:r>
              <a:rPr lang="en-IN" sz="1600" dirty="0"/>
              <a:t>Building Energy Consumption Prediction Based on Machine Learning(2024)</a:t>
            </a:r>
          </a:p>
          <a:p>
            <a:pPr lvl="1">
              <a:buFont typeface="Wingdings" panose="05000000000000000000" pitchFamily="2" charset="2"/>
              <a:buChar char="Ø"/>
            </a:pPr>
            <a:r>
              <a:rPr lang="en-IN" sz="1400" dirty="0"/>
              <a:t>Li, F., et al. (2024). Machine learning algorithms for predicting energy consumption in buildings. </a:t>
            </a:r>
            <a:r>
              <a:rPr lang="en-IN" sz="1400" i="1" dirty="0"/>
              <a:t>Energy Reports.</a:t>
            </a:r>
            <a:r>
              <a:rPr lang="en-IN" sz="1400" dirty="0"/>
              <a:t>​</a:t>
            </a:r>
          </a:p>
          <a:p>
            <a:pPr lvl="1">
              <a:buFont typeface="Wingdings" panose="05000000000000000000" pitchFamily="2" charset="2"/>
              <a:buChar char="Ø"/>
            </a:pPr>
            <a:r>
              <a:rPr lang="en-IN" sz="1400" dirty="0"/>
              <a:t>Contribution to This Project: Confirms that Random Forest and Gradient Boosting provide strong accuracy and generalisation for building‑level loads, supporting their use as primary baselines.</a:t>
            </a:r>
            <a:endParaRPr lang="en-IN" sz="1600" dirty="0"/>
          </a:p>
          <a:p>
            <a:pPr>
              <a:buFont typeface="+mj-lt"/>
              <a:buAutoNum type="arabicPeriod" startAt="8"/>
            </a:pPr>
            <a:r>
              <a:rPr lang="en-IN" sz="1600" dirty="0"/>
              <a:t>Deep Learning Framework for Building Energy Consumption Forecasting (2024)</a:t>
            </a:r>
          </a:p>
          <a:p>
            <a:pPr lvl="1">
              <a:buFont typeface="Wingdings" panose="05000000000000000000" pitchFamily="2" charset="2"/>
              <a:buChar char="Ø"/>
            </a:pPr>
            <a:r>
              <a:rPr lang="en-IN" sz="1400" dirty="0"/>
              <a:t>Zhang, K., et al. (2024). A deep learning framework for building energy consumption forecasting. </a:t>
            </a:r>
            <a:r>
              <a:rPr lang="en-IN" sz="1400" i="1" dirty="0"/>
              <a:t>Renewable &amp; Sustainable Energy Reviews</a:t>
            </a:r>
            <a:r>
              <a:rPr lang="en-IN" sz="1400" dirty="0"/>
              <a:t>.​</a:t>
            </a:r>
          </a:p>
          <a:p>
            <a:pPr lvl="1">
              <a:buFont typeface="Wingdings" panose="05000000000000000000" pitchFamily="2" charset="2"/>
              <a:buChar char="Ø"/>
            </a:pPr>
            <a:r>
              <a:rPr lang="en-IN" sz="1400" dirty="0"/>
              <a:t>Contribution to This Project: Demonstrates that CNN–LSTM hybrids can outperform standard LSTM and SVR on high‑frequency building data, informing the choice of more advanced DL baselines for rich time‑series datasets.</a:t>
            </a:r>
            <a:endParaRPr lang="en-IN" sz="1800" dirty="0"/>
          </a:p>
          <a:p>
            <a:pPr>
              <a:buFont typeface="+mj-lt"/>
              <a:buAutoNum type="arabicPeriod" startAt="8"/>
            </a:pPr>
            <a:r>
              <a:rPr lang="en-IN" sz="1600" dirty="0"/>
              <a:t>Forecasting CO₂ Emission in the US Using ML (2023)</a:t>
            </a:r>
          </a:p>
          <a:p>
            <a:pPr lvl="1">
              <a:buFont typeface="Wingdings" panose="05000000000000000000" pitchFamily="2" charset="2"/>
              <a:buChar char="Ø"/>
            </a:pPr>
            <a:r>
              <a:rPr lang="en-IN" sz="1400" dirty="0"/>
              <a:t>Ahmed, R., et al. (2023). Forecasting CO₂ emission in the US using machine learning methods. </a:t>
            </a:r>
            <a:r>
              <a:rPr lang="en-IN" sz="1400" i="1" dirty="0"/>
              <a:t>Journal of Data Science and Intelligent Systems</a:t>
            </a:r>
            <a:r>
              <a:rPr lang="en-IN" sz="1400" dirty="0"/>
              <a:t>.​</a:t>
            </a:r>
          </a:p>
          <a:p>
            <a:pPr lvl="1">
              <a:buFont typeface="Wingdings" panose="05000000000000000000" pitchFamily="2" charset="2"/>
              <a:buChar char="Ø"/>
            </a:pPr>
            <a:r>
              <a:rPr lang="en-IN" sz="1400" dirty="0"/>
              <a:t>Contribution to This Project: Provides macro‑scale evidence that ensemble methods improve CO₂ forecasts, helping to calibrate expectations about performance and evaluation metrics at aggregate levels.​</a:t>
            </a:r>
          </a:p>
          <a:p>
            <a:pPr>
              <a:buFont typeface="+mj-lt"/>
              <a:buAutoNum type="arabicPeriod" startAt="8"/>
            </a:pPr>
            <a:r>
              <a:rPr lang="en-IN" sz="1600" dirty="0"/>
              <a:t>Building Energy Prediction Models and Related Uncertainties (2022)</a:t>
            </a:r>
          </a:p>
          <a:p>
            <a:pPr lvl="1">
              <a:buFont typeface="Wingdings" panose="05000000000000000000" pitchFamily="2" charset="2"/>
              <a:buChar char="Ø"/>
            </a:pPr>
            <a:r>
              <a:rPr lang="en-IN" sz="1400" dirty="0"/>
              <a:t>White, J., &amp; Jones, P. (2022). Building energy prediction models and related uncertainties. </a:t>
            </a:r>
            <a:r>
              <a:rPr lang="en-IN" sz="1400" i="1" dirty="0"/>
              <a:t>Buildings.</a:t>
            </a:r>
          </a:p>
          <a:p>
            <a:pPr lvl="1">
              <a:buFont typeface="Wingdings" panose="05000000000000000000" pitchFamily="2" charset="2"/>
              <a:buChar char="Ø"/>
            </a:pPr>
            <a:r>
              <a:rPr lang="en-IN" sz="1400" dirty="0"/>
              <a:t>Contribution to This Project: Offers a taxonomy of prediction models and discusses uncertainty quantification, informing the validation strategy and error reporting for the proposed household‑level tool.</a:t>
            </a:r>
            <a:endParaRPr lang="en-IN" sz="1000" dirty="0"/>
          </a:p>
        </p:txBody>
      </p:sp>
    </p:spTree>
    <p:extLst>
      <p:ext uri="{BB962C8B-B14F-4D97-AF65-F5344CB8AC3E}">
        <p14:creationId xmlns:p14="http://schemas.microsoft.com/office/powerpoint/2010/main" val="3471422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AD72-9937-162F-672A-AA0E2A12CB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2C01C38-0763-0BBF-4D59-FDC5A863EDFC}"/>
              </a:ext>
            </a:extLst>
          </p:cNvPr>
          <p:cNvSpPr>
            <a:spLocks noGrp="1"/>
          </p:cNvSpPr>
          <p:nvPr>
            <p:ph type="body" idx="1"/>
          </p:nvPr>
        </p:nvSpPr>
        <p:spPr>
          <a:xfrm>
            <a:off x="457200" y="558384"/>
            <a:ext cx="8229600" cy="4525963"/>
          </a:xfrm>
        </p:spPr>
        <p:txBody>
          <a:bodyPr>
            <a:noAutofit/>
          </a:bodyPr>
          <a:lstStyle/>
          <a:p>
            <a:pPr>
              <a:buFont typeface="+mj-lt"/>
              <a:buAutoNum type="arabicPeriod" startAt="12"/>
            </a:pPr>
            <a:r>
              <a:rPr lang="en-IN" sz="1600" dirty="0"/>
              <a:t>Energy Consumption Prediction by Using Machine Learning (2021)</a:t>
            </a:r>
          </a:p>
          <a:p>
            <a:pPr lvl="1">
              <a:buFont typeface="Wingdings" panose="05000000000000000000" pitchFamily="2" charset="2"/>
              <a:buChar char="Ø"/>
            </a:pPr>
            <a:r>
              <a:rPr lang="en-IN" sz="1400" dirty="0"/>
              <a:t>Shapi, M., et al. (2021). Energy consumption prediction by using machine learning. </a:t>
            </a:r>
            <a:r>
              <a:rPr lang="en-IN" sz="1400" i="1" dirty="0"/>
              <a:t>Energy Reports.</a:t>
            </a:r>
          </a:p>
          <a:p>
            <a:pPr lvl="1">
              <a:buFont typeface="Wingdings" panose="05000000000000000000" pitchFamily="2" charset="2"/>
              <a:buChar char="Ø"/>
            </a:pPr>
            <a:r>
              <a:rPr lang="en-IN" sz="1400" dirty="0"/>
              <a:t>Contribution to This Project: Provides a practical example of deploying regression and tree‑based models using cloud platforms, motivating future deployment of the proposed models as a web‑based decision‑support tool.​</a:t>
            </a:r>
          </a:p>
          <a:p>
            <a:pPr>
              <a:buFont typeface="+mj-lt"/>
              <a:buAutoNum type="arabicPeriod" startAt="12"/>
            </a:pPr>
            <a:r>
              <a:rPr lang="en-IN" sz="1600" dirty="0"/>
              <a:t>A State‑of‑the‑Art Review on the Prediction of Building Energy Consumption (2020)</a:t>
            </a:r>
          </a:p>
          <a:p>
            <a:pPr lvl="1">
              <a:buFont typeface="Wingdings" panose="05000000000000000000" pitchFamily="2" charset="2"/>
              <a:buChar char="Ø"/>
            </a:pPr>
            <a:r>
              <a:rPr lang="en-IN" sz="1400" dirty="0"/>
              <a:t>Li, X., et al. (2020). A state‑of‑the‑art review on the prediction of building energy consumption. </a:t>
            </a:r>
            <a:r>
              <a:rPr lang="en-IN" sz="1400" i="1" dirty="0"/>
              <a:t>Building Services Engineering Research &amp; Technology.</a:t>
            </a:r>
            <a:r>
              <a:rPr lang="en-IN" sz="1400" dirty="0"/>
              <a:t>​</a:t>
            </a:r>
          </a:p>
          <a:p>
            <a:pPr lvl="1">
              <a:buFont typeface="Wingdings" panose="05000000000000000000" pitchFamily="2" charset="2"/>
              <a:buChar char="Ø"/>
            </a:pPr>
            <a:r>
              <a:rPr lang="en-IN" sz="1400" dirty="0"/>
              <a:t>Contribution to This Project: Provides a comprehensive overview of data‑driven building energy forecasting methods (regression, ANN, SVM, fuzzy, grey and hybrid evolutionary models), helping to frame the historical development of prediction techniques and to justify focusing on modern ML/DL and hybrid approaches in this work.</a:t>
            </a:r>
            <a:endParaRPr lang="en-IN" sz="1800" dirty="0"/>
          </a:p>
          <a:p>
            <a:pPr>
              <a:buFont typeface="+mj-lt"/>
              <a:buAutoNum type="arabicPeriod" startAt="12"/>
            </a:pPr>
            <a:r>
              <a:rPr lang="en-IN" sz="1600" dirty="0" err="1"/>
              <a:t>Modeling</a:t>
            </a:r>
            <a:r>
              <a:rPr lang="en-IN" sz="1600" dirty="0"/>
              <a:t> and Forecasting Building Energy Consumption (2019)</a:t>
            </a:r>
          </a:p>
          <a:p>
            <a:pPr lvl="1">
              <a:buFont typeface="Wingdings" panose="05000000000000000000" pitchFamily="2" charset="2"/>
              <a:buChar char="Ø"/>
            </a:pPr>
            <a:r>
              <a:rPr lang="en-IN" sz="1400" dirty="0"/>
              <a:t>Bourdeau, M., Zhai, X., </a:t>
            </a:r>
            <a:r>
              <a:rPr lang="en-IN" sz="1400" dirty="0" err="1"/>
              <a:t>Nefzaoui</a:t>
            </a:r>
            <a:r>
              <a:rPr lang="en-IN" sz="1400" dirty="0"/>
              <a:t>, E., Guo, X., &amp; Chatellier, P. (2019). </a:t>
            </a:r>
            <a:r>
              <a:rPr lang="en-IN" sz="1400" dirty="0" err="1"/>
              <a:t>Modeling</a:t>
            </a:r>
            <a:r>
              <a:rPr lang="en-IN" sz="1400" dirty="0"/>
              <a:t> and forecasting building energy consumption: A review of data‑driven techniques. </a:t>
            </a:r>
            <a:r>
              <a:rPr lang="en-IN" sz="1400" i="1" dirty="0"/>
              <a:t>Sustainable Cities and Society, 48</a:t>
            </a:r>
            <a:r>
              <a:rPr lang="en-IN" sz="1400" dirty="0"/>
              <a:t>, 101533.</a:t>
            </a:r>
          </a:p>
          <a:p>
            <a:pPr lvl="1">
              <a:buFont typeface="Wingdings" panose="05000000000000000000" pitchFamily="2" charset="2"/>
              <a:buChar char="Ø"/>
            </a:pPr>
            <a:r>
              <a:rPr lang="en-IN" sz="1400" dirty="0"/>
              <a:t> Contribution to This Project: Provides an earlier comprehensive review of ANN, SVM, Gaussian processes and ensemble methods for building‑scale prediction, giving historical context and helping to justify the shift toward more advanced deep‑learning and interpretable models.​​</a:t>
            </a:r>
          </a:p>
          <a:p>
            <a:pPr>
              <a:buFont typeface="+mj-lt"/>
              <a:buAutoNum type="arabicPeriod" startAt="12"/>
            </a:pPr>
            <a:r>
              <a:rPr lang="en-IN" sz="1600" dirty="0"/>
              <a:t>A Machine Learning Framework for Energy Consumption in Buildings (2019)</a:t>
            </a:r>
          </a:p>
          <a:p>
            <a:pPr lvl="1">
              <a:buFont typeface="Wingdings" panose="05000000000000000000" pitchFamily="2" charset="2"/>
              <a:buChar char="Ø"/>
            </a:pPr>
            <a:r>
              <a:rPr lang="en-IN" sz="1400" dirty="0" err="1"/>
              <a:t>Madhusudanan</a:t>
            </a:r>
            <a:r>
              <a:rPr lang="en-IN" sz="1400" dirty="0"/>
              <a:t>, V. (2019). A machine learning framework for energy consumption in buildings (Master’s thesis). Clemson University.​</a:t>
            </a:r>
          </a:p>
          <a:p>
            <a:pPr lvl="1">
              <a:buFont typeface="Wingdings" panose="05000000000000000000" pitchFamily="2" charset="2"/>
              <a:buChar char="Ø"/>
            </a:pPr>
            <a:r>
              <a:rPr lang="en-IN" sz="1400" dirty="0"/>
              <a:t>Contribution to This Project: Presents a complete ML pipeline—from data collection and preprocessing to model comparison and evaluation—for building energy prediction, inspiring the end‑to‑end pipeline design in this work.</a:t>
            </a:r>
            <a:endParaRPr lang="en-IN" sz="1000" dirty="0"/>
          </a:p>
        </p:txBody>
      </p:sp>
    </p:spTree>
    <p:extLst>
      <p:ext uri="{BB962C8B-B14F-4D97-AF65-F5344CB8AC3E}">
        <p14:creationId xmlns:p14="http://schemas.microsoft.com/office/powerpoint/2010/main" val="1042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D0F2-E25F-9879-1C7E-1C4CE6ECE9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2218C7-ECDA-74F7-C48E-973B24D4F353}"/>
              </a:ext>
            </a:extLst>
          </p:cNvPr>
          <p:cNvSpPr>
            <a:spLocks noGrp="1"/>
          </p:cNvSpPr>
          <p:nvPr>
            <p:ph type="body" idx="1"/>
          </p:nvPr>
        </p:nvSpPr>
        <p:spPr>
          <a:xfrm>
            <a:off x="457200" y="558384"/>
            <a:ext cx="8229600" cy="4525963"/>
          </a:xfrm>
        </p:spPr>
        <p:txBody>
          <a:bodyPr>
            <a:noAutofit/>
          </a:bodyPr>
          <a:lstStyle/>
          <a:p>
            <a:pPr>
              <a:buFont typeface="+mj-lt"/>
              <a:buAutoNum type="arabicPeriod" startAt="16"/>
            </a:pPr>
            <a:r>
              <a:rPr lang="en-IN" sz="1600" dirty="0"/>
              <a:t>Evolutionary Deep Learning‑Based Energy Consumption Prediction for Buildings (2018)</a:t>
            </a:r>
          </a:p>
          <a:p>
            <a:pPr lvl="1">
              <a:buFont typeface="Wingdings" panose="05000000000000000000" pitchFamily="2" charset="2"/>
              <a:buChar char="Ø"/>
            </a:pPr>
            <a:r>
              <a:rPr lang="en-IN" sz="1400" dirty="0" err="1"/>
              <a:t>Almalaq</a:t>
            </a:r>
            <a:r>
              <a:rPr lang="en-IN" sz="1400" dirty="0"/>
              <a:t>, A., &amp; Edwards, G. (2018). Evolutionary deep learning‑based energy consumption prediction for buildings. In </a:t>
            </a:r>
            <a:r>
              <a:rPr lang="en-IN" sz="1400" i="1" dirty="0"/>
              <a:t>IEEE</a:t>
            </a:r>
            <a:r>
              <a:rPr lang="en-IN" sz="1400" dirty="0"/>
              <a:t> proceedings.​</a:t>
            </a:r>
          </a:p>
          <a:p>
            <a:pPr lvl="1">
              <a:buFont typeface="Wingdings" panose="05000000000000000000" pitchFamily="2" charset="2"/>
              <a:buChar char="Ø"/>
            </a:pPr>
            <a:r>
              <a:rPr lang="en-IN" sz="1400" dirty="0"/>
              <a:t>Contribution to This Project: Shows that combining genetic algorithms with LSTM improves building load‑forecast accuracy, motivating the consideration of hyperparameter optimisation and hybrid approaches in the proposed models.​</a:t>
            </a:r>
          </a:p>
          <a:p>
            <a:pPr>
              <a:buFont typeface="+mj-lt"/>
              <a:buAutoNum type="arabicPeriod" startAt="16"/>
            </a:pPr>
            <a:r>
              <a:rPr lang="en-IN" sz="1600" dirty="0"/>
              <a:t>Application of Deep Learning Model in Building Energy Consumption Prediction (2016)</a:t>
            </a:r>
          </a:p>
          <a:p>
            <a:pPr lvl="1">
              <a:buFont typeface="Wingdings" panose="05000000000000000000" pitchFamily="2" charset="2"/>
              <a:buChar char="Ø"/>
            </a:pPr>
            <a:r>
              <a:rPr lang="en-IN" sz="1400" dirty="0"/>
              <a:t>Rahman, M., &amp; Ali, S. (2016). Application of deep learning model in building energy consumption prediction. </a:t>
            </a:r>
            <a:r>
              <a:rPr lang="en-IN" sz="1400" i="1" dirty="0"/>
              <a:t>Computational Intelligence and Neuroscience.</a:t>
            </a:r>
          </a:p>
          <a:p>
            <a:pPr lvl="1">
              <a:buFont typeface="Wingdings" panose="05000000000000000000" pitchFamily="2" charset="2"/>
              <a:buChar char="Ø"/>
            </a:pPr>
            <a:r>
              <a:rPr lang="en-IN" sz="1400" dirty="0"/>
              <a:t>Contribution to This Project: Serves as one of the earliest applications of deep learning to building energy prediction, helping to justify the move from purely statistical models to ANN‑based approaches for annual consumption estimation.</a:t>
            </a:r>
            <a:endParaRPr lang="en-IN" sz="1800" dirty="0"/>
          </a:p>
        </p:txBody>
      </p:sp>
    </p:spTree>
    <p:extLst>
      <p:ext uri="{BB962C8B-B14F-4D97-AF65-F5344CB8AC3E}">
        <p14:creationId xmlns:p14="http://schemas.microsoft.com/office/powerpoint/2010/main" val="2903277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659" name="Google Shape;184;p16"/>
          <p:cNvSpPr txBox="1">
            <a:spLocks noGrp="1"/>
          </p:cNvSpPr>
          <p:nvPr>
            <p:ph type="body" idx="1"/>
          </p:nvPr>
        </p:nvSpPr>
        <p:spPr>
          <a:xfrm>
            <a:off x="457200" y="714356"/>
            <a:ext cx="8229600" cy="5411807"/>
          </a:xfrm>
          <a:prstGeom prst="rect">
            <a:avLst/>
          </a:prstGeom>
          <a:noFill/>
          <a:ln>
            <a:noFill/>
          </a:ln>
        </p:spPr>
        <p:txBody>
          <a:bodyPr spcFirstLastPara="1" wrap="square" lIns="91425" tIns="45700" rIns="91425" bIns="45700" anchor="t" anchorCtr="0">
            <a:normAutofit/>
          </a:bodyPr>
          <a:lstStyle/>
          <a:p>
            <a:pPr marL="342900" lvl="0" indent="-342900" algn="ctr" rtl="0">
              <a:spcBef>
                <a:spcPts val="0"/>
              </a:spcBef>
              <a:spcAft>
                <a:spcPts val="0"/>
              </a:spcAft>
              <a:buClr>
                <a:schemeClr val="dk1"/>
              </a:buClr>
              <a:buSzPts val="8800"/>
              <a:buNone/>
            </a:pPr>
            <a:endParaRPr sz="8800"/>
          </a:p>
          <a:p>
            <a:pPr marL="342900" lvl="0" indent="-342900" algn="ctr" rtl="0">
              <a:spcBef>
                <a:spcPts val="1760"/>
              </a:spcBef>
              <a:spcAft>
                <a:spcPts val="0"/>
              </a:spcAft>
              <a:buClr>
                <a:schemeClr val="dk1"/>
              </a:buClr>
              <a:buSzPts val="8800"/>
              <a:buNone/>
            </a:pPr>
            <a:r>
              <a:rPr lang="en-IN" sz="8800"/>
              <a:t>Thank You</a:t>
            </a:r>
            <a:endParaRPr sz="88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11203</TotalTime>
  <Words>5122</Words>
  <Application>Microsoft Office PowerPoint</Application>
  <PresentationFormat>On-screen Show (4:3)</PresentationFormat>
  <Paragraphs>428</Paragraphs>
  <Slides>32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Google Sans Text</vt:lpstr>
      <vt:lpstr>Arial</vt:lpstr>
      <vt:lpstr>Calibri</vt:lpstr>
      <vt:lpstr>Wingdings</vt:lpstr>
      <vt:lpstr>Office Theme</vt:lpstr>
      <vt:lpstr>Machine Learning–Based Carbon Emission and Energy‑Use Prediction for Sustainable Living</vt:lpstr>
      <vt:lpstr>Abstract</vt:lpstr>
      <vt:lpstr>Introduction</vt:lpstr>
      <vt:lpstr>Motivation</vt:lpstr>
      <vt:lpstr>Literature Review</vt:lpstr>
      <vt:lpstr>PowerPoint Presentation</vt:lpstr>
      <vt:lpstr>PowerPoint Presentation</vt:lpstr>
      <vt:lpstr>PowerPoint Presentation</vt:lpstr>
      <vt:lpstr>Challenges and Limitations of the existing systems</vt:lpstr>
      <vt:lpstr>Objectives</vt:lpstr>
      <vt:lpstr>Innovation idea of the project</vt:lpstr>
      <vt:lpstr>Scope and application</vt:lpstr>
      <vt:lpstr>PowerPoint Presentation</vt:lpstr>
      <vt:lpstr>Architecture </vt:lpstr>
      <vt:lpstr>PowerPoint Presentation</vt:lpstr>
      <vt:lpstr>Proposed Modules and their algorithm Description</vt:lpstr>
      <vt:lpstr>PowerPoint Presentation</vt:lpstr>
      <vt:lpstr>PowerPoint Presentation</vt:lpstr>
      <vt:lpstr>PowerPoint Presentation</vt:lpstr>
      <vt:lpstr>PowerPoint Presentation</vt:lpstr>
      <vt:lpstr>30% Implementation with Demo</vt:lpstr>
      <vt:lpstr>PowerPoint Presentation</vt:lpstr>
      <vt:lpstr>Screenshots of the Demo</vt:lpstr>
      <vt:lpstr>PowerPoint Presentation</vt:lpstr>
      <vt:lpstr>PowerPoint Presentation</vt:lpstr>
      <vt:lpstr>Paper Submission Details</vt:lpstr>
      <vt:lpstr>References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Sornalakshmi</dc:creator>
  <cp:lastModifiedBy>Bittu Sarkar</cp:lastModifiedBy>
  <cp:revision>39</cp:revision>
  <cp:lastPrinted>2025-12-09T13:20:46Z</cp:lastPrinted>
  <dcterms:created xsi:type="dcterms:W3CDTF">2022-11-10T02:44:23Z</dcterms:created>
  <dcterms:modified xsi:type="dcterms:W3CDTF">2026-02-01T07:29:03Z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eead33b01d494a42927b4f4c922177a3</vt:lpwstr>
  </property>
</Properties>
</file>